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10FB4BC-D241-4D24-92E6-B01012A493E2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8D9B924-B122-48ED-8199-E14A9ABE1B7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1A0626E-DFD0-48F2-983B-1D512C89637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D240CF5-B1FB-42DA-825C-A4FE6A0A40B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63E743B-82CF-486D-9731-E634BFE413F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61F1E44-A169-428D-96B5-EE94C8B6C86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13D4201-D599-48FB-B5C6-E8E414B1721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A56B078-3B0E-4CD3-801C-F6DD00AD18A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B4FC328-8070-491D-A905-D771C1063FD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9C72A0-A71A-409A-B856-A119935577B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952AD2-99B9-49B2-A1A1-146C58AB7A0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813148A-ADE9-4F06-96B4-4AAB32063F3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AA3991A-60E4-4907-BE8B-BCC86723745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164592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Decision Control</a:t>
            </a:r>
            <a:endParaRPr b="0" lang="en-IN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Instructions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27432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d43b"/>
                </a:solidFill>
                <a:latin typeface="Arial"/>
                <a:ea typeface="Arial"/>
              </a:rPr>
              <a:t>if, elif, else &amp; Logical Operators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3657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ccccc"/>
                </a:solidFill>
                <a:latin typeface="Arial"/>
                <a:ea typeface="Arial"/>
              </a:rPr>
              <a:t>Python Programming - Lesson 5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What are Decision Control Instructions?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914400" y="914400"/>
            <a:ext cx="7314840" cy="73116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2"/>
          <p:cNvSpPr/>
          <p:nvPr/>
        </p:nvSpPr>
        <p:spPr>
          <a:xfrm>
            <a:off x="1097280" y="1051560"/>
            <a:ext cx="6949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Programs execute statements sequentially by default.</a:t>
            </a:r>
            <a:endParaRPr b="0" lang="en-IN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Decision control allows us to alter execution flow based on conditions.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731520" y="1920240"/>
            <a:ext cx="3840120" cy="4568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4"/>
          <p:cNvSpPr/>
          <p:nvPr/>
        </p:nvSpPr>
        <p:spPr>
          <a:xfrm>
            <a:off x="731520" y="19659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Sequential Execution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1371600" y="2468880"/>
            <a:ext cx="2559960" cy="456840"/>
          </a:xfrm>
          <a:prstGeom prst="rect">
            <a:avLst/>
          </a:prstGeom>
          <a:solidFill>
            <a:srgbClr val="f5f5f5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6"/>
          <p:cNvSpPr/>
          <p:nvPr/>
        </p:nvSpPr>
        <p:spPr>
          <a:xfrm>
            <a:off x="1371600" y="251460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print('Step 1')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2560320" y="2944440"/>
            <a:ext cx="273960" cy="3196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Shape 8"/>
          <p:cNvSpPr/>
          <p:nvPr/>
        </p:nvSpPr>
        <p:spPr>
          <a:xfrm>
            <a:off x="1371600" y="3291840"/>
            <a:ext cx="2559960" cy="456840"/>
          </a:xfrm>
          <a:prstGeom prst="rect">
            <a:avLst/>
          </a:prstGeom>
          <a:solidFill>
            <a:srgbClr val="f5f5f5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9"/>
          <p:cNvSpPr/>
          <p:nvPr/>
        </p:nvSpPr>
        <p:spPr>
          <a:xfrm>
            <a:off x="1371600" y="333756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print('Step 2')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7" name="Shape 10"/>
          <p:cNvSpPr/>
          <p:nvPr/>
        </p:nvSpPr>
        <p:spPr>
          <a:xfrm>
            <a:off x="2560320" y="3767400"/>
            <a:ext cx="273960" cy="3196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Shape 11"/>
          <p:cNvSpPr/>
          <p:nvPr/>
        </p:nvSpPr>
        <p:spPr>
          <a:xfrm>
            <a:off x="1371600" y="4114800"/>
            <a:ext cx="2559960" cy="456840"/>
          </a:xfrm>
          <a:prstGeom prst="rect">
            <a:avLst/>
          </a:prstGeom>
          <a:solidFill>
            <a:srgbClr val="f5f5f5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12"/>
          <p:cNvSpPr/>
          <p:nvPr/>
        </p:nvSpPr>
        <p:spPr>
          <a:xfrm>
            <a:off x="1371600" y="41605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print('Step 3')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0" name="Shape 13"/>
          <p:cNvSpPr/>
          <p:nvPr/>
        </p:nvSpPr>
        <p:spPr>
          <a:xfrm>
            <a:off x="4572000" y="1920240"/>
            <a:ext cx="3840120" cy="45684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14"/>
          <p:cNvSpPr/>
          <p:nvPr/>
        </p:nvSpPr>
        <p:spPr>
          <a:xfrm>
            <a:off x="4572000" y="19659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Decision Control Execution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2" name="Shape 15"/>
          <p:cNvSpPr/>
          <p:nvPr/>
        </p:nvSpPr>
        <p:spPr>
          <a:xfrm>
            <a:off x="5577840" y="2468880"/>
            <a:ext cx="1828440" cy="456840"/>
          </a:xfrm>
          <a:prstGeom prst="rect">
            <a:avLst/>
          </a:prstGeom>
          <a:solidFill>
            <a:srgbClr val="f5f5f5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16"/>
          <p:cNvSpPr/>
          <p:nvPr/>
        </p:nvSpPr>
        <p:spPr>
          <a:xfrm>
            <a:off x="5577840" y="25146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Check condition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4" name="Shape 17"/>
          <p:cNvSpPr/>
          <p:nvPr/>
        </p:nvSpPr>
        <p:spPr>
          <a:xfrm>
            <a:off x="6400800" y="2944440"/>
            <a:ext cx="228240" cy="273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Shape 18"/>
          <p:cNvSpPr/>
          <p:nvPr/>
        </p:nvSpPr>
        <p:spPr>
          <a:xfrm>
            <a:off x="5806440" y="3246120"/>
            <a:ext cx="1371240" cy="594000"/>
          </a:xfrm>
          <a:prstGeom prst="diamond">
            <a:avLst/>
          </a:prstGeom>
          <a:solidFill>
            <a:srgbClr val="ffd43b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19"/>
          <p:cNvSpPr/>
          <p:nvPr/>
        </p:nvSpPr>
        <p:spPr>
          <a:xfrm>
            <a:off x="5806440" y="338328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True?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7" name="Shape 20"/>
          <p:cNvSpPr/>
          <p:nvPr/>
        </p:nvSpPr>
        <p:spPr>
          <a:xfrm>
            <a:off x="4937760" y="3977640"/>
            <a:ext cx="1096920" cy="36540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21"/>
          <p:cNvSpPr/>
          <p:nvPr/>
        </p:nvSpPr>
        <p:spPr>
          <a:xfrm>
            <a:off x="4937760" y="40233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Path A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9" name="Shape 22"/>
          <p:cNvSpPr/>
          <p:nvPr/>
        </p:nvSpPr>
        <p:spPr>
          <a:xfrm>
            <a:off x="6949440" y="3977640"/>
            <a:ext cx="1096920" cy="365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23"/>
          <p:cNvSpPr/>
          <p:nvPr/>
        </p:nvSpPr>
        <p:spPr>
          <a:xfrm>
            <a:off x="6949440" y="40233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Path B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1" name="Shape 24"/>
          <p:cNvSpPr/>
          <p:nvPr/>
        </p:nvSpPr>
        <p:spPr>
          <a:xfrm flipH="1">
            <a:off x="5486400" y="3543120"/>
            <a:ext cx="320040" cy="434520"/>
          </a:xfrm>
          <a:prstGeom prst="line">
            <a:avLst/>
          </a:prstGeom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Shape 25"/>
          <p:cNvSpPr/>
          <p:nvPr/>
        </p:nvSpPr>
        <p:spPr>
          <a:xfrm>
            <a:off x="7178040" y="3543120"/>
            <a:ext cx="320040" cy="434520"/>
          </a:xfrm>
          <a:prstGeom prst="line">
            <a:avLst/>
          </a:prstGeom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26"/>
          <p:cNvSpPr/>
          <p:nvPr/>
        </p:nvSpPr>
        <p:spPr>
          <a:xfrm>
            <a:off x="5212080" y="365760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27ae60"/>
                </a:solidFill>
                <a:latin typeface="Arial"/>
                <a:ea typeface="Arial"/>
              </a:rPr>
              <a:t>YES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74" name="Text 27"/>
          <p:cNvSpPr/>
          <p:nvPr/>
        </p:nvSpPr>
        <p:spPr>
          <a:xfrm>
            <a:off x="7223760" y="36576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e74c3c"/>
                </a:solidFill>
                <a:latin typeface="Arial"/>
                <a:ea typeface="Arial"/>
              </a:rPr>
              <a:t>NO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The if Statement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76" name="Shape 1"/>
          <p:cNvSpPr/>
          <p:nvPr/>
        </p:nvSpPr>
        <p:spPr>
          <a:xfrm>
            <a:off x="640080" y="914400"/>
            <a:ext cx="4114440" cy="4568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2"/>
          <p:cNvSpPr/>
          <p:nvPr/>
        </p:nvSpPr>
        <p:spPr>
          <a:xfrm>
            <a:off x="640080" y="96012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Syntax &amp; Code Example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640080" y="1463040"/>
            <a:ext cx="4114440" cy="27428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4"/>
          <p:cNvSpPr/>
          <p:nvPr/>
        </p:nvSpPr>
        <p:spPr>
          <a:xfrm>
            <a:off x="822960" y="1600200"/>
            <a:ext cx="374868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Syntax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if condition: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Example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age = 20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if age &gt;= 18: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print("You are an adult")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print("You can vote")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print("Program ends")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0" name="Shape 5"/>
          <p:cNvSpPr/>
          <p:nvPr/>
        </p:nvSpPr>
        <p:spPr>
          <a:xfrm>
            <a:off x="5029200" y="914400"/>
            <a:ext cx="3474360" cy="45684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6"/>
          <p:cNvSpPr/>
          <p:nvPr/>
        </p:nvSpPr>
        <p:spPr>
          <a:xfrm>
            <a:off x="5029200" y="96012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Flowchart Diagram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2" name="Shape 7"/>
          <p:cNvSpPr/>
          <p:nvPr/>
        </p:nvSpPr>
        <p:spPr>
          <a:xfrm>
            <a:off x="5852160" y="1554480"/>
            <a:ext cx="1828440" cy="41112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8"/>
          <p:cNvSpPr/>
          <p:nvPr/>
        </p:nvSpPr>
        <p:spPr>
          <a:xfrm>
            <a:off x="5852160" y="16275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START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4" name="Shape 9"/>
          <p:cNvSpPr/>
          <p:nvPr/>
        </p:nvSpPr>
        <p:spPr>
          <a:xfrm>
            <a:off x="6766560" y="1965960"/>
            <a:ext cx="360" cy="274320"/>
          </a:xfrm>
          <a:prstGeom prst="line">
            <a:avLst/>
          </a:prstGeom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Shape 10"/>
          <p:cNvSpPr/>
          <p:nvPr/>
        </p:nvSpPr>
        <p:spPr>
          <a:xfrm>
            <a:off x="6693480" y="2212920"/>
            <a:ext cx="145800" cy="118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Shape 11"/>
          <p:cNvSpPr/>
          <p:nvPr/>
        </p:nvSpPr>
        <p:spPr>
          <a:xfrm>
            <a:off x="5669280" y="2377440"/>
            <a:ext cx="2194200" cy="731160"/>
          </a:xfrm>
          <a:prstGeom prst="diamond">
            <a:avLst/>
          </a:prstGeom>
          <a:solidFill>
            <a:srgbClr val="ffd43b"/>
          </a:solidFill>
          <a:ln w="381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12"/>
          <p:cNvSpPr/>
          <p:nvPr/>
        </p:nvSpPr>
        <p:spPr>
          <a:xfrm>
            <a:off x="5669280" y="256032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Courier New"/>
                <a:ea typeface="Courier New"/>
              </a:rPr>
              <a:t>age &gt;= 18?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8" name="Shape 13"/>
          <p:cNvSpPr/>
          <p:nvPr/>
        </p:nvSpPr>
        <p:spPr>
          <a:xfrm>
            <a:off x="6766560" y="3108960"/>
            <a:ext cx="360" cy="228600"/>
          </a:xfrm>
          <a:prstGeom prst="line">
            <a:avLst/>
          </a:prstGeom>
          <a:ln w="381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Shape 14"/>
          <p:cNvSpPr/>
          <p:nvPr/>
        </p:nvSpPr>
        <p:spPr>
          <a:xfrm>
            <a:off x="6693480" y="3310200"/>
            <a:ext cx="145800" cy="118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15"/>
          <p:cNvSpPr/>
          <p:nvPr/>
        </p:nvSpPr>
        <p:spPr>
          <a:xfrm>
            <a:off x="6858000" y="3154680"/>
            <a:ext cx="548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1" name="Shape 16"/>
          <p:cNvSpPr/>
          <p:nvPr/>
        </p:nvSpPr>
        <p:spPr>
          <a:xfrm>
            <a:off x="5943600" y="3474720"/>
            <a:ext cx="1645560" cy="50256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17"/>
          <p:cNvSpPr/>
          <p:nvPr/>
        </p:nvSpPr>
        <p:spPr>
          <a:xfrm>
            <a:off x="5943600" y="352044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Execute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if block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3" name="Shape 18"/>
          <p:cNvSpPr/>
          <p:nvPr/>
        </p:nvSpPr>
        <p:spPr>
          <a:xfrm>
            <a:off x="7863840" y="2743200"/>
            <a:ext cx="457200" cy="360"/>
          </a:xfrm>
          <a:prstGeom prst="line">
            <a:avLst/>
          </a:prstGeom>
          <a:ln w="381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Shape 19"/>
          <p:cNvSpPr/>
          <p:nvPr/>
        </p:nvSpPr>
        <p:spPr>
          <a:xfrm>
            <a:off x="8293680" y="2688480"/>
            <a:ext cx="118440" cy="118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20"/>
          <p:cNvSpPr/>
          <p:nvPr/>
        </p:nvSpPr>
        <p:spPr>
          <a:xfrm>
            <a:off x="7909560" y="2560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74c3c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6" name="Shape 21"/>
          <p:cNvSpPr/>
          <p:nvPr/>
        </p:nvSpPr>
        <p:spPr>
          <a:xfrm>
            <a:off x="8321040" y="2743200"/>
            <a:ext cx="360" cy="1371600"/>
          </a:xfrm>
          <a:prstGeom prst="line">
            <a:avLst/>
          </a:prstGeom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Shape 22"/>
          <p:cNvSpPr/>
          <p:nvPr/>
        </p:nvSpPr>
        <p:spPr>
          <a:xfrm>
            <a:off x="6766560" y="3977640"/>
            <a:ext cx="360" cy="137160"/>
          </a:xfrm>
          <a:prstGeom prst="line">
            <a:avLst/>
          </a:prstGeom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Shape 23"/>
          <p:cNvSpPr/>
          <p:nvPr/>
        </p:nvSpPr>
        <p:spPr>
          <a:xfrm>
            <a:off x="6766560" y="4114800"/>
            <a:ext cx="1554480" cy="360"/>
          </a:xfrm>
          <a:prstGeom prst="line">
            <a:avLst/>
          </a:prstGeom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Shape 24"/>
          <p:cNvSpPr/>
          <p:nvPr/>
        </p:nvSpPr>
        <p:spPr>
          <a:xfrm>
            <a:off x="6693480" y="4087440"/>
            <a:ext cx="145800" cy="118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Shape 25"/>
          <p:cNvSpPr/>
          <p:nvPr/>
        </p:nvSpPr>
        <p:spPr>
          <a:xfrm>
            <a:off x="5852160" y="4251960"/>
            <a:ext cx="1828440" cy="41112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26"/>
          <p:cNvSpPr/>
          <p:nvPr/>
        </p:nvSpPr>
        <p:spPr>
          <a:xfrm>
            <a:off x="5852160" y="43250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END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if Statement - Example Walkthrough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9144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Example: age = 20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4" name="Shape 2"/>
          <p:cNvSpPr/>
          <p:nvPr/>
        </p:nvSpPr>
        <p:spPr>
          <a:xfrm>
            <a:off x="914400" y="1371600"/>
            <a:ext cx="7314840" cy="54828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3"/>
          <p:cNvSpPr/>
          <p:nvPr/>
        </p:nvSpPr>
        <p:spPr>
          <a:xfrm>
            <a:off x="1097280" y="14630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Step 1: Evaluate Condition → age &gt;= 18 → 20 &gt;= 18 → TRUE ✓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6" name="Shape 4"/>
          <p:cNvSpPr/>
          <p:nvPr/>
        </p:nvSpPr>
        <p:spPr>
          <a:xfrm>
            <a:off x="914400" y="2103120"/>
            <a:ext cx="7314840" cy="5482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5"/>
          <p:cNvSpPr/>
          <p:nvPr/>
        </p:nvSpPr>
        <p:spPr>
          <a:xfrm>
            <a:off x="1097280" y="219456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Step 2: Condition is TRUE → Execute statements inside if block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8" name="Text 6"/>
          <p:cNvSpPr/>
          <p:nvPr/>
        </p:nvSpPr>
        <p:spPr>
          <a:xfrm>
            <a:off x="1828800" y="28346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Code Execution Trace: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9" name="Shape 7"/>
          <p:cNvSpPr/>
          <p:nvPr/>
        </p:nvSpPr>
        <p:spPr>
          <a:xfrm>
            <a:off x="1371600" y="3200400"/>
            <a:ext cx="3200040" cy="4111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8"/>
          <p:cNvSpPr/>
          <p:nvPr/>
        </p:nvSpPr>
        <p:spPr>
          <a:xfrm>
            <a:off x="1463040" y="324612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print("You are an adult")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" name="Shape 9"/>
          <p:cNvSpPr/>
          <p:nvPr/>
        </p:nvSpPr>
        <p:spPr>
          <a:xfrm>
            <a:off x="4663440" y="3337560"/>
            <a:ext cx="319680" cy="13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Shape 10"/>
          <p:cNvSpPr/>
          <p:nvPr/>
        </p:nvSpPr>
        <p:spPr>
          <a:xfrm>
            <a:off x="5120640" y="3200400"/>
            <a:ext cx="3200040" cy="41112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11"/>
          <p:cNvSpPr/>
          <p:nvPr/>
        </p:nvSpPr>
        <p:spPr>
          <a:xfrm>
            <a:off x="5212080" y="324612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You are an adult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4" name="Shape 12"/>
          <p:cNvSpPr/>
          <p:nvPr/>
        </p:nvSpPr>
        <p:spPr>
          <a:xfrm>
            <a:off x="1371600" y="3703320"/>
            <a:ext cx="3200040" cy="4111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13"/>
          <p:cNvSpPr/>
          <p:nvPr/>
        </p:nvSpPr>
        <p:spPr>
          <a:xfrm>
            <a:off x="1463040" y="374904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print("You can vote")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6" name="Shape 14"/>
          <p:cNvSpPr/>
          <p:nvPr/>
        </p:nvSpPr>
        <p:spPr>
          <a:xfrm>
            <a:off x="4663440" y="3840480"/>
            <a:ext cx="319680" cy="13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Shape 15"/>
          <p:cNvSpPr/>
          <p:nvPr/>
        </p:nvSpPr>
        <p:spPr>
          <a:xfrm>
            <a:off x="5120640" y="3703320"/>
            <a:ext cx="3200040" cy="41112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16"/>
          <p:cNvSpPr/>
          <p:nvPr/>
        </p:nvSpPr>
        <p:spPr>
          <a:xfrm>
            <a:off x="5212080" y="374904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You can vote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9" name="Shape 17"/>
          <p:cNvSpPr/>
          <p:nvPr/>
        </p:nvSpPr>
        <p:spPr>
          <a:xfrm>
            <a:off x="1371600" y="4206240"/>
            <a:ext cx="3200040" cy="4111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18"/>
          <p:cNvSpPr/>
          <p:nvPr/>
        </p:nvSpPr>
        <p:spPr>
          <a:xfrm>
            <a:off x="1463040" y="425196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print("Program ends")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1" name="Shape 19"/>
          <p:cNvSpPr/>
          <p:nvPr/>
        </p:nvSpPr>
        <p:spPr>
          <a:xfrm>
            <a:off x="4663440" y="4343400"/>
            <a:ext cx="319680" cy="13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Shape 20"/>
          <p:cNvSpPr/>
          <p:nvPr/>
        </p:nvSpPr>
        <p:spPr>
          <a:xfrm>
            <a:off x="5120640" y="4206240"/>
            <a:ext cx="3200040" cy="41112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21"/>
          <p:cNvSpPr/>
          <p:nvPr/>
        </p:nvSpPr>
        <p:spPr>
          <a:xfrm>
            <a:off x="5212080" y="425196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Program ends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The if-else Statement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25" name="Shape 1"/>
          <p:cNvSpPr/>
          <p:nvPr/>
        </p:nvSpPr>
        <p:spPr>
          <a:xfrm>
            <a:off x="640080" y="914400"/>
            <a:ext cx="4114440" cy="4568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2"/>
          <p:cNvSpPr/>
          <p:nvPr/>
        </p:nvSpPr>
        <p:spPr>
          <a:xfrm>
            <a:off x="640080" y="96012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Syntax &amp; Code Example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7" name="Shape 3"/>
          <p:cNvSpPr/>
          <p:nvPr/>
        </p:nvSpPr>
        <p:spPr>
          <a:xfrm>
            <a:off x="640080" y="1463040"/>
            <a:ext cx="4114440" cy="29257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4"/>
          <p:cNvSpPr/>
          <p:nvPr/>
        </p:nvSpPr>
        <p:spPr>
          <a:xfrm>
            <a:off x="822960" y="1600200"/>
            <a:ext cx="374868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Syntax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if condition: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Example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age = 16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if age &gt;= 18: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print("Adult")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print("Minor")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print("Done")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9" name="Shape 5"/>
          <p:cNvSpPr/>
          <p:nvPr/>
        </p:nvSpPr>
        <p:spPr>
          <a:xfrm>
            <a:off x="5029200" y="914400"/>
            <a:ext cx="3474360" cy="45684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6"/>
          <p:cNvSpPr/>
          <p:nvPr/>
        </p:nvSpPr>
        <p:spPr>
          <a:xfrm>
            <a:off x="5029200" y="96012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Flowchart Diagram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1" name="Shape 7"/>
          <p:cNvSpPr/>
          <p:nvPr/>
        </p:nvSpPr>
        <p:spPr>
          <a:xfrm>
            <a:off x="5852160" y="1554480"/>
            <a:ext cx="1828440" cy="36540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8"/>
          <p:cNvSpPr/>
          <p:nvPr/>
        </p:nvSpPr>
        <p:spPr>
          <a:xfrm>
            <a:off x="5852160" y="1618560"/>
            <a:ext cx="18284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START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3" name="Shape 9"/>
          <p:cNvSpPr/>
          <p:nvPr/>
        </p:nvSpPr>
        <p:spPr>
          <a:xfrm>
            <a:off x="6766560" y="1920240"/>
            <a:ext cx="360" cy="228600"/>
          </a:xfrm>
          <a:prstGeom prst="line">
            <a:avLst/>
          </a:prstGeom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10"/>
          <p:cNvSpPr/>
          <p:nvPr/>
        </p:nvSpPr>
        <p:spPr>
          <a:xfrm>
            <a:off x="6693480" y="2121480"/>
            <a:ext cx="145800" cy="118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Shape 11"/>
          <p:cNvSpPr/>
          <p:nvPr/>
        </p:nvSpPr>
        <p:spPr>
          <a:xfrm>
            <a:off x="5669280" y="2286000"/>
            <a:ext cx="2194200" cy="685440"/>
          </a:xfrm>
          <a:prstGeom prst="diamond">
            <a:avLst/>
          </a:prstGeom>
          <a:solidFill>
            <a:srgbClr val="ffd43b"/>
          </a:solidFill>
          <a:ln w="381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12"/>
          <p:cNvSpPr/>
          <p:nvPr/>
        </p:nvSpPr>
        <p:spPr>
          <a:xfrm>
            <a:off x="5669280" y="246888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Courier New"/>
                <a:ea typeface="Courier New"/>
              </a:rPr>
              <a:t>age &gt;= 18?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7" name="Shape 13"/>
          <p:cNvSpPr/>
          <p:nvPr/>
        </p:nvSpPr>
        <p:spPr>
          <a:xfrm flipH="1">
            <a:off x="5212080" y="2628720"/>
            <a:ext cx="457200" cy="360"/>
          </a:xfrm>
          <a:prstGeom prst="line">
            <a:avLst/>
          </a:prstGeom>
          <a:ln w="381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Shape 14"/>
          <p:cNvSpPr/>
          <p:nvPr/>
        </p:nvSpPr>
        <p:spPr>
          <a:xfrm>
            <a:off x="5093280" y="2578680"/>
            <a:ext cx="118440" cy="1184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15"/>
          <p:cNvSpPr/>
          <p:nvPr/>
        </p:nvSpPr>
        <p:spPr>
          <a:xfrm>
            <a:off x="4937760" y="2286000"/>
            <a:ext cx="73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0" name="Shape 16"/>
          <p:cNvSpPr/>
          <p:nvPr/>
        </p:nvSpPr>
        <p:spPr>
          <a:xfrm>
            <a:off x="5212080" y="2628720"/>
            <a:ext cx="360" cy="457200"/>
          </a:xfrm>
          <a:prstGeom prst="line">
            <a:avLst/>
          </a:prstGeom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Shape 17"/>
          <p:cNvSpPr/>
          <p:nvPr/>
        </p:nvSpPr>
        <p:spPr>
          <a:xfrm>
            <a:off x="4572000" y="3108960"/>
            <a:ext cx="1279800" cy="45684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18"/>
          <p:cNvSpPr/>
          <p:nvPr/>
        </p:nvSpPr>
        <p:spPr>
          <a:xfrm>
            <a:off x="4572000" y="315468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if block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Execute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3" name="Shape 19"/>
          <p:cNvSpPr/>
          <p:nvPr/>
        </p:nvSpPr>
        <p:spPr>
          <a:xfrm>
            <a:off x="5212080" y="3566160"/>
            <a:ext cx="360" cy="457200"/>
          </a:xfrm>
          <a:prstGeom prst="line">
            <a:avLst/>
          </a:prstGeom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Shape 20"/>
          <p:cNvSpPr/>
          <p:nvPr/>
        </p:nvSpPr>
        <p:spPr>
          <a:xfrm>
            <a:off x="7863840" y="2628720"/>
            <a:ext cx="457200" cy="360"/>
          </a:xfrm>
          <a:prstGeom prst="line">
            <a:avLst/>
          </a:prstGeom>
          <a:ln w="381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Shape 21"/>
          <p:cNvSpPr/>
          <p:nvPr/>
        </p:nvSpPr>
        <p:spPr>
          <a:xfrm>
            <a:off x="8293680" y="2578680"/>
            <a:ext cx="118440" cy="118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22"/>
          <p:cNvSpPr/>
          <p:nvPr/>
        </p:nvSpPr>
        <p:spPr>
          <a:xfrm>
            <a:off x="7909560" y="2340000"/>
            <a:ext cx="73044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74c3c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7" name="Shape 23"/>
          <p:cNvSpPr/>
          <p:nvPr/>
        </p:nvSpPr>
        <p:spPr>
          <a:xfrm>
            <a:off x="8321040" y="2628720"/>
            <a:ext cx="360" cy="457200"/>
          </a:xfrm>
          <a:prstGeom prst="line">
            <a:avLst/>
          </a:prstGeom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Shape 24"/>
          <p:cNvSpPr/>
          <p:nvPr/>
        </p:nvSpPr>
        <p:spPr>
          <a:xfrm>
            <a:off x="7680960" y="3108960"/>
            <a:ext cx="1279800" cy="456840"/>
          </a:xfrm>
          <a:prstGeom prst="rect">
            <a:avLst/>
          </a:prstGeom>
          <a:solidFill>
            <a:srgbClr val="e74c3c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25"/>
          <p:cNvSpPr/>
          <p:nvPr/>
        </p:nvSpPr>
        <p:spPr>
          <a:xfrm>
            <a:off x="7680960" y="315468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else block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Execute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0" name="Shape 26"/>
          <p:cNvSpPr/>
          <p:nvPr/>
        </p:nvSpPr>
        <p:spPr>
          <a:xfrm>
            <a:off x="8321040" y="3566160"/>
            <a:ext cx="360" cy="457200"/>
          </a:xfrm>
          <a:prstGeom prst="line">
            <a:avLst/>
          </a:prstGeom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Shape 27"/>
          <p:cNvSpPr/>
          <p:nvPr/>
        </p:nvSpPr>
        <p:spPr>
          <a:xfrm>
            <a:off x="5212080" y="4023360"/>
            <a:ext cx="3108960" cy="360"/>
          </a:xfrm>
          <a:prstGeom prst="line">
            <a:avLst/>
          </a:prstGeom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Shape 28"/>
          <p:cNvSpPr/>
          <p:nvPr/>
        </p:nvSpPr>
        <p:spPr>
          <a:xfrm>
            <a:off x="6693480" y="3996000"/>
            <a:ext cx="145800" cy="118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Shape 29"/>
          <p:cNvSpPr/>
          <p:nvPr/>
        </p:nvSpPr>
        <p:spPr>
          <a:xfrm>
            <a:off x="5852160" y="4160520"/>
            <a:ext cx="1828440" cy="36540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30"/>
          <p:cNvSpPr/>
          <p:nvPr/>
        </p:nvSpPr>
        <p:spPr>
          <a:xfrm>
            <a:off x="5852160" y="4224600"/>
            <a:ext cx="18284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END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if-else - Two Scenarios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56" name="Shape 1"/>
          <p:cNvSpPr/>
          <p:nvPr/>
        </p:nvSpPr>
        <p:spPr>
          <a:xfrm>
            <a:off x="731520" y="914400"/>
            <a:ext cx="3840120" cy="4568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2"/>
          <p:cNvSpPr/>
          <p:nvPr/>
        </p:nvSpPr>
        <p:spPr>
          <a:xfrm>
            <a:off x="731520" y="96012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Scenario 1: age = 20 (TRUE)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58" name="Shape 3"/>
          <p:cNvSpPr/>
          <p:nvPr/>
        </p:nvSpPr>
        <p:spPr>
          <a:xfrm>
            <a:off x="731520" y="1463040"/>
            <a:ext cx="3840120" cy="7311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4"/>
          <p:cNvSpPr/>
          <p:nvPr/>
        </p:nvSpPr>
        <p:spPr>
          <a:xfrm>
            <a:off x="914400" y="155448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if age &gt;= 18: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print("Adult")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print("Minor")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0" name="Shape 5"/>
          <p:cNvSpPr/>
          <p:nvPr/>
        </p:nvSpPr>
        <p:spPr>
          <a:xfrm>
            <a:off x="2560320" y="2240280"/>
            <a:ext cx="273960" cy="1825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Shape 6"/>
          <p:cNvSpPr/>
          <p:nvPr/>
        </p:nvSpPr>
        <p:spPr>
          <a:xfrm>
            <a:off x="1371600" y="2468880"/>
            <a:ext cx="2742840" cy="41112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7"/>
          <p:cNvSpPr/>
          <p:nvPr/>
        </p:nvSpPr>
        <p:spPr>
          <a:xfrm>
            <a:off x="1371600" y="25146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20 &gt;= 18 → TRUE ✓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3" name="Shape 8"/>
          <p:cNvSpPr/>
          <p:nvPr/>
        </p:nvSpPr>
        <p:spPr>
          <a:xfrm>
            <a:off x="2560320" y="2926080"/>
            <a:ext cx="273960" cy="1825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Shape 9"/>
          <p:cNvSpPr/>
          <p:nvPr/>
        </p:nvSpPr>
        <p:spPr>
          <a:xfrm>
            <a:off x="1097280" y="3154680"/>
            <a:ext cx="3291480" cy="45684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10"/>
          <p:cNvSpPr/>
          <p:nvPr/>
        </p:nvSpPr>
        <p:spPr>
          <a:xfrm>
            <a:off x="1097280" y="320040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✓ </a:t>
            </a: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Execute if block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6" name="Shape 11"/>
          <p:cNvSpPr/>
          <p:nvPr/>
        </p:nvSpPr>
        <p:spPr>
          <a:xfrm>
            <a:off x="1371600" y="3749040"/>
            <a:ext cx="2742840" cy="41112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12"/>
          <p:cNvSpPr/>
          <p:nvPr/>
        </p:nvSpPr>
        <p:spPr>
          <a:xfrm>
            <a:off x="1371600" y="37947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Output: "Adult"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8" name="Shape 13"/>
          <p:cNvSpPr/>
          <p:nvPr/>
        </p:nvSpPr>
        <p:spPr>
          <a:xfrm>
            <a:off x="4572000" y="914400"/>
            <a:ext cx="3840120" cy="4568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14"/>
          <p:cNvSpPr/>
          <p:nvPr/>
        </p:nvSpPr>
        <p:spPr>
          <a:xfrm>
            <a:off x="4572000" y="96012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Scenario 2: age = 16 (FALSE)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70" name="Shape 15"/>
          <p:cNvSpPr/>
          <p:nvPr/>
        </p:nvSpPr>
        <p:spPr>
          <a:xfrm>
            <a:off x="4572000" y="1463040"/>
            <a:ext cx="3840120" cy="7311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16"/>
          <p:cNvSpPr/>
          <p:nvPr/>
        </p:nvSpPr>
        <p:spPr>
          <a:xfrm>
            <a:off x="4754880" y="155448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if age &gt;= 18: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print("Adult")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print("Minor")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2" name="Shape 17"/>
          <p:cNvSpPr/>
          <p:nvPr/>
        </p:nvSpPr>
        <p:spPr>
          <a:xfrm>
            <a:off x="6400800" y="2240280"/>
            <a:ext cx="273960" cy="1825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Shape 18"/>
          <p:cNvSpPr/>
          <p:nvPr/>
        </p:nvSpPr>
        <p:spPr>
          <a:xfrm>
            <a:off x="5212080" y="2468880"/>
            <a:ext cx="2742840" cy="41112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19"/>
          <p:cNvSpPr/>
          <p:nvPr/>
        </p:nvSpPr>
        <p:spPr>
          <a:xfrm>
            <a:off x="5212080" y="25146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74c3c"/>
                </a:solidFill>
                <a:latin typeface="Arial"/>
                <a:ea typeface="Arial"/>
              </a:rPr>
              <a:t>16 &gt;= 18 → FALSE ✗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5" name="Shape 20"/>
          <p:cNvSpPr/>
          <p:nvPr/>
        </p:nvSpPr>
        <p:spPr>
          <a:xfrm>
            <a:off x="6400800" y="2926080"/>
            <a:ext cx="273960" cy="1825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Shape 21"/>
          <p:cNvSpPr/>
          <p:nvPr/>
        </p:nvSpPr>
        <p:spPr>
          <a:xfrm>
            <a:off x="4937760" y="3154680"/>
            <a:ext cx="3291480" cy="456840"/>
          </a:xfrm>
          <a:prstGeom prst="rect">
            <a:avLst/>
          </a:prstGeom>
          <a:solidFill>
            <a:srgbClr val="e74c3c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22"/>
          <p:cNvSpPr/>
          <p:nvPr/>
        </p:nvSpPr>
        <p:spPr>
          <a:xfrm>
            <a:off x="4937760" y="320040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✓ </a:t>
            </a: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Execute else block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8" name="Shape 23"/>
          <p:cNvSpPr/>
          <p:nvPr/>
        </p:nvSpPr>
        <p:spPr>
          <a:xfrm>
            <a:off x="5212080" y="3749040"/>
            <a:ext cx="2742840" cy="41112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24"/>
          <p:cNvSpPr/>
          <p:nvPr/>
        </p:nvSpPr>
        <p:spPr>
          <a:xfrm>
            <a:off x="5212080" y="37947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Output: "Minor"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The if-elif-else Statement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81" name="Shape 1"/>
          <p:cNvSpPr/>
          <p:nvPr/>
        </p:nvSpPr>
        <p:spPr>
          <a:xfrm>
            <a:off x="914400" y="868680"/>
            <a:ext cx="7314840" cy="54828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2"/>
          <p:cNvSpPr/>
          <p:nvPr/>
        </p:nvSpPr>
        <p:spPr>
          <a:xfrm>
            <a:off x="914400" y="9601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Used when you need to check MULTIPLE conditions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83" name="Shape 3"/>
          <p:cNvSpPr/>
          <p:nvPr/>
        </p:nvSpPr>
        <p:spPr>
          <a:xfrm>
            <a:off x="731520" y="1554480"/>
            <a:ext cx="3840120" cy="4568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4"/>
          <p:cNvSpPr/>
          <p:nvPr/>
        </p:nvSpPr>
        <p:spPr>
          <a:xfrm>
            <a:off x="731520" y="160020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Syntax: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5" name="Shape 5"/>
          <p:cNvSpPr/>
          <p:nvPr/>
        </p:nvSpPr>
        <p:spPr>
          <a:xfrm>
            <a:off x="731520" y="2103120"/>
            <a:ext cx="3840120" cy="21942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6"/>
          <p:cNvSpPr/>
          <p:nvPr/>
        </p:nvSpPr>
        <p:spPr>
          <a:xfrm>
            <a:off x="914400" y="2240280"/>
            <a:ext cx="34743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if condition1: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statement1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elif condition2: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statement2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elif condition3: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statement3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7" name="Shape 7"/>
          <p:cNvSpPr/>
          <p:nvPr/>
        </p:nvSpPr>
        <p:spPr>
          <a:xfrm>
            <a:off x="4754880" y="1554480"/>
            <a:ext cx="3657240" cy="45684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8"/>
          <p:cNvSpPr/>
          <p:nvPr/>
        </p:nvSpPr>
        <p:spPr>
          <a:xfrm>
            <a:off x="4754880" y="16002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Execution Flow: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9" name="Shape 9"/>
          <p:cNvSpPr/>
          <p:nvPr/>
        </p:nvSpPr>
        <p:spPr>
          <a:xfrm>
            <a:off x="4937760" y="217620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10"/>
          <p:cNvSpPr/>
          <p:nvPr/>
        </p:nvSpPr>
        <p:spPr>
          <a:xfrm>
            <a:off x="4937760" y="21762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1" name="Shape 11"/>
          <p:cNvSpPr/>
          <p:nvPr/>
        </p:nvSpPr>
        <p:spPr>
          <a:xfrm>
            <a:off x="5349240" y="2194560"/>
            <a:ext cx="3017160" cy="2923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12"/>
          <p:cNvSpPr/>
          <p:nvPr/>
        </p:nvSpPr>
        <p:spPr>
          <a:xfrm>
            <a:off x="5394960" y="22035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Check if condition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3" name="Shape 13"/>
          <p:cNvSpPr/>
          <p:nvPr/>
        </p:nvSpPr>
        <p:spPr>
          <a:xfrm>
            <a:off x="4937760" y="2523600"/>
            <a:ext cx="319680" cy="31968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14"/>
          <p:cNvSpPr/>
          <p:nvPr/>
        </p:nvSpPr>
        <p:spPr>
          <a:xfrm>
            <a:off x="4937760" y="25236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5" name="Shape 15"/>
          <p:cNvSpPr/>
          <p:nvPr/>
        </p:nvSpPr>
        <p:spPr>
          <a:xfrm>
            <a:off x="5349240" y="2541960"/>
            <a:ext cx="3017160" cy="29232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16"/>
          <p:cNvSpPr/>
          <p:nvPr/>
        </p:nvSpPr>
        <p:spPr>
          <a:xfrm>
            <a:off x="5394960" y="25513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If TRUE → Execute if block → EXIT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7" name="Shape 17"/>
          <p:cNvSpPr/>
          <p:nvPr/>
        </p:nvSpPr>
        <p:spPr>
          <a:xfrm>
            <a:off x="4937760" y="2871360"/>
            <a:ext cx="319680" cy="319680"/>
          </a:xfrm>
          <a:prstGeom prst="ellipse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18"/>
          <p:cNvSpPr/>
          <p:nvPr/>
        </p:nvSpPr>
        <p:spPr>
          <a:xfrm>
            <a:off x="4937760" y="28713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9" name="Shape 19"/>
          <p:cNvSpPr/>
          <p:nvPr/>
        </p:nvSpPr>
        <p:spPr>
          <a:xfrm>
            <a:off x="5349240" y="2889360"/>
            <a:ext cx="3017160" cy="292320"/>
          </a:xfrm>
          <a:prstGeom prst="rect">
            <a:avLst/>
          </a:prstGeom>
          <a:solidFill>
            <a:srgbClr val="f5f5f5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20"/>
          <p:cNvSpPr/>
          <p:nvPr/>
        </p:nvSpPr>
        <p:spPr>
          <a:xfrm>
            <a:off x="5394960" y="28987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If FALSE → Check elif condition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1" name="Shape 21"/>
          <p:cNvSpPr/>
          <p:nvPr/>
        </p:nvSpPr>
        <p:spPr>
          <a:xfrm>
            <a:off x="4937760" y="3218760"/>
            <a:ext cx="319680" cy="31968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22"/>
          <p:cNvSpPr/>
          <p:nvPr/>
        </p:nvSpPr>
        <p:spPr>
          <a:xfrm>
            <a:off x="4937760" y="32187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3" name="Shape 23"/>
          <p:cNvSpPr/>
          <p:nvPr/>
        </p:nvSpPr>
        <p:spPr>
          <a:xfrm>
            <a:off x="5349240" y="3237120"/>
            <a:ext cx="3017160" cy="29232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24"/>
          <p:cNvSpPr/>
          <p:nvPr/>
        </p:nvSpPr>
        <p:spPr>
          <a:xfrm>
            <a:off x="5394960" y="32461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If elif TRUE → Execute elif block → EXIT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5" name="Shape 25"/>
          <p:cNvSpPr/>
          <p:nvPr/>
        </p:nvSpPr>
        <p:spPr>
          <a:xfrm>
            <a:off x="4937760" y="3566160"/>
            <a:ext cx="319680" cy="319680"/>
          </a:xfrm>
          <a:prstGeom prst="ellipse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26"/>
          <p:cNvSpPr/>
          <p:nvPr/>
        </p:nvSpPr>
        <p:spPr>
          <a:xfrm>
            <a:off x="4937760" y="35661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7" name="Shape 27"/>
          <p:cNvSpPr/>
          <p:nvPr/>
        </p:nvSpPr>
        <p:spPr>
          <a:xfrm>
            <a:off x="5349240" y="3584520"/>
            <a:ext cx="3017160" cy="292320"/>
          </a:xfrm>
          <a:prstGeom prst="rect">
            <a:avLst/>
          </a:prstGeom>
          <a:solidFill>
            <a:srgbClr val="f5f5f5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28"/>
          <p:cNvSpPr/>
          <p:nvPr/>
        </p:nvSpPr>
        <p:spPr>
          <a:xfrm>
            <a:off x="5394960" y="35935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Check next elif (if any)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9" name="Shape 29"/>
          <p:cNvSpPr/>
          <p:nvPr/>
        </p:nvSpPr>
        <p:spPr>
          <a:xfrm>
            <a:off x="4937760" y="3913560"/>
            <a:ext cx="319680" cy="319680"/>
          </a:xfrm>
          <a:prstGeom prst="ellipse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30"/>
          <p:cNvSpPr/>
          <p:nvPr/>
        </p:nvSpPr>
        <p:spPr>
          <a:xfrm>
            <a:off x="4937760" y="39135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1" name="Shape 31"/>
          <p:cNvSpPr/>
          <p:nvPr/>
        </p:nvSpPr>
        <p:spPr>
          <a:xfrm>
            <a:off x="5349240" y="3931920"/>
            <a:ext cx="3017160" cy="292320"/>
          </a:xfrm>
          <a:prstGeom prst="rect">
            <a:avLst/>
          </a:prstGeom>
          <a:solidFill>
            <a:srgbClr val="f5f5f5"/>
          </a:solidFill>
          <a:ln w="254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32"/>
          <p:cNvSpPr/>
          <p:nvPr/>
        </p:nvSpPr>
        <p:spPr>
          <a:xfrm>
            <a:off x="5394960" y="39409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If all FALSE → Execute else block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if-elif-else - Clean Flowchart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14" name="Shape 1"/>
          <p:cNvSpPr/>
          <p:nvPr/>
        </p:nvSpPr>
        <p:spPr>
          <a:xfrm>
            <a:off x="640080" y="914400"/>
            <a:ext cx="3200040" cy="4111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2"/>
          <p:cNvSpPr/>
          <p:nvPr/>
        </p:nvSpPr>
        <p:spPr>
          <a:xfrm>
            <a:off x="640080" y="96012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Code (age = 15):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6" name="Shape 3"/>
          <p:cNvSpPr/>
          <p:nvPr/>
        </p:nvSpPr>
        <p:spPr>
          <a:xfrm>
            <a:off x="640080" y="1371600"/>
            <a:ext cx="3200040" cy="33829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4"/>
          <p:cNvSpPr/>
          <p:nvPr/>
        </p:nvSpPr>
        <p:spPr>
          <a:xfrm>
            <a:off x="822960" y="1508760"/>
            <a:ext cx="28342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age = 15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if age &lt; 13: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print("Child")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elif age &lt; 18: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print("Teenager")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print("Adult")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8" name="Shape 5"/>
          <p:cNvSpPr/>
          <p:nvPr/>
        </p:nvSpPr>
        <p:spPr>
          <a:xfrm>
            <a:off x="4114800" y="914400"/>
            <a:ext cx="4388760" cy="41112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6"/>
          <p:cNvSpPr/>
          <p:nvPr/>
        </p:nvSpPr>
        <p:spPr>
          <a:xfrm>
            <a:off x="4114800" y="96012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Execution Flow: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0" name="Shape 7"/>
          <p:cNvSpPr/>
          <p:nvPr/>
        </p:nvSpPr>
        <p:spPr>
          <a:xfrm>
            <a:off x="5394960" y="1463040"/>
            <a:ext cx="1828440" cy="31968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8"/>
          <p:cNvSpPr/>
          <p:nvPr/>
        </p:nvSpPr>
        <p:spPr>
          <a:xfrm>
            <a:off x="5394960" y="15087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START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2" name="Shape 9"/>
          <p:cNvSpPr/>
          <p:nvPr/>
        </p:nvSpPr>
        <p:spPr>
          <a:xfrm>
            <a:off x="6236280" y="1810440"/>
            <a:ext cx="145800" cy="109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Shape 10"/>
          <p:cNvSpPr/>
          <p:nvPr/>
        </p:nvSpPr>
        <p:spPr>
          <a:xfrm>
            <a:off x="5303520" y="1965960"/>
            <a:ext cx="2011320" cy="502560"/>
          </a:xfrm>
          <a:prstGeom prst="diamond">
            <a:avLst/>
          </a:prstGeom>
          <a:solidFill>
            <a:srgbClr val="ffebee"/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11"/>
          <p:cNvSpPr/>
          <p:nvPr/>
        </p:nvSpPr>
        <p:spPr>
          <a:xfrm>
            <a:off x="5303520" y="20574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age &lt; 13?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(15 &lt; 13)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5" name="Text 12"/>
          <p:cNvSpPr/>
          <p:nvPr/>
        </p:nvSpPr>
        <p:spPr>
          <a:xfrm>
            <a:off x="5580000" y="2520000"/>
            <a:ext cx="72900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Arial"/>
                <a:ea typeface="Arial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6" name="Shape 13"/>
          <p:cNvSpPr/>
          <p:nvPr/>
        </p:nvSpPr>
        <p:spPr>
          <a:xfrm>
            <a:off x="6236280" y="2496240"/>
            <a:ext cx="145800" cy="109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Shape 14"/>
          <p:cNvSpPr/>
          <p:nvPr/>
        </p:nvSpPr>
        <p:spPr>
          <a:xfrm>
            <a:off x="5303520" y="2651760"/>
            <a:ext cx="2011320" cy="502560"/>
          </a:xfrm>
          <a:prstGeom prst="diamond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15"/>
          <p:cNvSpPr/>
          <p:nvPr/>
        </p:nvSpPr>
        <p:spPr>
          <a:xfrm>
            <a:off x="5303520" y="27432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age &lt; 18?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(15 &lt; 18)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9" name="Shape 16"/>
          <p:cNvSpPr/>
          <p:nvPr/>
        </p:nvSpPr>
        <p:spPr>
          <a:xfrm>
            <a:off x="7315200" y="2903040"/>
            <a:ext cx="457200" cy="360"/>
          </a:xfrm>
          <a:prstGeom prst="line">
            <a:avLst/>
          </a:prstGeom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Shape 17"/>
          <p:cNvSpPr/>
          <p:nvPr/>
        </p:nvSpPr>
        <p:spPr>
          <a:xfrm>
            <a:off x="7745040" y="2853000"/>
            <a:ext cx="118440" cy="91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18"/>
          <p:cNvSpPr/>
          <p:nvPr/>
        </p:nvSpPr>
        <p:spPr>
          <a:xfrm>
            <a:off x="7304400" y="2716200"/>
            <a:ext cx="5590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7ae60"/>
                </a:solidFill>
                <a:latin typeface="Arial"/>
                <a:ea typeface="Arial"/>
              </a:rPr>
              <a:t>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2" name="Shape 19"/>
          <p:cNvSpPr/>
          <p:nvPr/>
        </p:nvSpPr>
        <p:spPr>
          <a:xfrm>
            <a:off x="7909560" y="2697480"/>
            <a:ext cx="822600" cy="41112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 20"/>
          <p:cNvSpPr/>
          <p:nvPr/>
        </p:nvSpPr>
        <p:spPr>
          <a:xfrm>
            <a:off x="7909560" y="274320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elif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block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4" name="Shape 21"/>
          <p:cNvSpPr/>
          <p:nvPr/>
        </p:nvSpPr>
        <p:spPr>
          <a:xfrm>
            <a:off x="8321040" y="3108960"/>
            <a:ext cx="360" cy="1051560"/>
          </a:xfrm>
          <a:prstGeom prst="line">
            <a:avLst/>
          </a:prstGeom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22"/>
          <p:cNvSpPr/>
          <p:nvPr/>
        </p:nvSpPr>
        <p:spPr>
          <a:xfrm>
            <a:off x="5580000" y="3154320"/>
            <a:ext cx="456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9b59b6"/>
                </a:solidFill>
                <a:latin typeface="Arial"/>
                <a:ea typeface="Arial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6" name="Shape 23"/>
          <p:cNvSpPr/>
          <p:nvPr/>
        </p:nvSpPr>
        <p:spPr>
          <a:xfrm>
            <a:off x="6236280" y="3182040"/>
            <a:ext cx="145800" cy="109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Shape 24"/>
          <p:cNvSpPr/>
          <p:nvPr/>
        </p:nvSpPr>
        <p:spPr>
          <a:xfrm>
            <a:off x="5669280" y="3337560"/>
            <a:ext cx="1279800" cy="365400"/>
          </a:xfrm>
          <a:prstGeom prst="rect">
            <a:avLst/>
          </a:prstGeom>
          <a:solidFill>
            <a:srgbClr val="9b59b6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25"/>
          <p:cNvSpPr/>
          <p:nvPr/>
        </p:nvSpPr>
        <p:spPr>
          <a:xfrm>
            <a:off x="5669280" y="33832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else block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9" name="Shape 26"/>
          <p:cNvSpPr/>
          <p:nvPr/>
        </p:nvSpPr>
        <p:spPr>
          <a:xfrm>
            <a:off x="6309360" y="3703320"/>
            <a:ext cx="360" cy="457200"/>
          </a:xfrm>
          <a:prstGeom prst="line">
            <a:avLst/>
          </a:prstGeom>
          <a:ln w="254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Shape 27"/>
          <p:cNvSpPr/>
          <p:nvPr/>
        </p:nvSpPr>
        <p:spPr>
          <a:xfrm>
            <a:off x="6309360" y="4160520"/>
            <a:ext cx="2011680" cy="360"/>
          </a:xfrm>
          <a:prstGeom prst="line">
            <a:avLst/>
          </a:prstGeom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Shape 28"/>
          <p:cNvSpPr/>
          <p:nvPr/>
        </p:nvSpPr>
        <p:spPr>
          <a:xfrm>
            <a:off x="6236280" y="4133160"/>
            <a:ext cx="145800" cy="118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Shape 29"/>
          <p:cNvSpPr/>
          <p:nvPr/>
        </p:nvSpPr>
        <p:spPr>
          <a:xfrm>
            <a:off x="5394960" y="4297680"/>
            <a:ext cx="1828440" cy="31968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30"/>
          <p:cNvSpPr/>
          <p:nvPr/>
        </p:nvSpPr>
        <p:spPr>
          <a:xfrm>
            <a:off x="5394960" y="434340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END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4" name="Shape 31"/>
          <p:cNvSpPr/>
          <p:nvPr/>
        </p:nvSpPr>
        <p:spPr>
          <a:xfrm>
            <a:off x="7680960" y="4297680"/>
            <a:ext cx="1279800" cy="31968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32"/>
          <p:cNvSpPr/>
          <p:nvPr/>
        </p:nvSpPr>
        <p:spPr>
          <a:xfrm>
            <a:off x="7680960" y="434340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"Teenager"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Logical Operator: AND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47" name="Shape 1"/>
          <p:cNvSpPr/>
          <p:nvPr/>
        </p:nvSpPr>
        <p:spPr>
          <a:xfrm>
            <a:off x="914400" y="868680"/>
            <a:ext cx="7314840" cy="63972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2"/>
          <p:cNvSpPr/>
          <p:nvPr/>
        </p:nvSpPr>
        <p:spPr>
          <a:xfrm>
            <a:off x="1097280" y="960120"/>
            <a:ext cx="6949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Returns TRUE only if BOTH conditions are TRUE</a:t>
            </a:r>
            <a:endParaRPr b="0" lang="en-IN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Both must pass!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9" name="Text 3"/>
          <p:cNvSpPr/>
          <p:nvPr/>
        </p:nvSpPr>
        <p:spPr>
          <a:xfrm>
            <a:off x="914400" y="16916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Visual Concept: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50" name="Shape 4"/>
          <p:cNvSpPr/>
          <p:nvPr/>
        </p:nvSpPr>
        <p:spPr>
          <a:xfrm>
            <a:off x="360000" y="2054520"/>
            <a:ext cx="1462680" cy="10054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5"/>
          <p:cNvSpPr/>
          <p:nvPr/>
        </p:nvSpPr>
        <p:spPr>
          <a:xfrm>
            <a:off x="523080" y="228600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Cond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2" name="Shape 6"/>
          <p:cNvSpPr/>
          <p:nvPr/>
        </p:nvSpPr>
        <p:spPr>
          <a:xfrm>
            <a:off x="3037320" y="1965600"/>
            <a:ext cx="1462680" cy="10054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7"/>
          <p:cNvSpPr/>
          <p:nvPr/>
        </p:nvSpPr>
        <p:spPr>
          <a:xfrm>
            <a:off x="3223080" y="224316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Cond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4" name="Shape 8"/>
          <p:cNvSpPr/>
          <p:nvPr/>
        </p:nvSpPr>
        <p:spPr>
          <a:xfrm>
            <a:off x="1965960" y="2160000"/>
            <a:ext cx="914040" cy="54828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9"/>
          <p:cNvSpPr/>
          <p:nvPr/>
        </p:nvSpPr>
        <p:spPr>
          <a:xfrm>
            <a:off x="1920240" y="2340000"/>
            <a:ext cx="914040" cy="31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BOTH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6" name="Text 10"/>
          <p:cNvSpPr/>
          <p:nvPr/>
        </p:nvSpPr>
        <p:spPr>
          <a:xfrm>
            <a:off x="1097280" y="310896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Only overlap = 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7" name="Text 11"/>
          <p:cNvSpPr/>
          <p:nvPr/>
        </p:nvSpPr>
        <p:spPr>
          <a:xfrm>
            <a:off x="4572000" y="16916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Truth Table: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58" name="Shape 12"/>
          <p:cNvSpPr/>
          <p:nvPr/>
        </p:nvSpPr>
        <p:spPr>
          <a:xfrm>
            <a:off x="4754880" y="2057400"/>
            <a:ext cx="1005480" cy="41112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13"/>
          <p:cNvSpPr/>
          <p:nvPr/>
        </p:nvSpPr>
        <p:spPr>
          <a:xfrm>
            <a:off x="4754880" y="210312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0" name="Text 14"/>
          <p:cNvSpPr/>
          <p:nvPr/>
        </p:nvSpPr>
        <p:spPr>
          <a:xfrm>
            <a:off x="5852160" y="21031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AND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1" name="Shape 15"/>
          <p:cNvSpPr/>
          <p:nvPr/>
        </p:nvSpPr>
        <p:spPr>
          <a:xfrm>
            <a:off x="6492240" y="2057400"/>
            <a:ext cx="1005480" cy="41112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16"/>
          <p:cNvSpPr/>
          <p:nvPr/>
        </p:nvSpPr>
        <p:spPr>
          <a:xfrm>
            <a:off x="6492240" y="210312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3" name="Text 17"/>
          <p:cNvSpPr/>
          <p:nvPr/>
        </p:nvSpPr>
        <p:spPr>
          <a:xfrm>
            <a:off x="7589520" y="2103120"/>
            <a:ext cx="273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64" name="Shape 18"/>
          <p:cNvSpPr/>
          <p:nvPr/>
        </p:nvSpPr>
        <p:spPr>
          <a:xfrm>
            <a:off x="7955280" y="2057400"/>
            <a:ext cx="1005480" cy="41112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19"/>
          <p:cNvSpPr/>
          <p:nvPr/>
        </p:nvSpPr>
        <p:spPr>
          <a:xfrm>
            <a:off x="7955280" y="210312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6" name="Shape 20"/>
          <p:cNvSpPr/>
          <p:nvPr/>
        </p:nvSpPr>
        <p:spPr>
          <a:xfrm>
            <a:off x="4754880" y="2560320"/>
            <a:ext cx="1005480" cy="41112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21"/>
          <p:cNvSpPr/>
          <p:nvPr/>
        </p:nvSpPr>
        <p:spPr>
          <a:xfrm>
            <a:off x="4754880" y="260604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8" name="Text 22"/>
          <p:cNvSpPr/>
          <p:nvPr/>
        </p:nvSpPr>
        <p:spPr>
          <a:xfrm>
            <a:off x="5852160" y="260604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AND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9" name="Shape 23"/>
          <p:cNvSpPr/>
          <p:nvPr/>
        </p:nvSpPr>
        <p:spPr>
          <a:xfrm>
            <a:off x="6492240" y="2560320"/>
            <a:ext cx="1005480" cy="4111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24"/>
          <p:cNvSpPr/>
          <p:nvPr/>
        </p:nvSpPr>
        <p:spPr>
          <a:xfrm>
            <a:off x="6492240" y="260604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1" name="Text 25"/>
          <p:cNvSpPr/>
          <p:nvPr/>
        </p:nvSpPr>
        <p:spPr>
          <a:xfrm>
            <a:off x="7589520" y="2606040"/>
            <a:ext cx="273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2" name="Shape 26"/>
          <p:cNvSpPr/>
          <p:nvPr/>
        </p:nvSpPr>
        <p:spPr>
          <a:xfrm>
            <a:off x="7955280" y="2560320"/>
            <a:ext cx="1005480" cy="411120"/>
          </a:xfrm>
          <a:prstGeom prst="rect">
            <a:avLst/>
          </a:prstGeom>
          <a:solidFill>
            <a:srgbClr val="e74c3c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 27"/>
          <p:cNvSpPr/>
          <p:nvPr/>
        </p:nvSpPr>
        <p:spPr>
          <a:xfrm>
            <a:off x="7955280" y="260604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4" name="Shape 28"/>
          <p:cNvSpPr/>
          <p:nvPr/>
        </p:nvSpPr>
        <p:spPr>
          <a:xfrm>
            <a:off x="4754880" y="3063240"/>
            <a:ext cx="1005480" cy="4111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29"/>
          <p:cNvSpPr/>
          <p:nvPr/>
        </p:nvSpPr>
        <p:spPr>
          <a:xfrm>
            <a:off x="4754880" y="310896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6" name="Text 30"/>
          <p:cNvSpPr/>
          <p:nvPr/>
        </p:nvSpPr>
        <p:spPr>
          <a:xfrm>
            <a:off x="5852160" y="310896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AND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7" name="Shape 31"/>
          <p:cNvSpPr/>
          <p:nvPr/>
        </p:nvSpPr>
        <p:spPr>
          <a:xfrm>
            <a:off x="6492240" y="3063240"/>
            <a:ext cx="1005480" cy="41112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32"/>
          <p:cNvSpPr/>
          <p:nvPr/>
        </p:nvSpPr>
        <p:spPr>
          <a:xfrm>
            <a:off x="6492240" y="310896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9" name="Text 33"/>
          <p:cNvSpPr/>
          <p:nvPr/>
        </p:nvSpPr>
        <p:spPr>
          <a:xfrm>
            <a:off x="7589520" y="3108960"/>
            <a:ext cx="273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0" name="Shape 34"/>
          <p:cNvSpPr/>
          <p:nvPr/>
        </p:nvSpPr>
        <p:spPr>
          <a:xfrm>
            <a:off x="7955280" y="3063240"/>
            <a:ext cx="1005480" cy="411120"/>
          </a:xfrm>
          <a:prstGeom prst="rect">
            <a:avLst/>
          </a:prstGeom>
          <a:solidFill>
            <a:srgbClr val="e74c3c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35"/>
          <p:cNvSpPr/>
          <p:nvPr/>
        </p:nvSpPr>
        <p:spPr>
          <a:xfrm>
            <a:off x="7955280" y="310896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2" name="Shape 36"/>
          <p:cNvSpPr/>
          <p:nvPr/>
        </p:nvSpPr>
        <p:spPr>
          <a:xfrm>
            <a:off x="4754880" y="3566160"/>
            <a:ext cx="1005480" cy="4111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 37"/>
          <p:cNvSpPr/>
          <p:nvPr/>
        </p:nvSpPr>
        <p:spPr>
          <a:xfrm>
            <a:off x="4754880" y="361188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4" name="Text 38"/>
          <p:cNvSpPr/>
          <p:nvPr/>
        </p:nvSpPr>
        <p:spPr>
          <a:xfrm>
            <a:off x="5852160" y="36118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AND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5" name="Shape 39"/>
          <p:cNvSpPr/>
          <p:nvPr/>
        </p:nvSpPr>
        <p:spPr>
          <a:xfrm>
            <a:off x="6492240" y="3566160"/>
            <a:ext cx="1005480" cy="4111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40"/>
          <p:cNvSpPr/>
          <p:nvPr/>
        </p:nvSpPr>
        <p:spPr>
          <a:xfrm>
            <a:off x="6492240" y="361188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7" name="Text 41"/>
          <p:cNvSpPr/>
          <p:nvPr/>
        </p:nvSpPr>
        <p:spPr>
          <a:xfrm>
            <a:off x="7589520" y="3611880"/>
            <a:ext cx="273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8" name="Shape 42"/>
          <p:cNvSpPr/>
          <p:nvPr/>
        </p:nvSpPr>
        <p:spPr>
          <a:xfrm>
            <a:off x="7955280" y="3566160"/>
            <a:ext cx="1005480" cy="411120"/>
          </a:xfrm>
          <a:prstGeom prst="rect">
            <a:avLst/>
          </a:prstGeom>
          <a:solidFill>
            <a:srgbClr val="e74c3c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 43"/>
          <p:cNvSpPr/>
          <p:nvPr/>
        </p:nvSpPr>
        <p:spPr>
          <a:xfrm>
            <a:off x="7955280" y="361188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0" name="Shape 44"/>
          <p:cNvSpPr/>
          <p:nvPr/>
        </p:nvSpPr>
        <p:spPr>
          <a:xfrm>
            <a:off x="1339560" y="4320000"/>
            <a:ext cx="6400440" cy="59400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45"/>
          <p:cNvSpPr/>
          <p:nvPr/>
        </p:nvSpPr>
        <p:spPr>
          <a:xfrm>
            <a:off x="1440000" y="4320000"/>
            <a:ext cx="6400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Example: Voting Eligibility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2" name="Text 46"/>
          <p:cNvSpPr/>
          <p:nvPr/>
        </p:nvSpPr>
        <p:spPr>
          <a:xfrm>
            <a:off x="1339560" y="4677480"/>
            <a:ext cx="6400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(age &gt;= 18) AND (nationality == "Indian")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Logical Operators: OR and NOT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94" name="Shape 1"/>
          <p:cNvSpPr/>
          <p:nvPr/>
        </p:nvSpPr>
        <p:spPr>
          <a:xfrm>
            <a:off x="914400" y="914400"/>
            <a:ext cx="7314840" cy="45684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2"/>
          <p:cNvSpPr/>
          <p:nvPr/>
        </p:nvSpPr>
        <p:spPr>
          <a:xfrm>
            <a:off x="914400" y="9601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OR Operator: Returns TRUE if AT LEAST ONE condition is TRUE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96" name="Text 3"/>
          <p:cNvSpPr/>
          <p:nvPr/>
        </p:nvSpPr>
        <p:spPr>
          <a:xfrm>
            <a:off x="914400" y="150876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Visual: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7" name="Shape 4"/>
          <p:cNvSpPr/>
          <p:nvPr/>
        </p:nvSpPr>
        <p:spPr>
          <a:xfrm>
            <a:off x="900000" y="1783080"/>
            <a:ext cx="1188360" cy="822600"/>
          </a:xfrm>
          <a:prstGeom prst="ellipse">
            <a:avLst/>
          </a:prstGeom>
          <a:solidFill>
            <a:srgbClr val="e67e22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5"/>
          <p:cNvSpPr/>
          <p:nvPr/>
        </p:nvSpPr>
        <p:spPr>
          <a:xfrm>
            <a:off x="974520" y="201168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Cond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9" name="Shape 6"/>
          <p:cNvSpPr/>
          <p:nvPr/>
        </p:nvSpPr>
        <p:spPr>
          <a:xfrm>
            <a:off x="2231640" y="1737000"/>
            <a:ext cx="1188360" cy="822600"/>
          </a:xfrm>
          <a:prstGeom prst="ellipse">
            <a:avLst/>
          </a:prstGeom>
          <a:solidFill>
            <a:srgbClr val="e67e22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7"/>
          <p:cNvSpPr/>
          <p:nvPr/>
        </p:nvSpPr>
        <p:spPr>
          <a:xfrm>
            <a:off x="2103120" y="201168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	</a:t>
            </a: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        </a:t>
            </a: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Cond2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1" name="Text 8"/>
          <p:cNvSpPr/>
          <p:nvPr/>
        </p:nvSpPr>
        <p:spPr>
          <a:xfrm>
            <a:off x="1097280" y="2697480"/>
            <a:ext cx="2102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Either = 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2" name="Text 9"/>
          <p:cNvSpPr/>
          <p:nvPr/>
        </p:nvSpPr>
        <p:spPr>
          <a:xfrm>
            <a:off x="4389120" y="150876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OR Truth Table: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3" name="Shape 10"/>
          <p:cNvSpPr/>
          <p:nvPr/>
        </p:nvSpPr>
        <p:spPr>
          <a:xfrm>
            <a:off x="4754880" y="1828800"/>
            <a:ext cx="822600" cy="36540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Text 11"/>
          <p:cNvSpPr/>
          <p:nvPr/>
        </p:nvSpPr>
        <p:spPr>
          <a:xfrm>
            <a:off x="4754880" y="1874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5" name="Text 12"/>
          <p:cNvSpPr/>
          <p:nvPr/>
        </p:nvSpPr>
        <p:spPr>
          <a:xfrm>
            <a:off x="5669280" y="1874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6" name="Shape 13"/>
          <p:cNvSpPr/>
          <p:nvPr/>
        </p:nvSpPr>
        <p:spPr>
          <a:xfrm>
            <a:off x="6217920" y="1828800"/>
            <a:ext cx="822600" cy="36540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Text 14"/>
          <p:cNvSpPr/>
          <p:nvPr/>
        </p:nvSpPr>
        <p:spPr>
          <a:xfrm>
            <a:off x="6217920" y="1874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8" name="Text 15"/>
          <p:cNvSpPr/>
          <p:nvPr/>
        </p:nvSpPr>
        <p:spPr>
          <a:xfrm>
            <a:off x="7132320" y="18745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9" name="Shape 16"/>
          <p:cNvSpPr/>
          <p:nvPr/>
        </p:nvSpPr>
        <p:spPr>
          <a:xfrm>
            <a:off x="7498080" y="1828800"/>
            <a:ext cx="822600" cy="36540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Text 17"/>
          <p:cNvSpPr/>
          <p:nvPr/>
        </p:nvSpPr>
        <p:spPr>
          <a:xfrm>
            <a:off x="7498080" y="1874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11" name="Shape 18"/>
          <p:cNvSpPr/>
          <p:nvPr/>
        </p:nvSpPr>
        <p:spPr>
          <a:xfrm>
            <a:off x="4754880" y="2258640"/>
            <a:ext cx="822600" cy="36540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19"/>
          <p:cNvSpPr/>
          <p:nvPr/>
        </p:nvSpPr>
        <p:spPr>
          <a:xfrm>
            <a:off x="4754880" y="230436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3" name="Text 20"/>
          <p:cNvSpPr/>
          <p:nvPr/>
        </p:nvSpPr>
        <p:spPr>
          <a:xfrm>
            <a:off x="5669280" y="23043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4" name="Shape 21"/>
          <p:cNvSpPr/>
          <p:nvPr/>
        </p:nvSpPr>
        <p:spPr>
          <a:xfrm>
            <a:off x="6217920" y="2258640"/>
            <a:ext cx="822600" cy="365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22"/>
          <p:cNvSpPr/>
          <p:nvPr/>
        </p:nvSpPr>
        <p:spPr>
          <a:xfrm>
            <a:off x="6217920" y="230436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6" name="Text 23"/>
          <p:cNvSpPr/>
          <p:nvPr/>
        </p:nvSpPr>
        <p:spPr>
          <a:xfrm>
            <a:off x="7132320" y="23043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7" name="Shape 24"/>
          <p:cNvSpPr/>
          <p:nvPr/>
        </p:nvSpPr>
        <p:spPr>
          <a:xfrm>
            <a:off x="7498080" y="2258640"/>
            <a:ext cx="822600" cy="36540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25"/>
          <p:cNvSpPr/>
          <p:nvPr/>
        </p:nvSpPr>
        <p:spPr>
          <a:xfrm>
            <a:off x="7498080" y="230436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19" name="Shape 26"/>
          <p:cNvSpPr/>
          <p:nvPr/>
        </p:nvSpPr>
        <p:spPr>
          <a:xfrm>
            <a:off x="4754880" y="2688480"/>
            <a:ext cx="822600" cy="365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27"/>
          <p:cNvSpPr/>
          <p:nvPr/>
        </p:nvSpPr>
        <p:spPr>
          <a:xfrm>
            <a:off x="4754880" y="273420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1" name="Text 28"/>
          <p:cNvSpPr/>
          <p:nvPr/>
        </p:nvSpPr>
        <p:spPr>
          <a:xfrm>
            <a:off x="5669280" y="27342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2" name="Shape 29"/>
          <p:cNvSpPr/>
          <p:nvPr/>
        </p:nvSpPr>
        <p:spPr>
          <a:xfrm>
            <a:off x="6217920" y="2688480"/>
            <a:ext cx="822600" cy="36540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30"/>
          <p:cNvSpPr/>
          <p:nvPr/>
        </p:nvSpPr>
        <p:spPr>
          <a:xfrm>
            <a:off x="6217920" y="273420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4" name="Text 31"/>
          <p:cNvSpPr/>
          <p:nvPr/>
        </p:nvSpPr>
        <p:spPr>
          <a:xfrm>
            <a:off x="7132320" y="27342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5" name="Shape 32"/>
          <p:cNvSpPr/>
          <p:nvPr/>
        </p:nvSpPr>
        <p:spPr>
          <a:xfrm>
            <a:off x="7498080" y="2688480"/>
            <a:ext cx="822600" cy="36540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Text 33"/>
          <p:cNvSpPr/>
          <p:nvPr/>
        </p:nvSpPr>
        <p:spPr>
          <a:xfrm>
            <a:off x="7498080" y="273420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27" name="Shape 34"/>
          <p:cNvSpPr/>
          <p:nvPr/>
        </p:nvSpPr>
        <p:spPr>
          <a:xfrm>
            <a:off x="4754880" y="3117960"/>
            <a:ext cx="822600" cy="365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35"/>
          <p:cNvSpPr/>
          <p:nvPr/>
        </p:nvSpPr>
        <p:spPr>
          <a:xfrm>
            <a:off x="4754880" y="31636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9" name="Text 36"/>
          <p:cNvSpPr/>
          <p:nvPr/>
        </p:nvSpPr>
        <p:spPr>
          <a:xfrm>
            <a:off x="5669280" y="3163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0" name="Shape 37"/>
          <p:cNvSpPr/>
          <p:nvPr/>
        </p:nvSpPr>
        <p:spPr>
          <a:xfrm>
            <a:off x="6217920" y="3117960"/>
            <a:ext cx="822600" cy="365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38"/>
          <p:cNvSpPr/>
          <p:nvPr/>
        </p:nvSpPr>
        <p:spPr>
          <a:xfrm>
            <a:off x="6217920" y="31636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2" name="Text 39"/>
          <p:cNvSpPr/>
          <p:nvPr/>
        </p:nvSpPr>
        <p:spPr>
          <a:xfrm>
            <a:off x="7132320" y="3163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3" name="Shape 40"/>
          <p:cNvSpPr/>
          <p:nvPr/>
        </p:nvSpPr>
        <p:spPr>
          <a:xfrm>
            <a:off x="7498080" y="3117960"/>
            <a:ext cx="822600" cy="365400"/>
          </a:xfrm>
          <a:prstGeom prst="rect">
            <a:avLst/>
          </a:prstGeom>
          <a:solidFill>
            <a:srgbClr val="e74c3c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Text 41"/>
          <p:cNvSpPr/>
          <p:nvPr/>
        </p:nvSpPr>
        <p:spPr>
          <a:xfrm>
            <a:off x="7498080" y="31636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35" name="Shape 42"/>
          <p:cNvSpPr/>
          <p:nvPr/>
        </p:nvSpPr>
        <p:spPr>
          <a:xfrm>
            <a:off x="900000" y="3611520"/>
            <a:ext cx="7314840" cy="45684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Text 43"/>
          <p:cNvSpPr/>
          <p:nvPr/>
        </p:nvSpPr>
        <p:spPr>
          <a:xfrm>
            <a:off x="1260000" y="37029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NOT Operator: Reverses the boolean value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37" name="Shape 44"/>
          <p:cNvSpPr/>
          <p:nvPr/>
        </p:nvSpPr>
        <p:spPr>
          <a:xfrm>
            <a:off x="2286000" y="4251600"/>
            <a:ext cx="1279800" cy="41112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Text 45"/>
          <p:cNvSpPr/>
          <p:nvPr/>
        </p:nvSpPr>
        <p:spPr>
          <a:xfrm>
            <a:off x="2286000" y="429732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9" name="Text 46"/>
          <p:cNvSpPr/>
          <p:nvPr/>
        </p:nvSpPr>
        <p:spPr>
          <a:xfrm>
            <a:off x="3657600" y="42973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9b6"/>
                </a:solidFill>
                <a:latin typeface="Arial"/>
                <a:ea typeface="Arial"/>
              </a:rPr>
              <a:t>NOT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0" name="Shape 47"/>
          <p:cNvSpPr/>
          <p:nvPr/>
        </p:nvSpPr>
        <p:spPr>
          <a:xfrm>
            <a:off x="4297680" y="4407120"/>
            <a:ext cx="365400" cy="13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Shape 48"/>
          <p:cNvSpPr/>
          <p:nvPr/>
        </p:nvSpPr>
        <p:spPr>
          <a:xfrm>
            <a:off x="4754880" y="4251600"/>
            <a:ext cx="1279800" cy="411120"/>
          </a:xfrm>
          <a:prstGeom prst="rect">
            <a:avLst/>
          </a:prstGeom>
          <a:solidFill>
            <a:srgbClr val="e74c3c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Text 49"/>
          <p:cNvSpPr/>
          <p:nvPr/>
        </p:nvSpPr>
        <p:spPr>
          <a:xfrm>
            <a:off x="4754880" y="429732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Python Indentation Rules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344" name="Shape 1"/>
          <p:cNvSpPr/>
          <p:nvPr/>
        </p:nvSpPr>
        <p:spPr>
          <a:xfrm>
            <a:off x="914400" y="868680"/>
            <a:ext cx="7314840" cy="639720"/>
          </a:xfrm>
          <a:prstGeom prst="rect">
            <a:avLst/>
          </a:prstGeom>
          <a:solidFill>
            <a:srgbClr val="ffebee"/>
          </a:solidFill>
          <a:ln w="381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5" name="Text 2"/>
          <p:cNvSpPr/>
          <p:nvPr/>
        </p:nvSpPr>
        <p:spPr>
          <a:xfrm>
            <a:off x="1097280" y="960120"/>
            <a:ext cx="6949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74c3c"/>
                </a:solidFill>
                <a:latin typeface="Arial"/>
                <a:ea typeface="Arial"/>
              </a:rPr>
              <a:t>Python uses INDENTATION to define code blocks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74c3c"/>
                </a:solidFill>
                <a:latin typeface="Arial"/>
                <a:ea typeface="Arial"/>
              </a:rPr>
              <a:t>Standard: 4 spaces or 1 tab per indentation level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46" name="Shape 3"/>
          <p:cNvSpPr/>
          <p:nvPr/>
        </p:nvSpPr>
        <p:spPr>
          <a:xfrm>
            <a:off x="914400" y="1691640"/>
            <a:ext cx="3657240" cy="4568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Text 4"/>
          <p:cNvSpPr/>
          <p:nvPr/>
        </p:nvSpPr>
        <p:spPr>
          <a:xfrm>
            <a:off x="914400" y="17373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✓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CORRECT Indentation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48" name="Shape 5"/>
          <p:cNvSpPr/>
          <p:nvPr/>
        </p:nvSpPr>
        <p:spPr>
          <a:xfrm>
            <a:off x="914400" y="2240280"/>
            <a:ext cx="3657240" cy="18284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6"/>
          <p:cNvSpPr/>
          <p:nvPr/>
        </p:nvSpPr>
        <p:spPr>
          <a:xfrm>
            <a:off x="1097280" y="2377440"/>
            <a:ext cx="32914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score = 85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if score &gt;= 60: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print("Pass")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print("Good")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print("Done")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0" name="Text 7"/>
          <p:cNvSpPr/>
          <p:nvPr/>
        </p:nvSpPr>
        <p:spPr>
          <a:xfrm>
            <a:off x="1097280" y="416052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✓ </a:t>
            </a:r>
            <a:r>
              <a:rPr b="0" i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Consistent 4-space indentation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1" name="Shape 8"/>
          <p:cNvSpPr/>
          <p:nvPr/>
        </p:nvSpPr>
        <p:spPr>
          <a:xfrm>
            <a:off x="4572000" y="1691640"/>
            <a:ext cx="3657240" cy="4568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Text 9"/>
          <p:cNvSpPr/>
          <p:nvPr/>
        </p:nvSpPr>
        <p:spPr>
          <a:xfrm>
            <a:off x="4572000" y="17373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✗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INCORRECT Indentation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53" name="Shape 10"/>
          <p:cNvSpPr/>
          <p:nvPr/>
        </p:nvSpPr>
        <p:spPr>
          <a:xfrm>
            <a:off x="4572000" y="2240280"/>
            <a:ext cx="3657240" cy="18284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Text 11"/>
          <p:cNvSpPr/>
          <p:nvPr/>
        </p:nvSpPr>
        <p:spPr>
          <a:xfrm>
            <a:off x="4754880" y="2377440"/>
            <a:ext cx="32914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score = 85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if score &gt;= 60: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print("Pass")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print("Good")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print("Done")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5" name="Shape 12"/>
          <p:cNvSpPr/>
          <p:nvPr/>
        </p:nvSpPr>
        <p:spPr>
          <a:xfrm>
            <a:off x="5029200" y="4160520"/>
            <a:ext cx="2742840" cy="2739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Text 13"/>
          <p:cNvSpPr/>
          <p:nvPr/>
        </p:nvSpPr>
        <p:spPr>
          <a:xfrm>
            <a:off x="5029200" y="418788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IndentationError!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Key Takeaways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358" name="Shape 1"/>
          <p:cNvSpPr/>
          <p:nvPr/>
        </p:nvSpPr>
        <p:spPr>
          <a:xfrm>
            <a:off x="1097280" y="125280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Text 2"/>
          <p:cNvSpPr/>
          <p:nvPr/>
        </p:nvSpPr>
        <p:spPr>
          <a:xfrm>
            <a:off x="1097280" y="12528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1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60" name="Text 3"/>
          <p:cNvSpPr/>
          <p:nvPr/>
        </p:nvSpPr>
        <p:spPr>
          <a:xfrm>
            <a:off x="1554480" y="128016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if: Execute code only when condition is TRUE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61" name="Shape 4"/>
          <p:cNvSpPr/>
          <p:nvPr/>
        </p:nvSpPr>
        <p:spPr>
          <a:xfrm>
            <a:off x="1097280" y="161856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2" name="Text 5"/>
          <p:cNvSpPr/>
          <p:nvPr/>
        </p:nvSpPr>
        <p:spPr>
          <a:xfrm>
            <a:off x="1097280" y="16185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2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63" name="Text 6"/>
          <p:cNvSpPr/>
          <p:nvPr/>
        </p:nvSpPr>
        <p:spPr>
          <a:xfrm>
            <a:off x="1554480" y="164592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if-else: Choose between two execution paths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64" name="Shape 7"/>
          <p:cNvSpPr/>
          <p:nvPr/>
        </p:nvSpPr>
        <p:spPr>
          <a:xfrm>
            <a:off x="1097280" y="198432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Text 8"/>
          <p:cNvSpPr/>
          <p:nvPr/>
        </p:nvSpPr>
        <p:spPr>
          <a:xfrm>
            <a:off x="1097280" y="19843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3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66" name="Text 9"/>
          <p:cNvSpPr/>
          <p:nvPr/>
        </p:nvSpPr>
        <p:spPr>
          <a:xfrm>
            <a:off x="1554480" y="201168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if-elif-else: Check multiple conditions in sequence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67" name="Shape 10"/>
          <p:cNvSpPr/>
          <p:nvPr/>
        </p:nvSpPr>
        <p:spPr>
          <a:xfrm>
            <a:off x="1097280" y="235008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Text 11"/>
          <p:cNvSpPr/>
          <p:nvPr/>
        </p:nvSpPr>
        <p:spPr>
          <a:xfrm>
            <a:off x="1097280" y="235008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4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69" name="Text 12"/>
          <p:cNvSpPr/>
          <p:nvPr/>
        </p:nvSpPr>
        <p:spPr>
          <a:xfrm>
            <a:off x="1554480" y="237744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AND: Both conditions must be TRUE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70" name="Shape 13"/>
          <p:cNvSpPr/>
          <p:nvPr/>
        </p:nvSpPr>
        <p:spPr>
          <a:xfrm>
            <a:off x="1097280" y="271584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Text 14"/>
          <p:cNvSpPr/>
          <p:nvPr/>
        </p:nvSpPr>
        <p:spPr>
          <a:xfrm>
            <a:off x="1097280" y="27158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5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72" name="Text 15"/>
          <p:cNvSpPr/>
          <p:nvPr/>
        </p:nvSpPr>
        <p:spPr>
          <a:xfrm>
            <a:off x="1554480" y="274320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OR: At least ONE condition must be TRUE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73" name="Shape 16"/>
          <p:cNvSpPr/>
          <p:nvPr/>
        </p:nvSpPr>
        <p:spPr>
          <a:xfrm>
            <a:off x="1097280" y="308160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Text 17"/>
          <p:cNvSpPr/>
          <p:nvPr/>
        </p:nvSpPr>
        <p:spPr>
          <a:xfrm>
            <a:off x="1097280" y="30816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6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75" name="Text 18"/>
          <p:cNvSpPr/>
          <p:nvPr/>
        </p:nvSpPr>
        <p:spPr>
          <a:xfrm>
            <a:off x="1554480" y="310896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NOT: Reverses boolean value (TRUE ↔ FALSE)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76" name="Shape 19"/>
          <p:cNvSpPr/>
          <p:nvPr/>
        </p:nvSpPr>
        <p:spPr>
          <a:xfrm>
            <a:off x="1097280" y="344736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Text 20"/>
          <p:cNvSpPr/>
          <p:nvPr/>
        </p:nvSpPr>
        <p:spPr>
          <a:xfrm>
            <a:off x="1097280" y="34473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7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78" name="Text 21"/>
          <p:cNvSpPr/>
          <p:nvPr/>
        </p:nvSpPr>
        <p:spPr>
          <a:xfrm>
            <a:off x="1554480" y="347472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Indentation: Mandatory in Python (4 spaces or 1 tab)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79" name="Shape 22"/>
          <p:cNvSpPr/>
          <p:nvPr/>
        </p:nvSpPr>
        <p:spPr>
          <a:xfrm>
            <a:off x="1097280" y="381312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Text 23"/>
          <p:cNvSpPr/>
          <p:nvPr/>
        </p:nvSpPr>
        <p:spPr>
          <a:xfrm>
            <a:off x="1097280" y="38131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8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81" name="Text 24"/>
          <p:cNvSpPr/>
          <p:nvPr/>
        </p:nvSpPr>
        <p:spPr>
          <a:xfrm>
            <a:off x="1554480" y="384048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Only ONE block executes in if-elif-else chain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82" name="Text 25"/>
          <p:cNvSpPr/>
          <p:nvPr/>
        </p:nvSpPr>
        <p:spPr>
          <a:xfrm>
            <a:off x="457200" y="41148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ffd43b"/>
                </a:solidFill>
                <a:latin typeface="Arial"/>
                <a:ea typeface="Arial"/>
              </a:rPr>
              <a:t>Practice makes perfect! 🐍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2026-02-02T13:48:39Z</dcterms:created>
  <dc:creator>Python Training Series</dc:creator>
  <dc:description/>
  <dc:language>en-IN</dc:language>
  <cp:lastModifiedBy/>
  <dcterms:modified xsi:type="dcterms:W3CDTF">2026-02-02T19:53:03Z</dcterms:modified>
  <cp:revision>4</cp:revision>
  <dc:subject>PptxGenJS Presentation</dc:subject>
  <dc:title>Python Decision Control Instructions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