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</a:t>
            </a:r>
            <a:r>
              <a:rPr b="0" lang="en-IN" sz="2000" spc="-1" strike="noStrike">
                <a:latin typeface="Arial"/>
              </a:rPr>
              <a:t>l</a:t>
            </a:r>
            <a:r>
              <a:rPr b="0" lang="en-IN" sz="2000" spc="-1" strike="noStrike">
                <a:latin typeface="Arial"/>
              </a:rPr>
              <a:t>i</a:t>
            </a:r>
            <a:r>
              <a:rPr b="0" lang="en-IN" sz="2000" spc="-1" strike="noStrike">
                <a:latin typeface="Arial"/>
              </a:rPr>
              <a:t>c</a:t>
            </a:r>
            <a:r>
              <a:rPr b="0" lang="en-IN" sz="2000" spc="-1" strike="noStrike">
                <a:latin typeface="Arial"/>
              </a:rPr>
              <a:t>k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d</a:t>
            </a:r>
            <a:r>
              <a:rPr b="0" lang="en-IN" sz="2000" spc="-1" strike="noStrike">
                <a:latin typeface="Arial"/>
              </a:rPr>
              <a:t>i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h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n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s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f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r</a:t>
            </a:r>
            <a:r>
              <a:rPr b="0" lang="en-IN" sz="2000" spc="-1" strike="noStrike">
                <a:latin typeface="Arial"/>
              </a:rPr>
              <a:t>m</a:t>
            </a:r>
            <a:r>
              <a:rPr b="0" lang="en-IN" sz="2000" spc="-1" strike="noStrike">
                <a:latin typeface="Arial"/>
              </a:rPr>
              <a:t>a</a:t>
            </a:r>
            <a:r>
              <a:rPr b="0" lang="en-IN" sz="2000" spc="-1" strike="noStrike">
                <a:latin typeface="Arial"/>
              </a:rPr>
              <a:t>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25FA5EC-7D14-41BD-A42C-316746BEE008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4E8AC7A-FD15-4EEC-AD46-D1C20470476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1C536DD-70E1-4CDF-BF01-A99B1B55E0F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3F9CDDE-DCF5-42B7-A7DF-3954FF65EB3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158753-31C5-44D2-AD87-B9330846576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E3BC9B-3CF8-4C26-A93F-2A05F066E81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EDC92F-D870-439D-AB38-C22867403EF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6D28DF-AA11-41B5-BB17-CFF4E3D2CE0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1163867-9494-406D-8378-DED2667F4C3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97A298-47B2-4B97-B969-A9615E9F081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9E6381-A3B6-4138-9C90-5B9EDEE45D5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16CF37-1D98-40E9-B946-CB055CB1F9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73385FD-613E-4AF2-AE24-796A48D32B1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A62C946-5DEF-4145-80E8-E839CBD59EE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24649FC-A660-4BCF-9CDB-30C37D0FFC5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7316F1-B0FB-4752-B983-0C17A075290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</a:t>
            </a:r>
            <a:r>
              <a:rPr b="0" lang="en-IN" sz="4400" spc="-1" strike="noStrike">
                <a:latin typeface="Arial"/>
              </a:rPr>
              <a:t>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64592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Arial"/>
                <a:ea typeface="Arial"/>
              </a:rPr>
              <a:t>Functions in Python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27432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d43b"/>
                </a:solidFill>
                <a:latin typeface="Arial"/>
                <a:ea typeface="Arial"/>
              </a:rPr>
              <a:t>Reusable Code Blocks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365760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ccccc"/>
                </a:solidFill>
                <a:latin typeface="Arial"/>
                <a:ea typeface="Arial"/>
              </a:rPr>
              <a:t>Python Programming - Lesson 13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What are Functions?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914400" y="914400"/>
            <a:ext cx="7314480" cy="913680"/>
          </a:xfrm>
          <a:prstGeom prst="rect">
            <a:avLst/>
          </a:prstGeom>
          <a:solidFill>
            <a:srgbClr val="e3f2fd"/>
          </a:solidFill>
          <a:ln w="381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2"/>
          <p:cNvSpPr/>
          <p:nvPr/>
        </p:nvSpPr>
        <p:spPr>
          <a:xfrm>
            <a:off x="1188720" y="1097280"/>
            <a:ext cx="6765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A function is a block of code that performs a specific task</a:t>
            </a:r>
            <a:endParaRPr b="0" lang="en-IN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and can be reused multiple times throughout a program.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914400" y="20116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c3e50"/>
                </a:solidFill>
                <a:latin typeface="Arial"/>
                <a:ea typeface="Arial"/>
              </a:rPr>
              <a:t>Simple Example: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1371600" y="2377440"/>
            <a:ext cx="3199680" cy="10965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5"/>
          <p:cNvSpPr/>
          <p:nvPr/>
        </p:nvSpPr>
        <p:spPr>
          <a:xfrm>
            <a:off x="1486080" y="2520000"/>
            <a:ext cx="28339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calculate_area():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length = 10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width = 5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area = length * width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print(area)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4663440" y="2880360"/>
            <a:ext cx="273600" cy="136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7"/>
          <p:cNvSpPr/>
          <p:nvPr/>
        </p:nvSpPr>
        <p:spPr>
          <a:xfrm>
            <a:off x="5029200" y="265176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Function can be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called multiple times!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5029200" y="3383280"/>
            <a:ext cx="3199680" cy="4564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9"/>
          <p:cNvSpPr/>
          <p:nvPr/>
        </p:nvSpPr>
        <p:spPr>
          <a:xfrm>
            <a:off x="5212080" y="3474720"/>
            <a:ext cx="2833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calculate_area()  # Call 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calculate_area()  # Call 2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Advantages of Functions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822960" y="887040"/>
            <a:ext cx="319320" cy="31932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2"/>
          <p:cNvSpPr/>
          <p:nvPr/>
        </p:nvSpPr>
        <p:spPr>
          <a:xfrm>
            <a:off x="822960" y="88704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1280160" y="914400"/>
            <a:ext cx="6948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♻️ </a:t>
            </a: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Code Reusability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280160" y="116136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Write code once, use it multiple times. No need to repeat the same code.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822960" y="1636920"/>
            <a:ext cx="319320" cy="31932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6"/>
          <p:cNvSpPr/>
          <p:nvPr/>
        </p:nvSpPr>
        <p:spPr>
          <a:xfrm>
            <a:off x="822960" y="163692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1280160" y="1664280"/>
            <a:ext cx="6948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🧩 </a:t>
            </a: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Modularity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1280160" y="191124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Break complex programs into smaller, manageable code blocks. Each function performs a specific task.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822960" y="2386440"/>
            <a:ext cx="319320" cy="319320"/>
          </a:xfrm>
          <a:prstGeom prst="ellipse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0"/>
          <p:cNvSpPr/>
          <p:nvPr/>
        </p:nvSpPr>
        <p:spPr>
          <a:xfrm>
            <a:off x="822960" y="238644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1280160" y="2414160"/>
            <a:ext cx="6948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b59b6"/>
                </a:solidFill>
                <a:latin typeface="Arial"/>
                <a:ea typeface="Arial"/>
              </a:rPr>
              <a:t>📖 </a:t>
            </a:r>
            <a:r>
              <a:rPr b="1" lang="en-US" sz="1400" spc="-1" strike="noStrike">
                <a:solidFill>
                  <a:srgbClr val="9b59b6"/>
                </a:solidFill>
                <a:latin typeface="Arial"/>
                <a:ea typeface="Arial"/>
              </a:rPr>
              <a:t>Improved Readability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1280160" y="266076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Functions with meaningful names make code easier to understand. Example: calculate_area() is clear.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822960" y="3136320"/>
            <a:ext cx="319320" cy="3193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4"/>
          <p:cNvSpPr/>
          <p:nvPr/>
        </p:nvSpPr>
        <p:spPr>
          <a:xfrm>
            <a:off x="822960" y="313632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1280160" y="3163680"/>
            <a:ext cx="6948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Arial"/>
                <a:ea typeface="Arial"/>
              </a:rPr>
              <a:t>🔧 </a:t>
            </a:r>
            <a:r>
              <a:rPr b="1" lang="en-US" sz="1400" spc="-1" strike="noStrike">
                <a:solidFill>
                  <a:srgbClr val="028090"/>
                </a:solidFill>
                <a:latin typeface="Arial"/>
                <a:ea typeface="Arial"/>
              </a:rPr>
              <a:t>Ease of Maintenance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1280160" y="341064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Changes made in one function automatically apply everywhere it's called. Easy to modify and update.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4" name="Shape 17"/>
          <p:cNvSpPr/>
          <p:nvPr/>
        </p:nvSpPr>
        <p:spPr>
          <a:xfrm>
            <a:off x="822960" y="3886200"/>
            <a:ext cx="319320" cy="319320"/>
          </a:xfrm>
          <a:prstGeom prst="ellipse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8"/>
          <p:cNvSpPr/>
          <p:nvPr/>
        </p:nvSpPr>
        <p:spPr>
          <a:xfrm>
            <a:off x="822960" y="388620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1280160" y="3913560"/>
            <a:ext cx="6948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🐛 </a:t>
            </a: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Testing &amp; Debugging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1280160" y="416052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Test individual functions separately. Easy to find and fix bugs in specific functionality.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Types of Functions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914400" y="914400"/>
            <a:ext cx="7314480" cy="4564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2"/>
          <p:cNvSpPr/>
          <p:nvPr/>
        </p:nvSpPr>
        <p:spPr>
          <a:xfrm>
            <a:off x="914400" y="9601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❶ </a:t>
            </a: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Built-in Functions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914400" y="1463040"/>
            <a:ext cx="7314480" cy="118800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4"/>
          <p:cNvSpPr/>
          <p:nvPr/>
        </p:nvSpPr>
        <p:spPr>
          <a:xfrm>
            <a:off x="1188720" y="1600200"/>
            <a:ext cx="676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Pre-defined functions provided by Python.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1188720" y="1920240"/>
            <a:ext cx="6765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Examples: len(), max(), min(), sum(), print(), input(), type(), range(), etc.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1371600" y="2377440"/>
            <a:ext cx="6400080" cy="1364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7"/>
          <p:cNvSpPr/>
          <p:nvPr/>
        </p:nvSpPr>
        <p:spPr>
          <a:xfrm>
            <a:off x="1554480" y="2395800"/>
            <a:ext cx="60343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0080" bIns="1000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numbers = [10, 20, 30, 40]    max_value = max(numbers)    # Output: 40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86" name="Shape 8"/>
          <p:cNvSpPr/>
          <p:nvPr/>
        </p:nvSpPr>
        <p:spPr>
          <a:xfrm>
            <a:off x="914400" y="2834640"/>
            <a:ext cx="7314480" cy="45648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9"/>
          <p:cNvSpPr/>
          <p:nvPr/>
        </p:nvSpPr>
        <p:spPr>
          <a:xfrm>
            <a:off x="914400" y="288036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❷ </a:t>
            </a: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User-defined Functions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914400" y="3383280"/>
            <a:ext cx="7314480" cy="11880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11"/>
          <p:cNvSpPr/>
          <p:nvPr/>
        </p:nvSpPr>
        <p:spPr>
          <a:xfrm>
            <a:off x="1188720" y="3520440"/>
            <a:ext cx="676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Functions created by programmers using the 'def' keyword.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1188720" y="3840480"/>
            <a:ext cx="6765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We define functions with specific tasks. The function name and parameters (if any) are defined using 'def' followed by colon (:).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1371600" y="4297680"/>
            <a:ext cx="6400080" cy="1364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4"/>
          <p:cNvSpPr/>
          <p:nvPr/>
        </p:nvSpPr>
        <p:spPr>
          <a:xfrm>
            <a:off x="1554480" y="4316040"/>
            <a:ext cx="60343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0080" bIns="1000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greet():    print("Hello")    # User-defined function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Function Definition &amp; Call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731520" y="914400"/>
            <a:ext cx="3656880" cy="4564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2"/>
          <p:cNvSpPr/>
          <p:nvPr/>
        </p:nvSpPr>
        <p:spPr>
          <a:xfrm>
            <a:off x="731520" y="96012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Function Definition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731520" y="1463040"/>
            <a:ext cx="3656880" cy="16452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4"/>
          <p:cNvSpPr/>
          <p:nvPr/>
        </p:nvSpPr>
        <p:spPr>
          <a:xfrm>
            <a:off x="914400" y="1600200"/>
            <a:ext cx="32911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Syntax: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function_name():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body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Example: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fun():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print("Jai Ganesh")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8" name="Shape 5"/>
          <p:cNvSpPr/>
          <p:nvPr/>
        </p:nvSpPr>
        <p:spPr>
          <a:xfrm>
            <a:off x="4754880" y="914400"/>
            <a:ext cx="3656880" cy="45648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6"/>
          <p:cNvSpPr/>
          <p:nvPr/>
        </p:nvSpPr>
        <p:spPr>
          <a:xfrm>
            <a:off x="4754880" y="96012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Function Call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4754880" y="1463040"/>
            <a:ext cx="3656880" cy="16452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8"/>
          <p:cNvSpPr/>
          <p:nvPr/>
        </p:nvSpPr>
        <p:spPr>
          <a:xfrm>
            <a:off x="4937760" y="1600200"/>
            <a:ext cx="32911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To call the function: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function_name()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Example: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fun()  # Call 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fun()  # Call 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Jai Ganesh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Jai Ganesh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Shape 9"/>
          <p:cNvSpPr/>
          <p:nvPr/>
        </p:nvSpPr>
        <p:spPr>
          <a:xfrm>
            <a:off x="914400" y="3291840"/>
            <a:ext cx="7314480" cy="45648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10"/>
          <p:cNvSpPr/>
          <p:nvPr/>
        </p:nvSpPr>
        <p:spPr>
          <a:xfrm>
            <a:off x="914400" y="333756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Function Naming Convention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4" name="Shape 11"/>
          <p:cNvSpPr/>
          <p:nvPr/>
        </p:nvSpPr>
        <p:spPr>
          <a:xfrm>
            <a:off x="914400" y="3840480"/>
            <a:ext cx="7314480" cy="63936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2"/>
          <p:cNvSpPr/>
          <p:nvPr/>
        </p:nvSpPr>
        <p:spPr>
          <a:xfrm>
            <a:off x="1188720" y="3931920"/>
            <a:ext cx="6765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❶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Use lowercase letters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❷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For multiple words, use underscore (_) to separate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Examples: sum_fun(), sq_root(), power_fun()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Nested Functions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7" name="Shape 1"/>
          <p:cNvSpPr/>
          <p:nvPr/>
        </p:nvSpPr>
        <p:spPr>
          <a:xfrm>
            <a:off x="914400" y="914400"/>
            <a:ext cx="7314480" cy="63936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"/>
          <p:cNvSpPr/>
          <p:nvPr/>
        </p:nvSpPr>
        <p:spPr>
          <a:xfrm>
            <a:off x="1097280" y="1051560"/>
            <a:ext cx="6948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A nested function is a function defined inside another function.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The inner function can access variables of the outer function.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1371600" y="1737360"/>
            <a:ext cx="6400080" cy="4564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4"/>
          <p:cNvSpPr/>
          <p:nvPr/>
        </p:nvSpPr>
        <p:spPr>
          <a:xfrm>
            <a:off x="1371600" y="178308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Nested Function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11" name="Shape 5"/>
          <p:cNvSpPr/>
          <p:nvPr/>
        </p:nvSpPr>
        <p:spPr>
          <a:xfrm>
            <a:off x="1371600" y="2286000"/>
            <a:ext cx="6400080" cy="16452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6"/>
          <p:cNvSpPr/>
          <p:nvPr/>
        </p:nvSpPr>
        <p:spPr>
          <a:xfrm>
            <a:off x="1554480" y="2423160"/>
            <a:ext cx="60343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fun1():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print("function1")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fun2():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print("function2")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print("function1")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fun2()  # Call inner function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2286000" y="4023360"/>
            <a:ext cx="4571280" cy="45648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8"/>
          <p:cNvSpPr/>
          <p:nvPr/>
        </p:nvSpPr>
        <p:spPr>
          <a:xfrm>
            <a:off x="2468880" y="4114800"/>
            <a:ext cx="4205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ff00"/>
                </a:solidFill>
                <a:latin typeface="Courier New"/>
                <a:ea typeface="Courier New"/>
              </a:rPr>
              <a:t>Output: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ff00"/>
                </a:solidFill>
                <a:latin typeface="Courier New"/>
                <a:ea typeface="Courier New"/>
              </a:rPr>
              <a:t>function1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ff00"/>
                </a:solidFill>
                <a:latin typeface="Courier New"/>
                <a:ea typeface="Courier New"/>
              </a:rPr>
              <a:t>function2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ff00"/>
                </a:solidFill>
                <a:latin typeface="Courier New"/>
                <a:ea typeface="Courier New"/>
              </a:rPr>
              <a:t>function1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Parameters &amp; Arguments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914400" y="914400"/>
            <a:ext cx="7314480" cy="63936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2"/>
          <p:cNvSpPr/>
          <p:nvPr/>
        </p:nvSpPr>
        <p:spPr>
          <a:xfrm>
            <a:off x="1097280" y="100584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67e22"/>
                </a:solidFill>
                <a:latin typeface="Arial"/>
                <a:ea typeface="Arial"/>
              </a:rPr>
              <a:t>Communication with functions: We pass values to functions through parameters/arguments.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67e22"/>
                </a:solidFill>
                <a:latin typeface="Arial"/>
                <a:ea typeface="Arial"/>
              </a:rPr>
              <a:t>Functions can also return values back to the calling program.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731520" y="1737360"/>
            <a:ext cx="3839760" cy="4564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4"/>
          <p:cNvSpPr/>
          <p:nvPr/>
        </p:nvSpPr>
        <p:spPr>
          <a:xfrm>
            <a:off x="731520" y="178308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 with Parameters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0" name="Shape 5"/>
          <p:cNvSpPr/>
          <p:nvPr/>
        </p:nvSpPr>
        <p:spPr>
          <a:xfrm>
            <a:off x="731520" y="2286000"/>
            <a:ext cx="3839760" cy="21938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6"/>
          <p:cNvSpPr/>
          <p:nvPr/>
        </p:nvSpPr>
        <p:spPr>
          <a:xfrm>
            <a:off x="914400" y="2423160"/>
            <a:ext cx="347400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cal_sum(x, y, z):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sum = x + y + z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sum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call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cal_sum(10, 20, 30)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60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4754880" y="1737360"/>
            <a:ext cx="3474000" cy="4564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8"/>
          <p:cNvSpPr/>
          <p:nvPr/>
        </p:nvSpPr>
        <p:spPr>
          <a:xfrm>
            <a:off x="4754880" y="178308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How it Works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4754880" y="2377440"/>
            <a:ext cx="3474000" cy="31932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0"/>
          <p:cNvSpPr/>
          <p:nvPr/>
        </p:nvSpPr>
        <p:spPr>
          <a:xfrm>
            <a:off x="4846320" y="2423160"/>
            <a:ext cx="3291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Parameters: x, y, z (in definition)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6" name="Shape 11"/>
          <p:cNvSpPr/>
          <p:nvPr/>
        </p:nvSpPr>
        <p:spPr>
          <a:xfrm>
            <a:off x="4754880" y="2743200"/>
            <a:ext cx="3474000" cy="31932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12"/>
          <p:cNvSpPr/>
          <p:nvPr/>
        </p:nvSpPr>
        <p:spPr>
          <a:xfrm>
            <a:off x="4846320" y="2788920"/>
            <a:ext cx="3291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Arguments: 10, 20, 30 (values passed)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8" name="Shape 13"/>
          <p:cNvSpPr/>
          <p:nvPr/>
        </p:nvSpPr>
        <p:spPr>
          <a:xfrm>
            <a:off x="4754880" y="3108960"/>
            <a:ext cx="3474000" cy="31932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14"/>
          <p:cNvSpPr/>
          <p:nvPr/>
        </p:nvSpPr>
        <p:spPr>
          <a:xfrm>
            <a:off x="4846320" y="3154680"/>
            <a:ext cx="3291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Variables collect: x=10, y=20, z=30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0" name="Shape 15"/>
          <p:cNvSpPr/>
          <p:nvPr/>
        </p:nvSpPr>
        <p:spPr>
          <a:xfrm>
            <a:off x="4754880" y="3474720"/>
            <a:ext cx="3474000" cy="31932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16"/>
          <p:cNvSpPr/>
          <p:nvPr/>
        </p:nvSpPr>
        <p:spPr>
          <a:xfrm>
            <a:off x="4846320" y="3520440"/>
            <a:ext cx="3291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Addition: sum = 10 + 20 + 30 = 60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2" name="Shape 17"/>
          <p:cNvSpPr/>
          <p:nvPr/>
        </p:nvSpPr>
        <p:spPr>
          <a:xfrm>
            <a:off x="4754880" y="3840480"/>
            <a:ext cx="3474000" cy="31932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18"/>
          <p:cNvSpPr/>
          <p:nvPr/>
        </p:nvSpPr>
        <p:spPr>
          <a:xfrm>
            <a:off x="4846320" y="3886200"/>
            <a:ext cx="3291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return sends result back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4" name="Shape 19"/>
          <p:cNvSpPr/>
          <p:nvPr/>
        </p:nvSpPr>
        <p:spPr>
          <a:xfrm>
            <a:off x="4754880" y="4206240"/>
            <a:ext cx="3474000" cy="31932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20"/>
          <p:cNvSpPr/>
          <p:nvPr/>
        </p:nvSpPr>
        <p:spPr>
          <a:xfrm>
            <a:off x="4846320" y="4251960"/>
            <a:ext cx="3291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Result stored in 'result' variable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return Statement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37" name="Shape 1"/>
          <p:cNvSpPr/>
          <p:nvPr/>
        </p:nvSpPr>
        <p:spPr>
          <a:xfrm>
            <a:off x="914400" y="914400"/>
            <a:ext cx="7314480" cy="54792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2"/>
          <p:cNvSpPr/>
          <p:nvPr/>
        </p:nvSpPr>
        <p:spPr>
          <a:xfrm>
            <a:off x="1097280" y="1005840"/>
            <a:ext cx="6948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The 'return' keyword sends a value back to the calling program.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It controls program flow by returning from function definition back to function call.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914400" y="1645920"/>
            <a:ext cx="7314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Return Single Value - Returns one value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Shape 4"/>
          <p:cNvSpPr/>
          <p:nvPr/>
        </p:nvSpPr>
        <p:spPr>
          <a:xfrm>
            <a:off x="914400" y="1920240"/>
            <a:ext cx="7314480" cy="7765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5"/>
          <p:cNvSpPr/>
          <p:nvPr/>
        </p:nvSpPr>
        <p:spPr>
          <a:xfrm>
            <a:off x="1097280" y="2011680"/>
            <a:ext cx="69487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square(num):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num * num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result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x = square(5)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print(x)  # Output: 25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914400" y="2788920"/>
            <a:ext cx="7314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67e22"/>
                </a:solidFill>
                <a:latin typeface="Arial"/>
                <a:ea typeface="Arial"/>
              </a:rPr>
              <a:t>Return Multiple Values - Returns tuple/list/dict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3" name="Shape 7"/>
          <p:cNvSpPr/>
          <p:nvPr/>
        </p:nvSpPr>
        <p:spPr>
          <a:xfrm>
            <a:off x="914400" y="3063240"/>
            <a:ext cx="7314480" cy="7765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8"/>
          <p:cNvSpPr/>
          <p:nvPr/>
        </p:nvSpPr>
        <p:spPr>
          <a:xfrm>
            <a:off x="1097280" y="3154680"/>
            <a:ext cx="69487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calculate(a, b):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sum = a + b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diff = a - b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sum, diff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r1, r2 = calculate(10, 5)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914400" y="3931920"/>
            <a:ext cx="7314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9b59b6"/>
                </a:solidFill>
                <a:latin typeface="Arial"/>
                <a:ea typeface="Arial"/>
              </a:rPr>
              <a:t>No return Statement - Returns None by default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914400" y="4206240"/>
            <a:ext cx="7314480" cy="7765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1"/>
          <p:cNvSpPr/>
          <p:nvPr/>
        </p:nvSpPr>
        <p:spPr>
          <a:xfrm>
            <a:off x="1097280" y="4297680"/>
            <a:ext cx="69487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greet(name):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print(f"Hello {name}")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x = greet("Alice")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print(x)  # Output: None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Types of Arguments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914400" y="914400"/>
            <a:ext cx="7314480" cy="45648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2"/>
          <p:cNvSpPr/>
          <p:nvPr/>
        </p:nvSpPr>
        <p:spPr>
          <a:xfrm>
            <a:off x="914400" y="9601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Python supports 4 types of arguments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914400" y="1527120"/>
            <a:ext cx="319320" cy="31932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4"/>
          <p:cNvSpPr/>
          <p:nvPr/>
        </p:nvSpPr>
        <p:spPr>
          <a:xfrm>
            <a:off x="914400" y="152712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1371600" y="1554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Positional Arguments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1371600" y="180144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Most common type. Values passed based on their position.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5" name="Shape 7"/>
          <p:cNvSpPr/>
          <p:nvPr/>
        </p:nvSpPr>
        <p:spPr>
          <a:xfrm>
            <a:off x="5577840" y="1755720"/>
            <a:ext cx="2651040" cy="4107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8"/>
          <p:cNvSpPr/>
          <p:nvPr/>
        </p:nvSpPr>
        <p:spPr>
          <a:xfrm>
            <a:off x="5669280" y="180144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greet(name): ...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bb2bf"/>
                </a:solidFill>
                <a:latin typeface="Courier New"/>
                <a:ea typeface="Courier New"/>
              </a:rPr>
              <a:t>greet('Ganesh')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57" name="Shape 9"/>
          <p:cNvSpPr/>
          <p:nvPr/>
        </p:nvSpPr>
        <p:spPr>
          <a:xfrm>
            <a:off x="914400" y="2304360"/>
            <a:ext cx="319320" cy="31932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10"/>
          <p:cNvSpPr/>
          <p:nvPr/>
        </p:nvSpPr>
        <p:spPr>
          <a:xfrm>
            <a:off x="914400" y="230436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9" name="Text 11"/>
          <p:cNvSpPr/>
          <p:nvPr/>
        </p:nvSpPr>
        <p:spPr>
          <a:xfrm>
            <a:off x="1371600" y="233172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67e22"/>
                </a:solidFill>
                <a:latin typeface="Arial"/>
                <a:ea typeface="Arial"/>
              </a:rPr>
              <a:t>Keyword Arguments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1371600" y="257868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Arguments passed with parameter names. Order doesn't matter.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1" name="Shape 13"/>
          <p:cNvSpPr/>
          <p:nvPr/>
        </p:nvSpPr>
        <p:spPr>
          <a:xfrm>
            <a:off x="5577840" y="2532960"/>
            <a:ext cx="2651040" cy="4107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4"/>
          <p:cNvSpPr/>
          <p:nvPr/>
        </p:nvSpPr>
        <p:spPr>
          <a:xfrm>
            <a:off x="5669280" y="25786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bb2bf"/>
                </a:solidFill>
                <a:latin typeface="Courier New"/>
                <a:ea typeface="Courier New"/>
              </a:rPr>
              <a:t>greet(name='Ganesh', age=30)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63" name="Shape 15"/>
          <p:cNvSpPr/>
          <p:nvPr/>
        </p:nvSpPr>
        <p:spPr>
          <a:xfrm>
            <a:off x="914400" y="3081600"/>
            <a:ext cx="319320" cy="319320"/>
          </a:xfrm>
          <a:prstGeom prst="ellipse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6"/>
          <p:cNvSpPr/>
          <p:nvPr/>
        </p:nvSpPr>
        <p:spPr>
          <a:xfrm>
            <a:off x="914400" y="308160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65" name="Text 17"/>
          <p:cNvSpPr/>
          <p:nvPr/>
        </p:nvSpPr>
        <p:spPr>
          <a:xfrm>
            <a:off x="1371600" y="310896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9b59b6"/>
                </a:solidFill>
                <a:latin typeface="Arial"/>
                <a:ea typeface="Arial"/>
              </a:rPr>
              <a:t>Variable-length Positional (*args)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6" name="Text 18"/>
          <p:cNvSpPr/>
          <p:nvPr/>
        </p:nvSpPr>
        <p:spPr>
          <a:xfrm>
            <a:off x="1371600" y="335592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Accept any number of positional arguments as tuple.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7" name="Shape 19"/>
          <p:cNvSpPr/>
          <p:nvPr/>
        </p:nvSpPr>
        <p:spPr>
          <a:xfrm>
            <a:off x="5577840" y="3310200"/>
            <a:ext cx="2651040" cy="4107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20"/>
          <p:cNvSpPr/>
          <p:nvPr/>
        </p:nvSpPr>
        <p:spPr>
          <a:xfrm>
            <a:off x="5669280" y="335592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sum(*args): ...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bb2bf"/>
                </a:solidFill>
                <a:latin typeface="Courier New"/>
                <a:ea typeface="Courier New"/>
              </a:rPr>
              <a:t>sum(1, 2, 3, 4)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69" name="Shape 21"/>
          <p:cNvSpPr/>
          <p:nvPr/>
        </p:nvSpPr>
        <p:spPr>
          <a:xfrm>
            <a:off x="914400" y="3858840"/>
            <a:ext cx="319320" cy="3193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22"/>
          <p:cNvSpPr/>
          <p:nvPr/>
        </p:nvSpPr>
        <p:spPr>
          <a:xfrm>
            <a:off x="914400" y="385884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71" name="Text 23"/>
          <p:cNvSpPr/>
          <p:nvPr/>
        </p:nvSpPr>
        <p:spPr>
          <a:xfrm>
            <a:off x="1371600" y="388620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28090"/>
                </a:solidFill>
                <a:latin typeface="Arial"/>
                <a:ea typeface="Arial"/>
              </a:rPr>
              <a:t>Variable-length Keyword (**kwargs)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2" name="Text 24"/>
          <p:cNvSpPr/>
          <p:nvPr/>
        </p:nvSpPr>
        <p:spPr>
          <a:xfrm>
            <a:off x="1371600" y="413316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Accept any number of keyword arguments as dictionary.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3" name="Shape 25"/>
          <p:cNvSpPr/>
          <p:nvPr/>
        </p:nvSpPr>
        <p:spPr>
          <a:xfrm>
            <a:off x="5577840" y="4087440"/>
            <a:ext cx="2651040" cy="4107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26"/>
          <p:cNvSpPr/>
          <p:nvPr/>
        </p:nvSpPr>
        <p:spPr>
          <a:xfrm>
            <a:off x="5669280" y="413316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info(**kwargs): ...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bb2bf"/>
                </a:solidFill>
                <a:latin typeface="Courier New"/>
                <a:ea typeface="Courier New"/>
              </a:rPr>
              <a:t>info(name='A', age=25)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Positional Arguments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76" name="Shape 1"/>
          <p:cNvSpPr/>
          <p:nvPr/>
        </p:nvSpPr>
        <p:spPr>
          <a:xfrm>
            <a:off x="914400" y="914400"/>
            <a:ext cx="7314480" cy="63936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2"/>
          <p:cNvSpPr/>
          <p:nvPr/>
        </p:nvSpPr>
        <p:spPr>
          <a:xfrm>
            <a:off x="1097280" y="100584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Values are passed based on the position/order of parameters.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Correct position is essential - values assigned based on order.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>
            <a:off x="1371600" y="1737360"/>
            <a:ext cx="6400080" cy="4564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4"/>
          <p:cNvSpPr/>
          <p:nvPr/>
        </p:nvSpPr>
        <p:spPr>
          <a:xfrm>
            <a:off x="1371600" y="178308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Positional Arguments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0" name="Shape 5"/>
          <p:cNvSpPr/>
          <p:nvPr/>
        </p:nvSpPr>
        <p:spPr>
          <a:xfrm>
            <a:off x="1371600" y="2286000"/>
            <a:ext cx="6400080" cy="13708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6"/>
          <p:cNvSpPr/>
          <p:nvPr/>
        </p:nvSpPr>
        <p:spPr>
          <a:xfrm>
            <a:off x="1554480" y="2423160"/>
            <a:ext cx="60343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greet(name):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print("Hello, " + name)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call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greet("Ganesh")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Hello, Ganesh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2" name="Shape 7"/>
          <p:cNvSpPr/>
          <p:nvPr/>
        </p:nvSpPr>
        <p:spPr>
          <a:xfrm>
            <a:off x="1371600" y="3840480"/>
            <a:ext cx="6400080" cy="63936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8"/>
          <p:cNvSpPr/>
          <p:nvPr/>
        </p:nvSpPr>
        <p:spPr>
          <a:xfrm>
            <a:off x="1554480" y="3931920"/>
            <a:ext cx="6034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✅ </a:t>
            </a: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Common and simple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✅ </a:t>
            </a: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Values passed in order of parameters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✅ </a:t>
            </a: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Position-based assignment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Keyword Arguments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85" name="Shape 1"/>
          <p:cNvSpPr/>
          <p:nvPr/>
        </p:nvSpPr>
        <p:spPr>
          <a:xfrm>
            <a:off x="914400" y="914400"/>
            <a:ext cx="7314480" cy="63936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2"/>
          <p:cNvSpPr/>
          <p:nvPr/>
        </p:nvSpPr>
        <p:spPr>
          <a:xfrm>
            <a:off x="1097280" y="100584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67e22"/>
                </a:solidFill>
                <a:latin typeface="Arial"/>
                <a:ea typeface="Arial"/>
              </a:rPr>
              <a:t>Arguments passed with parameter names. Order doesn't matter!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67e22"/>
                </a:solidFill>
                <a:latin typeface="Arial"/>
                <a:ea typeface="Arial"/>
              </a:rPr>
              <a:t>We can pass arguments in any order using keyword (variable name) matching.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1371600" y="1737360"/>
            <a:ext cx="6400080" cy="45648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4"/>
          <p:cNvSpPr/>
          <p:nvPr/>
        </p:nvSpPr>
        <p:spPr>
          <a:xfrm>
            <a:off x="1371600" y="178308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Keyword Arguments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9" name="Shape 5"/>
          <p:cNvSpPr/>
          <p:nvPr/>
        </p:nvSpPr>
        <p:spPr>
          <a:xfrm>
            <a:off x="1371600" y="2286000"/>
            <a:ext cx="6400080" cy="16452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6"/>
          <p:cNvSpPr/>
          <p:nvPr/>
        </p:nvSpPr>
        <p:spPr>
          <a:xfrm>
            <a:off x="1554480" y="2423160"/>
            <a:ext cx="60343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greet(name, age):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print("Hello, " + name + ", your age is:", age)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call with keywords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greet(age=30, name="Ganesh")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Hello, Ganesh, your age is: 30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1371600" y="4114800"/>
            <a:ext cx="6400080" cy="45648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8"/>
          <p:cNvSpPr/>
          <p:nvPr/>
        </p:nvSpPr>
        <p:spPr>
          <a:xfrm>
            <a:off x="1554480" y="4187880"/>
            <a:ext cx="6034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✅ </a:t>
            </a: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Order doesn't matter    ✅ More readable    ✅ Used in function calls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Default Arguments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94" name="Shape 1"/>
          <p:cNvSpPr/>
          <p:nvPr/>
        </p:nvSpPr>
        <p:spPr>
          <a:xfrm>
            <a:off x="914400" y="914400"/>
            <a:ext cx="7314480" cy="73080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2"/>
          <p:cNvSpPr/>
          <p:nvPr/>
        </p:nvSpPr>
        <p:spPr>
          <a:xfrm>
            <a:off x="1097280" y="105156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Arial"/>
                <a:ea typeface="Arial"/>
              </a:rPr>
              <a:t>Parameters with default values. If we do not pass a value,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Arial"/>
                <a:ea typeface="Arial"/>
              </a:rPr>
              <a:t>the default value is used. We can provide default values in function definition.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6" name="Shape 3"/>
          <p:cNvSpPr/>
          <p:nvPr/>
        </p:nvSpPr>
        <p:spPr>
          <a:xfrm>
            <a:off x="1371600" y="1828800"/>
            <a:ext cx="6400080" cy="45648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4"/>
          <p:cNvSpPr/>
          <p:nvPr/>
        </p:nvSpPr>
        <p:spPr>
          <a:xfrm>
            <a:off x="1371600" y="187452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Default Arguments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8" name="Shape 5"/>
          <p:cNvSpPr/>
          <p:nvPr/>
        </p:nvSpPr>
        <p:spPr>
          <a:xfrm>
            <a:off x="1371600" y="2377440"/>
            <a:ext cx="6400080" cy="16452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6"/>
          <p:cNvSpPr/>
          <p:nvPr/>
        </p:nvSpPr>
        <p:spPr>
          <a:xfrm>
            <a:off x="1554480" y="2514600"/>
            <a:ext cx="60343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greet(name, age=25):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print("Hello,", name, ", your age is:", age)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Call with only name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greet("Ganesh")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Hello, Ganesh, your age is: 25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0" name="Shape 7"/>
          <p:cNvSpPr/>
          <p:nvPr/>
        </p:nvSpPr>
        <p:spPr>
          <a:xfrm>
            <a:off x="1371600" y="4206240"/>
            <a:ext cx="6400080" cy="36504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8"/>
          <p:cNvSpPr/>
          <p:nvPr/>
        </p:nvSpPr>
        <p:spPr>
          <a:xfrm>
            <a:off x="1554480" y="4279320"/>
            <a:ext cx="6034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✅ </a:t>
            </a: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Provides flexibility    ✅ If value not passed, uses default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*args - Variable-length Positional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03" name="Shape 1"/>
          <p:cNvSpPr/>
          <p:nvPr/>
        </p:nvSpPr>
        <p:spPr>
          <a:xfrm>
            <a:off x="914400" y="914400"/>
            <a:ext cx="7314480" cy="730800"/>
          </a:xfrm>
          <a:prstGeom prst="rect">
            <a:avLst/>
          </a:prstGeom>
          <a:solidFill>
            <a:srgbClr val="f3e5f5"/>
          </a:solidFill>
          <a:ln w="254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2"/>
          <p:cNvSpPr/>
          <p:nvPr/>
        </p:nvSpPr>
        <p:spPr>
          <a:xfrm>
            <a:off x="1097280" y="105156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9b59b6"/>
                </a:solidFill>
                <a:latin typeface="Arial"/>
                <a:ea typeface="Arial"/>
              </a:rPr>
              <a:t>When we don't know how many positional arguments will be passed,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9b59b6"/>
                </a:solidFill>
                <a:latin typeface="Arial"/>
                <a:ea typeface="Arial"/>
              </a:rPr>
              <a:t>use *args. It collects all positional arguments into a tuple.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1828800" y="178308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Courier New"/>
                <a:ea typeface="Courier New"/>
              </a:rPr>
              <a:t>Syntax: def function_name(*args):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6" name="Shape 4"/>
          <p:cNvSpPr/>
          <p:nvPr/>
        </p:nvSpPr>
        <p:spPr>
          <a:xfrm>
            <a:off x="1371600" y="2194560"/>
            <a:ext cx="6400080" cy="45648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5"/>
          <p:cNvSpPr/>
          <p:nvPr/>
        </p:nvSpPr>
        <p:spPr>
          <a:xfrm>
            <a:off x="1371600" y="224028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Calculate Sum of Any Number of Values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8" name="Shape 6"/>
          <p:cNvSpPr/>
          <p:nvPr/>
        </p:nvSpPr>
        <p:spPr>
          <a:xfrm>
            <a:off x="1371600" y="2743200"/>
            <a:ext cx="6400080" cy="16452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7"/>
          <p:cNvSpPr/>
          <p:nvPr/>
        </p:nvSpPr>
        <p:spPr>
          <a:xfrm>
            <a:off x="1554480" y="2880360"/>
            <a:ext cx="60343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calculate_sum(*args):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sum(args)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print(calculate_sum(1, 2, 3))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print(calculate_sum(10, 20, 30, 40))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6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100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**kwargs - Variable-length Keyword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11" name="Shape 1"/>
          <p:cNvSpPr/>
          <p:nvPr/>
        </p:nvSpPr>
        <p:spPr>
          <a:xfrm>
            <a:off x="914400" y="914400"/>
            <a:ext cx="7314480" cy="730800"/>
          </a:xfrm>
          <a:prstGeom prst="rect">
            <a:avLst/>
          </a:prstGeom>
          <a:solidFill>
            <a:srgbClr val="e0f2f1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"/>
          <p:cNvSpPr/>
          <p:nvPr/>
        </p:nvSpPr>
        <p:spPr>
          <a:xfrm>
            <a:off x="1097280" y="105156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28090"/>
                </a:solidFill>
                <a:latin typeface="Arial"/>
                <a:ea typeface="Arial"/>
              </a:rPr>
              <a:t>When we don't know how many keyword arguments will be passed, use **kwargs.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28090"/>
                </a:solidFill>
                <a:latin typeface="Arial"/>
                <a:ea typeface="Arial"/>
              </a:rPr>
              <a:t>It collects all keyword arguments into a dictionary (key-value pairs).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3" name="Text 3"/>
          <p:cNvSpPr/>
          <p:nvPr/>
        </p:nvSpPr>
        <p:spPr>
          <a:xfrm>
            <a:off x="1828800" y="178308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Courier New"/>
                <a:ea typeface="Courier New"/>
              </a:rPr>
              <a:t>Syntax: def function_name(**kwargs):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4" name="Shape 4"/>
          <p:cNvSpPr/>
          <p:nvPr/>
        </p:nvSpPr>
        <p:spPr>
          <a:xfrm>
            <a:off x="1371600" y="2194560"/>
            <a:ext cx="6400080" cy="4564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5"/>
          <p:cNvSpPr/>
          <p:nvPr/>
        </p:nvSpPr>
        <p:spPr>
          <a:xfrm>
            <a:off x="1371600" y="224028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Print Details as Key-Value Pairs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6" name="Shape 6"/>
          <p:cNvSpPr/>
          <p:nvPr/>
        </p:nvSpPr>
        <p:spPr>
          <a:xfrm>
            <a:off x="1371600" y="2743200"/>
            <a:ext cx="6400080" cy="17366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7"/>
          <p:cNvSpPr/>
          <p:nvPr/>
        </p:nvSpPr>
        <p:spPr>
          <a:xfrm>
            <a:off x="1554480" y="2880360"/>
            <a:ext cx="60343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print_details(**kwargs):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for key, value in kwargs.items():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print(key, value)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print_details(name="Ganesh", age=30, city="Pune")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Ganesh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30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city Pune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Arial"/>
                <a:ea typeface="Arial"/>
              </a:rPr>
              <a:t>Summary: Functions in Python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219" name="Shape 1"/>
          <p:cNvSpPr/>
          <p:nvPr/>
        </p:nvSpPr>
        <p:spPr>
          <a:xfrm>
            <a:off x="731520" y="106992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2"/>
          <p:cNvSpPr/>
          <p:nvPr/>
        </p:nvSpPr>
        <p:spPr>
          <a:xfrm>
            <a:off x="731520" y="106992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1" name="Text 3"/>
          <p:cNvSpPr/>
          <p:nvPr/>
        </p:nvSpPr>
        <p:spPr>
          <a:xfrm>
            <a:off x="1188720" y="1097280"/>
            <a:ext cx="7040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Functions are reusable code blocks that perform specific tasks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2" name="Shape 4"/>
          <p:cNvSpPr/>
          <p:nvPr/>
        </p:nvSpPr>
        <p:spPr>
          <a:xfrm>
            <a:off x="731520" y="138996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5"/>
          <p:cNvSpPr/>
          <p:nvPr/>
        </p:nvSpPr>
        <p:spPr>
          <a:xfrm>
            <a:off x="731520" y="138996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4" name="Text 6"/>
          <p:cNvSpPr/>
          <p:nvPr/>
        </p:nvSpPr>
        <p:spPr>
          <a:xfrm>
            <a:off x="1188720" y="1417320"/>
            <a:ext cx="7040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Define with 'def' keyword, call using function_name()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5" name="Shape 7"/>
          <p:cNvSpPr/>
          <p:nvPr/>
        </p:nvSpPr>
        <p:spPr>
          <a:xfrm>
            <a:off x="731520" y="171000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8"/>
          <p:cNvSpPr/>
          <p:nvPr/>
        </p:nvSpPr>
        <p:spPr>
          <a:xfrm>
            <a:off x="731520" y="171000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7" name="Text 9"/>
          <p:cNvSpPr/>
          <p:nvPr/>
        </p:nvSpPr>
        <p:spPr>
          <a:xfrm>
            <a:off x="1188720" y="1737360"/>
            <a:ext cx="7040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Types: Built-in (len, max) and User-defined functions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8" name="Shape 10"/>
          <p:cNvSpPr/>
          <p:nvPr/>
        </p:nvSpPr>
        <p:spPr>
          <a:xfrm>
            <a:off x="731520" y="203004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11"/>
          <p:cNvSpPr/>
          <p:nvPr/>
        </p:nvSpPr>
        <p:spPr>
          <a:xfrm>
            <a:off x="731520" y="203004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0" name="Text 12"/>
          <p:cNvSpPr/>
          <p:nvPr/>
        </p:nvSpPr>
        <p:spPr>
          <a:xfrm>
            <a:off x="1188720" y="2057400"/>
            <a:ext cx="7040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Arguments: Positional, Keyword, Default, *args, **kwargs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1" name="Shape 13"/>
          <p:cNvSpPr/>
          <p:nvPr/>
        </p:nvSpPr>
        <p:spPr>
          <a:xfrm>
            <a:off x="731520" y="235008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4"/>
          <p:cNvSpPr/>
          <p:nvPr/>
        </p:nvSpPr>
        <p:spPr>
          <a:xfrm>
            <a:off x="731520" y="235008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3" name="Text 15"/>
          <p:cNvSpPr/>
          <p:nvPr/>
        </p:nvSpPr>
        <p:spPr>
          <a:xfrm>
            <a:off x="1188720" y="2377440"/>
            <a:ext cx="7040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return statement sends values back to caller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4" name="Shape 16"/>
          <p:cNvSpPr/>
          <p:nvPr/>
        </p:nvSpPr>
        <p:spPr>
          <a:xfrm>
            <a:off x="731520" y="267012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17"/>
          <p:cNvSpPr/>
          <p:nvPr/>
        </p:nvSpPr>
        <p:spPr>
          <a:xfrm>
            <a:off x="731520" y="267012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6" name="Text 18"/>
          <p:cNvSpPr/>
          <p:nvPr/>
        </p:nvSpPr>
        <p:spPr>
          <a:xfrm>
            <a:off x="1188720" y="2697480"/>
            <a:ext cx="7040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Multiple returns possible using list/tuple/dictionary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7" name="Shape 19"/>
          <p:cNvSpPr/>
          <p:nvPr/>
        </p:nvSpPr>
        <p:spPr>
          <a:xfrm>
            <a:off x="731520" y="299016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20"/>
          <p:cNvSpPr/>
          <p:nvPr/>
        </p:nvSpPr>
        <p:spPr>
          <a:xfrm>
            <a:off x="731520" y="299016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7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9" name="Text 21"/>
          <p:cNvSpPr/>
          <p:nvPr/>
        </p:nvSpPr>
        <p:spPr>
          <a:xfrm>
            <a:off x="1188720" y="3017520"/>
            <a:ext cx="7040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Nested functions: Functions inside other functions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0" name="Shape 22"/>
          <p:cNvSpPr/>
          <p:nvPr/>
        </p:nvSpPr>
        <p:spPr>
          <a:xfrm>
            <a:off x="731520" y="331020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23"/>
          <p:cNvSpPr/>
          <p:nvPr/>
        </p:nvSpPr>
        <p:spPr>
          <a:xfrm>
            <a:off x="731520" y="331020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8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2" name="Text 24"/>
          <p:cNvSpPr/>
          <p:nvPr/>
        </p:nvSpPr>
        <p:spPr>
          <a:xfrm>
            <a:off x="1188720" y="3337560"/>
            <a:ext cx="7040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Benefits: Reusability, Modularity, Readability, Easy Testing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3" name="Shape 25"/>
          <p:cNvSpPr/>
          <p:nvPr/>
        </p:nvSpPr>
        <p:spPr>
          <a:xfrm>
            <a:off x="731520" y="363024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26"/>
          <p:cNvSpPr/>
          <p:nvPr/>
        </p:nvSpPr>
        <p:spPr>
          <a:xfrm>
            <a:off x="731520" y="363024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9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5" name="Text 27"/>
          <p:cNvSpPr/>
          <p:nvPr/>
        </p:nvSpPr>
        <p:spPr>
          <a:xfrm>
            <a:off x="1188720" y="3657600"/>
            <a:ext cx="7040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Use lowercase with underscores for function names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6" name="Shape 28"/>
          <p:cNvSpPr/>
          <p:nvPr/>
        </p:nvSpPr>
        <p:spPr>
          <a:xfrm>
            <a:off x="731520" y="395028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29"/>
          <p:cNvSpPr/>
          <p:nvPr/>
        </p:nvSpPr>
        <p:spPr>
          <a:xfrm>
            <a:off x="731520" y="395028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10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8" name="Text 30"/>
          <p:cNvSpPr/>
          <p:nvPr/>
        </p:nvSpPr>
        <p:spPr>
          <a:xfrm>
            <a:off x="1188720" y="3977640"/>
            <a:ext cx="7040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Functions make code organized, maintainable, and efficient!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9" name="Text 31"/>
          <p:cNvSpPr/>
          <p:nvPr/>
        </p:nvSpPr>
        <p:spPr>
          <a:xfrm>
            <a:off x="457200" y="42976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ffd43b"/>
                </a:solidFill>
                <a:latin typeface="Arial"/>
                <a:ea typeface="Arial"/>
              </a:rPr>
              <a:t>Master functions to write better Python code! 🐍✨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2026-02-03T05:31:19Z</dcterms:created>
  <dc:creator>Python Training Series</dc:creator>
  <dc:description/>
  <dc:language>en-IN</dc:language>
  <cp:lastModifiedBy/>
  <dcterms:modified xsi:type="dcterms:W3CDTF">2026-02-10T22:55:35Z</dcterms:modified>
  <cp:revision>6</cp:revision>
  <dc:subject>PptxGenJS Presentation</dc:subject>
  <dc:title>Functions in Python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