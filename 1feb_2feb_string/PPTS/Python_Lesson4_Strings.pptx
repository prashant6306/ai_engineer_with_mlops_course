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27.xml.rels" ContentType="application/vnd.openxmlformats-package.relationships+xml"/>
  <Override PartName="/ppt/notesSlides/_rels/notesSlide3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6.xml.rels" ContentType="application/vnd.openxmlformats-package.relationships+xml"/>
  <Override PartName="/ppt/notesSlides/_rels/notesSlide2.xml.rels" ContentType="application/vnd.openxmlformats-package.relationships+xml"/>
  <Override PartName="/ppt/notesSlides/_rels/notesSlide20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26.xml.rels" ContentType="application/vnd.openxmlformats-package.relationships+xml"/>
  <Override PartName="/ppt/notesSlides/_rels/notesSlide8.xml.rels" ContentType="application/vnd.openxmlformats-package.relationships+xml"/>
  <Override PartName="/ppt/notesSlides/_rels/notesSlide24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28.xml.rels" ContentType="application/vnd.openxmlformats-package.relationships+xml"/>
  <Override PartName="/ppt/notesSlides/_rels/notesSlide4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25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29.xml.rels" ContentType="application/vnd.openxmlformats-package.relationships+xml"/>
  <Override PartName="/ppt/notesSlides/_rels/notesSlide30.xml.rels" ContentType="application/vnd.openxmlformats-package.relationships+xml"/>
  <Override PartName="/ppt/notesSlides/_rels/notesSlide21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22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23.xml.rels" ContentType="application/vnd.openxmlformats-package.relationships+xml"/>
  <Override PartName="/ppt/notesSlides/notesSlide2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23.png" ContentType="image/png"/>
  <Override PartName="/ppt/media/image22.png" ContentType="image/png"/>
  <Override PartName="/ppt/media/image21.png" ContentType="image/png"/>
  <Override PartName="/ppt/media/image19.png" ContentType="image/png"/>
  <Override PartName="/ppt/media/image20.png" ContentType="image/png"/>
  <Override PartName="/ppt/media/image18.png" ContentType="image/png"/>
  <Override PartName="/ppt/media/image17.png" ContentType="image/png"/>
  <Override PartName="/ppt/media/image30.png" ContentType="image/png"/>
  <Override PartName="/ppt/media/image28.png" ContentType="image/png"/>
  <Override PartName="/ppt/media/image10.png" ContentType="image/png"/>
  <Override PartName="/ppt/media/image29.png" ContentType="image/png"/>
  <Override PartName="/ppt/media/image5.png" ContentType="image/png"/>
  <Override PartName="/ppt/media/image35.png" ContentType="image/png"/>
  <Override PartName="/ppt/media/image11.png" ContentType="image/png"/>
  <Override PartName="/ppt/media/image6.png" ContentType="image/png"/>
  <Override PartName="/ppt/media/image36.png" ContentType="image/png"/>
  <Override PartName="/ppt/media/image7.png" ContentType="image/png"/>
  <Override PartName="/ppt/media/image12.png" ContentType="image/png"/>
  <Override PartName="/ppt/media/image8.png" ContentType="image/png"/>
  <Override PartName="/ppt/media/image13.png" ContentType="image/png"/>
  <Override PartName="/ppt/media/image9.png" ContentType="image/png"/>
  <Override PartName="/ppt/media/image34.png" ContentType="image/png"/>
  <Override PartName="/ppt/media/image4.png" ContentType="image/png"/>
  <Override PartName="/ppt/media/image27.png" ContentType="image/png"/>
  <Override PartName="/ppt/media/image33.png" ContentType="image/png"/>
  <Override PartName="/ppt/media/image3.png" ContentType="image/png"/>
  <Override PartName="/ppt/media/image26.png" ContentType="image/png"/>
  <Override PartName="/ppt/media/image32.png" ContentType="image/png"/>
  <Override PartName="/ppt/media/image2.png" ContentType="image/png"/>
  <Override PartName="/ppt/media/image25.png" ContentType="image/png"/>
  <Override PartName="/ppt/media/image31.png" ContentType="image/png"/>
  <Override PartName="/ppt/media/image1.png" ContentType="image/png"/>
  <Override PartName="/ppt/media/image24.png" ContentType="image/png"/>
  <Override PartName="/ppt/media/image14.png" ContentType="image/png"/>
  <Override PartName="/ppt/media/image15.png" ContentType="image/png"/>
  <Override PartName="/ppt/media/image16.png" ContentType="image/pn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2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4.xml" ContentType="application/vnd.openxmlformats-officedocument.presentationml.slide+xml"/>
  <Override PartName="/ppt/slides/_rels/slide16.xml.rels" ContentType="application/vnd.openxmlformats-package.relationships+xml"/>
  <Override PartName="/ppt/slides/_rels/slide25.xml.rels" ContentType="application/vnd.openxmlformats-package.relationships+xml"/>
  <Override PartName="/ppt/slides/_rels/slide10.xml.rels" ContentType="application/vnd.openxmlformats-package.relationships+xml"/>
  <Override PartName="/ppt/slides/_rels/slide27.xml.rels" ContentType="application/vnd.openxmlformats-package.relationships+xml"/>
  <Override PartName="/ppt/slides/_rels/slide8.xml.rels" ContentType="application/vnd.openxmlformats-package.relationships+xml"/>
  <Override PartName="/ppt/slides/_rels/slide21.xml.rels" ContentType="application/vnd.openxmlformats-package.relationships+xml"/>
  <Override PartName="/ppt/slides/_rels/slide2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7.xml.rels" ContentType="application/vnd.openxmlformats-package.relationships+xml"/>
  <Override PartName="/ppt/slides/_rels/slide20.xml.rels" ContentType="application/vnd.openxmlformats-package.relationships+xml"/>
  <Override PartName="/ppt/slides/_rels/slide1.xml.rels" ContentType="application/vnd.openxmlformats-package.relationships+xml"/>
  <Override PartName="/ppt/slides/_rels/slide4.xml.rels" ContentType="application/vnd.openxmlformats-package.relationships+xml"/>
  <Override PartName="/ppt/slides/_rels/slide11.xml.rels" ContentType="application/vnd.openxmlformats-package.relationships+xml"/>
  <Override PartName="/ppt/slides/_rels/slide26.xml.rels" ContentType="application/vnd.openxmlformats-package.relationships+xml"/>
  <Override PartName="/ppt/slides/_rels/slide17.xml.rels" ContentType="application/vnd.openxmlformats-package.relationships+xml"/>
  <Override PartName="/ppt/slides/_rels/slide12.xml.rels" ContentType="application/vnd.openxmlformats-package.relationships+xml"/>
  <Override PartName="/ppt/slides/_rels/slide18.xml.rels" ContentType="application/vnd.openxmlformats-package.relationships+xml"/>
  <Override PartName="/ppt/slides/_rels/slide13.xml.rels" ContentType="application/vnd.openxmlformats-package.relationships+xml"/>
  <Override PartName="/ppt/slides/_rels/slide19.xml.rels" ContentType="application/vnd.openxmlformats-package.relationships+xml"/>
  <Override PartName="/ppt/slides/_rels/slide29.xml.rels" ContentType="application/vnd.openxmlformats-package.relationships+xml"/>
  <Override PartName="/ppt/slides/_rels/slide30.xml.rels" ContentType="application/vnd.openxmlformats-package.relationships+xml"/>
  <Override PartName="/ppt/slides/_rels/slide14.xml.rels" ContentType="application/vnd.openxmlformats-package.relationships+xml"/>
  <Override PartName="/ppt/slides/_rels/slide23.xml.rels" ContentType="application/vnd.openxmlformats-package.relationships+xml"/>
  <Override PartName="/ppt/slides/_rels/slide15.xml.rels" ContentType="application/vnd.openxmlformats-package.relationships+xml"/>
  <Override PartName="/ppt/slides/_rels/slide24.xml.rels" ContentType="application/vnd.openxmlformats-package.relationships+xml"/>
  <Override PartName="/ppt/slides/_rels/slide28.xml.rels" ContentType="application/vnd.openxmlformats-package.relationships+xml"/>
  <Override PartName="/ppt/slides/_rels/slide9.xml.rels" ContentType="application/vnd.openxmlformats-package.relationships+xml"/>
  <Override PartName="/ppt/slides/_rels/slide3.xml.rels" ContentType="application/vnd.openxmlformats-package.relationships+xml"/>
  <Override PartName="/ppt/slides/_rels/slide22.xml.rels" ContentType="application/vnd.openxmlformats-package.relationships+xml"/>
  <Override PartName="/ppt/slides/slide30.xml" ContentType="application/vnd.openxmlformats-officedocument.presentationml.slide+xml"/>
  <Override PartName="/ppt/slides/slide28.xml" ContentType="application/vnd.openxmlformats-officedocument.presentationml.slide+xml"/>
  <Override PartName="/ppt/slides/slide1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19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IN" sz="4400" spc="-1" strike="noStrike">
                <a:latin typeface="Arial"/>
              </a:rPr>
              <a:t>Click to move the slide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2000" spc="-1" strike="noStrike">
                <a:latin typeface="Arial"/>
              </a:rPr>
              <a:t>C</a:t>
            </a:r>
            <a:r>
              <a:rPr b="0" lang="en-IN" sz="2000" spc="-1" strike="noStrike">
                <a:latin typeface="Arial"/>
              </a:rPr>
              <a:t>l</a:t>
            </a:r>
            <a:r>
              <a:rPr b="0" lang="en-IN" sz="2000" spc="-1" strike="noStrike">
                <a:latin typeface="Arial"/>
              </a:rPr>
              <a:t>i</a:t>
            </a:r>
            <a:r>
              <a:rPr b="0" lang="en-IN" sz="2000" spc="-1" strike="noStrike">
                <a:latin typeface="Arial"/>
              </a:rPr>
              <a:t>c</a:t>
            </a:r>
            <a:r>
              <a:rPr b="0" lang="en-IN" sz="2000" spc="-1" strike="noStrike">
                <a:latin typeface="Arial"/>
              </a:rPr>
              <a:t>k</a:t>
            </a:r>
            <a:r>
              <a:rPr b="0" lang="en-IN" sz="2000" spc="-1" strike="noStrike">
                <a:latin typeface="Arial"/>
              </a:rPr>
              <a:t> </a:t>
            </a:r>
            <a:r>
              <a:rPr b="0" lang="en-IN" sz="2000" spc="-1" strike="noStrike">
                <a:latin typeface="Arial"/>
              </a:rPr>
              <a:t>t</a:t>
            </a:r>
            <a:r>
              <a:rPr b="0" lang="en-IN" sz="2000" spc="-1" strike="noStrike">
                <a:latin typeface="Arial"/>
              </a:rPr>
              <a:t>o</a:t>
            </a:r>
            <a:r>
              <a:rPr b="0" lang="en-IN" sz="2000" spc="-1" strike="noStrike">
                <a:latin typeface="Arial"/>
              </a:rPr>
              <a:t> </a:t>
            </a:r>
            <a:r>
              <a:rPr b="0" lang="en-IN" sz="2000" spc="-1" strike="noStrike">
                <a:latin typeface="Arial"/>
              </a:rPr>
              <a:t>e</a:t>
            </a:r>
            <a:r>
              <a:rPr b="0" lang="en-IN" sz="2000" spc="-1" strike="noStrike">
                <a:latin typeface="Arial"/>
              </a:rPr>
              <a:t>d</a:t>
            </a:r>
            <a:r>
              <a:rPr b="0" lang="en-IN" sz="2000" spc="-1" strike="noStrike">
                <a:latin typeface="Arial"/>
              </a:rPr>
              <a:t>i</a:t>
            </a:r>
            <a:r>
              <a:rPr b="0" lang="en-IN" sz="2000" spc="-1" strike="noStrike">
                <a:latin typeface="Arial"/>
              </a:rPr>
              <a:t>t</a:t>
            </a:r>
            <a:r>
              <a:rPr b="0" lang="en-IN" sz="2000" spc="-1" strike="noStrike">
                <a:latin typeface="Arial"/>
              </a:rPr>
              <a:t> </a:t>
            </a:r>
            <a:r>
              <a:rPr b="0" lang="en-IN" sz="2000" spc="-1" strike="noStrike">
                <a:latin typeface="Arial"/>
              </a:rPr>
              <a:t>t</a:t>
            </a:r>
            <a:r>
              <a:rPr b="0" lang="en-IN" sz="2000" spc="-1" strike="noStrike">
                <a:latin typeface="Arial"/>
              </a:rPr>
              <a:t>h</a:t>
            </a:r>
            <a:r>
              <a:rPr b="0" lang="en-IN" sz="2000" spc="-1" strike="noStrike">
                <a:latin typeface="Arial"/>
              </a:rPr>
              <a:t>e</a:t>
            </a:r>
            <a:r>
              <a:rPr b="0" lang="en-IN" sz="2000" spc="-1" strike="noStrike">
                <a:latin typeface="Arial"/>
              </a:rPr>
              <a:t> </a:t>
            </a:r>
            <a:r>
              <a:rPr b="0" lang="en-IN" sz="2000" spc="-1" strike="noStrike">
                <a:latin typeface="Arial"/>
              </a:rPr>
              <a:t>n</a:t>
            </a:r>
            <a:r>
              <a:rPr b="0" lang="en-IN" sz="2000" spc="-1" strike="noStrike">
                <a:latin typeface="Arial"/>
              </a:rPr>
              <a:t>o</a:t>
            </a:r>
            <a:r>
              <a:rPr b="0" lang="en-IN" sz="2000" spc="-1" strike="noStrike">
                <a:latin typeface="Arial"/>
              </a:rPr>
              <a:t>t</a:t>
            </a:r>
            <a:r>
              <a:rPr b="0" lang="en-IN" sz="2000" spc="-1" strike="noStrike">
                <a:latin typeface="Arial"/>
              </a:rPr>
              <a:t>e</a:t>
            </a:r>
            <a:r>
              <a:rPr b="0" lang="en-IN" sz="2000" spc="-1" strike="noStrike">
                <a:latin typeface="Arial"/>
              </a:rPr>
              <a:t>s</a:t>
            </a:r>
            <a:r>
              <a:rPr b="0" lang="en-IN" sz="2000" spc="-1" strike="noStrike">
                <a:latin typeface="Arial"/>
              </a:rPr>
              <a:t> </a:t>
            </a:r>
            <a:r>
              <a:rPr b="0" lang="en-IN" sz="2000" spc="-1" strike="noStrike">
                <a:latin typeface="Arial"/>
              </a:rPr>
              <a:t>f</a:t>
            </a:r>
            <a:r>
              <a:rPr b="0" lang="en-IN" sz="2000" spc="-1" strike="noStrike">
                <a:latin typeface="Arial"/>
              </a:rPr>
              <a:t>o</a:t>
            </a:r>
            <a:r>
              <a:rPr b="0" lang="en-IN" sz="2000" spc="-1" strike="noStrike">
                <a:latin typeface="Arial"/>
              </a:rPr>
              <a:t>r</a:t>
            </a:r>
            <a:r>
              <a:rPr b="0" lang="en-IN" sz="2000" spc="-1" strike="noStrike">
                <a:latin typeface="Arial"/>
              </a:rPr>
              <a:t>m</a:t>
            </a:r>
            <a:r>
              <a:rPr b="0" lang="en-IN" sz="2000" spc="-1" strike="noStrike">
                <a:latin typeface="Arial"/>
              </a:rPr>
              <a:t>a</a:t>
            </a:r>
            <a:r>
              <a:rPr b="0" lang="en-IN" sz="2000" spc="-1" strike="noStrike">
                <a:latin typeface="Arial"/>
              </a:rPr>
              <a:t>t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1400" spc="-1" strike="noStrike">
                <a:latin typeface="Times New Roman"/>
              </a:rPr>
              <a:t>&lt;header&gt;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IN" sz="1400" spc="-1" strike="noStrike">
                <a:latin typeface="Times New Roman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IN" sz="1400" spc="-1" strike="noStrike">
                <a:latin typeface="Times New Roman"/>
              </a:defRPr>
            </a:lvl1pPr>
          </a:lstStyle>
          <a:p>
            <a:r>
              <a:rPr b="0" lang="en-IN" sz="1400" spc="-1" strike="noStrike">
                <a:latin typeface="Times New Roman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7F6340F3-2508-46C5-B03E-EC2AB51132FA}" type="slidenum">
              <a:rPr b="0" lang="en-IN" sz="1400" spc="-1" strike="noStrike">
                <a:latin typeface="Times New Roman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_rels/notesSlide29.xml.rels><?xml version="1.0" encoding="UTF-8"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
</Relationships>
</file>

<file path=ppt/notesSlides/_rels/notesSlide30.xml.rels><?xml version="1.0" encoding="UTF-8"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88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F14D960-20B7-4753-A810-11460993D6B6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91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F716DC6-0DF7-4420-8C14-9A1AFADC6F41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94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17178E7-EF7C-4586-9B29-1CF3FB4CDCB3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97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5F41278-D6A2-4139-8FCD-00E9EC5DB1B0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00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1A744B6-48C9-4DCB-81B2-82E0CEB7A01D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03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9E94EE7-6BDF-490C-AD76-8C760D645F2A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06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7D518E4-08A4-4DAD-9A92-38A9611D4AF2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09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12213DA-7B08-4485-8358-8B795B4C4B3A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12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32019F7-5BBD-4261-B2ED-E4CFAF3C1B93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15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E89BD20-71CF-4727-9DA0-01F4637194E8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18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9668972-5C74-4F77-9337-C1F9577397A2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21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96272EA-F262-4B0D-8560-ED6260145DB6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24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61D86D5-C69E-45F1-B0E5-038BF5B51735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27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CC982A5-5986-49EE-A205-5F5EEA88D9F0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30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6CBE585-B57A-487E-839E-AEEAA3FE9C76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33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3F1389D-F11F-43E9-BA71-924826C2AC9D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36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2D6DAF7-5D6C-4748-8EA6-878FBCDCE6E2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39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C28110F-5750-4B01-98A2-DD8C6E5063D3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42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35FD7F0-B0DA-4379-BA25-E70954656CB8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45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B01063C-93D3-4A17-881C-DB6DC6135ED8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48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5172944-9224-4CDE-80D3-773FF8547C4C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51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96EE120-11BA-4EE0-9ED5-BF38D9F613C2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54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382E867-2F8B-4A2B-99F3-A87533A9EFA1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57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49CD2ED-7F2C-4634-9670-B77EC566ED21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60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6ACB795-660F-4230-B520-A8FA57DCADD8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63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B56F46D-269A-4E36-BB6F-E343117244B1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66" name="PlaceHolder 3"/>
          <p:cNvSpPr>
            <a:spLocks noGrp="1"/>
          </p:cNvSpPr>
          <p:nvPr>
            <p:ph type="sldNum" idx="3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F6C68E5-226D-4FDE-AD11-1CD6AD0E5DB6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69" name="PlaceHolder 3"/>
          <p:cNvSpPr>
            <a:spLocks noGrp="1"/>
          </p:cNvSpPr>
          <p:nvPr>
            <p:ph type="sldNum" idx="3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B64E3FB-4C86-4070-BF6A-87FF3C590518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72" name="PlaceHolder 3"/>
          <p:cNvSpPr>
            <a:spLocks noGrp="1"/>
          </p:cNvSpPr>
          <p:nvPr>
            <p:ph type="sldNum" idx="3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69A8EC6-B197-4549-A44D-F142FD3C31C6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7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75" name="PlaceHolder 3"/>
          <p:cNvSpPr>
            <a:spLocks noGrp="1"/>
          </p:cNvSpPr>
          <p:nvPr>
            <p:ph type="sldNum" idx="3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0B6263F-229B-4D13-A8CF-9B95AA3C95E4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IN" sz="4400" spc="-1" strike="noStrike">
                <a:latin typeface="Arial"/>
              </a:rPr>
              <a:t>C</a:t>
            </a:r>
            <a:r>
              <a:rPr b="0" lang="en-IN" sz="4400" spc="-1" strike="noStrike">
                <a:latin typeface="Arial"/>
              </a:rPr>
              <a:t>l</a:t>
            </a:r>
            <a:r>
              <a:rPr b="0" lang="en-IN" sz="4400" spc="-1" strike="noStrike">
                <a:latin typeface="Arial"/>
              </a:rPr>
              <a:t>i</a:t>
            </a:r>
            <a:r>
              <a:rPr b="0" lang="en-IN" sz="4400" spc="-1" strike="noStrike">
                <a:latin typeface="Arial"/>
              </a:rPr>
              <a:t>c</a:t>
            </a:r>
            <a:r>
              <a:rPr b="0" lang="en-IN" sz="4400" spc="-1" strike="noStrike">
                <a:latin typeface="Arial"/>
              </a:rPr>
              <a:t>k</a:t>
            </a:r>
            <a:r>
              <a:rPr b="0" lang="en-IN" sz="4400" spc="-1" strike="noStrike">
                <a:latin typeface="Arial"/>
              </a:rPr>
              <a:t> </a:t>
            </a:r>
            <a:r>
              <a:rPr b="0" lang="en-IN" sz="4400" spc="-1" strike="noStrike">
                <a:latin typeface="Arial"/>
              </a:rPr>
              <a:t>t</a:t>
            </a:r>
            <a:r>
              <a:rPr b="0" lang="en-IN" sz="4400" spc="-1" strike="noStrike">
                <a:latin typeface="Arial"/>
              </a:rPr>
              <a:t>o</a:t>
            </a:r>
            <a:r>
              <a:rPr b="0" lang="en-IN" sz="4400" spc="-1" strike="noStrike">
                <a:latin typeface="Arial"/>
              </a:rPr>
              <a:t> </a:t>
            </a:r>
            <a:r>
              <a:rPr b="0" lang="en-IN" sz="4400" spc="-1" strike="noStrike">
                <a:latin typeface="Arial"/>
              </a:rPr>
              <a:t>e</a:t>
            </a:r>
            <a:r>
              <a:rPr b="0" lang="en-IN" sz="4400" spc="-1" strike="noStrike">
                <a:latin typeface="Arial"/>
              </a:rPr>
              <a:t>d</a:t>
            </a:r>
            <a:r>
              <a:rPr b="0" lang="en-IN" sz="4400" spc="-1" strike="noStrike">
                <a:latin typeface="Arial"/>
              </a:rPr>
              <a:t>i</a:t>
            </a:r>
            <a:r>
              <a:rPr b="0" lang="en-IN" sz="4400" spc="-1" strike="noStrike">
                <a:latin typeface="Arial"/>
              </a:rPr>
              <a:t>t</a:t>
            </a:r>
            <a:r>
              <a:rPr b="0" lang="en-IN" sz="4400" spc="-1" strike="noStrike">
                <a:latin typeface="Arial"/>
              </a:rPr>
              <a:t> </a:t>
            </a:r>
            <a:r>
              <a:rPr b="0" lang="en-IN" sz="4400" spc="-1" strike="noStrike">
                <a:latin typeface="Arial"/>
              </a:rPr>
              <a:t>t</a:t>
            </a:r>
            <a:r>
              <a:rPr b="0" lang="en-IN" sz="4400" spc="-1" strike="noStrike">
                <a:latin typeface="Arial"/>
              </a:rPr>
              <a:t>h</a:t>
            </a:r>
            <a:r>
              <a:rPr b="0" lang="en-IN" sz="4400" spc="-1" strike="noStrike">
                <a:latin typeface="Arial"/>
              </a:rPr>
              <a:t>e</a:t>
            </a:r>
            <a:r>
              <a:rPr b="0" lang="en-IN" sz="4400" spc="-1" strike="noStrike">
                <a:latin typeface="Arial"/>
              </a:rPr>
              <a:t> </a:t>
            </a:r>
            <a:r>
              <a:rPr b="0" lang="en-IN" sz="4400" spc="-1" strike="noStrike">
                <a:latin typeface="Arial"/>
              </a:rPr>
              <a:t>t</a:t>
            </a:r>
            <a:r>
              <a:rPr b="0" lang="en-IN" sz="4400" spc="-1" strike="noStrike">
                <a:latin typeface="Arial"/>
              </a:rPr>
              <a:t>i</a:t>
            </a:r>
            <a:r>
              <a:rPr b="0" lang="en-IN" sz="4400" spc="-1" strike="noStrike">
                <a:latin typeface="Arial"/>
              </a:rPr>
              <a:t>t</a:t>
            </a:r>
            <a:r>
              <a:rPr b="0" lang="en-IN" sz="4400" spc="-1" strike="noStrike">
                <a:latin typeface="Arial"/>
              </a:rPr>
              <a:t>l</a:t>
            </a:r>
            <a:r>
              <a:rPr b="0" lang="en-IN" sz="4400" spc="-1" strike="noStrike">
                <a:latin typeface="Arial"/>
              </a:rPr>
              <a:t>e</a:t>
            </a:r>
            <a:r>
              <a:rPr b="0" lang="en-IN" sz="4400" spc="-1" strike="noStrike">
                <a:latin typeface="Arial"/>
              </a:rPr>
              <a:t> </a:t>
            </a:r>
            <a:r>
              <a:rPr b="0" lang="en-IN" sz="4400" spc="-1" strike="noStrike">
                <a:latin typeface="Arial"/>
              </a:rPr>
              <a:t>t</a:t>
            </a:r>
            <a:r>
              <a:rPr b="0" lang="en-IN" sz="4400" spc="-1" strike="noStrike">
                <a:latin typeface="Arial"/>
              </a:rPr>
              <a:t>e</a:t>
            </a:r>
            <a:r>
              <a:rPr b="0" lang="en-IN" sz="4400" spc="-1" strike="noStrike">
                <a:latin typeface="Arial"/>
              </a:rPr>
              <a:t>x</a:t>
            </a:r>
            <a:r>
              <a:rPr b="0" lang="en-IN" sz="4400" spc="-1" strike="noStrike">
                <a:latin typeface="Arial"/>
              </a:rPr>
              <a:t>t</a:t>
            </a:r>
            <a:r>
              <a:rPr b="0" lang="en-IN" sz="4400" spc="-1" strike="noStrike">
                <a:latin typeface="Arial"/>
              </a:rPr>
              <a:t> </a:t>
            </a:r>
            <a:r>
              <a:rPr b="0" lang="en-IN" sz="4400" spc="-1" strike="noStrike">
                <a:latin typeface="Arial"/>
              </a:rPr>
              <a:t>f</a:t>
            </a:r>
            <a:r>
              <a:rPr b="0" lang="en-IN" sz="4400" spc="-1" strike="noStrike">
                <a:latin typeface="Arial"/>
              </a:rPr>
              <a:t>o</a:t>
            </a:r>
            <a:r>
              <a:rPr b="0" lang="en-IN" sz="4400" spc="-1" strike="noStrike">
                <a:latin typeface="Arial"/>
              </a:rPr>
              <a:t>r</a:t>
            </a:r>
            <a:r>
              <a:rPr b="0" lang="en-IN" sz="4400" spc="-1" strike="noStrike">
                <a:latin typeface="Arial"/>
              </a:rPr>
              <a:t>m</a:t>
            </a:r>
            <a:r>
              <a:rPr b="0" lang="en-IN" sz="4400" spc="-1" strike="noStrike">
                <a:latin typeface="Arial"/>
              </a:rPr>
              <a:t>a</a:t>
            </a:r>
            <a:r>
              <a:rPr b="0" lang="en-IN" sz="4400" spc="-1" strike="noStrike">
                <a:latin typeface="Arial"/>
              </a:rPr>
              <a:t>t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latin typeface="Arial"/>
              </a:rPr>
              <a:t>Click to edit the outline text format</a:t>
            </a:r>
            <a:endParaRPr b="0" lang="en-IN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latin typeface="Arial"/>
              </a:rPr>
              <a:t>Second Outline Level</a:t>
            </a:r>
            <a:endParaRPr b="0" lang="en-IN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latin typeface="Arial"/>
              </a:rPr>
              <a:t>Third Outline Level</a:t>
            </a:r>
            <a:endParaRPr b="0" lang="en-IN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latin typeface="Arial"/>
              </a:rPr>
              <a:t>Fourth Outline Level</a:t>
            </a:r>
            <a:endParaRPr b="0" lang="en-IN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Fifth Outline Level</a:t>
            </a:r>
            <a:endParaRPr b="0" lang="en-IN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Sixth Outline Level</a:t>
            </a:r>
            <a:endParaRPr b="0" lang="en-IN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Seventh Outline Level</a:t>
            </a:r>
            <a:endParaRPr b="0" lang="en-IN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Relationship Id="rId7" Type="http://schemas.openxmlformats.org/officeDocument/2006/relationships/image" Target="../media/image27.png"/><Relationship Id="rId8" Type="http://schemas.openxmlformats.org/officeDocument/2006/relationships/image" Target="../media/image28.png"/><Relationship Id="rId9" Type="http://schemas.openxmlformats.org/officeDocument/2006/relationships/image" Target="../media/image29.png"/><Relationship Id="rId10" Type="http://schemas.openxmlformats.org/officeDocument/2006/relationships/image" Target="../media/image30.png"/><Relationship Id="rId11" Type="http://schemas.openxmlformats.org/officeDocument/2006/relationships/image" Target="../media/image31.png"/><Relationship Id="rId12" Type="http://schemas.openxmlformats.org/officeDocument/2006/relationships/image" Target="../media/image32.png"/><Relationship Id="rId13" Type="http://schemas.openxmlformats.org/officeDocument/2006/relationships/image" Target="../media/image33.png"/><Relationship Id="rId14" Type="http://schemas.openxmlformats.org/officeDocument/2006/relationships/image" Target="../media/image34.png"/><Relationship Id="rId15" Type="http://schemas.openxmlformats.org/officeDocument/2006/relationships/image" Target="../media/image3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2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3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Image 0" descr="preencoded.png"/>
          <p:cNvPicPr/>
          <p:nvPr/>
        </p:nvPicPr>
        <p:blipFill>
          <a:blip r:embed="rId1"/>
          <a:stretch/>
        </p:blipFill>
        <p:spPr>
          <a:xfrm>
            <a:off x="3840480" y="1188720"/>
            <a:ext cx="1462320" cy="1462320"/>
          </a:xfrm>
          <a:prstGeom prst="rect">
            <a:avLst/>
          </a:prstGeom>
          <a:ln w="0">
            <a:noFill/>
          </a:ln>
        </p:spPr>
      </p:pic>
      <p:sp>
        <p:nvSpPr>
          <p:cNvPr id="45" name="Text 0"/>
          <p:cNvSpPr/>
          <p:nvPr/>
        </p:nvSpPr>
        <p:spPr>
          <a:xfrm>
            <a:off x="457200" y="292608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Arial"/>
                <a:ea typeface="Arial"/>
              </a:rPr>
              <a:t>Python Strings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46" name="Text 1"/>
          <p:cNvSpPr/>
          <p:nvPr/>
        </p:nvSpPr>
        <p:spPr>
          <a:xfrm>
            <a:off x="457200" y="3657600"/>
            <a:ext cx="8228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ffd43b"/>
                </a:solidFill>
                <a:latin typeface="Arial"/>
                <a:ea typeface="Arial"/>
              </a:rPr>
              <a:t>Complete Guide to String Operations &amp; Methods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47" name="Text 2"/>
          <p:cNvSpPr/>
          <p:nvPr/>
        </p:nvSpPr>
        <p:spPr>
          <a:xfrm>
            <a:off x="457200" y="4297680"/>
            <a:ext cx="8228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600" spc="-1" strike="noStrike">
                <a:solidFill>
                  <a:srgbClr val="cccccc"/>
                </a:solidFill>
                <a:latin typeface="Arial"/>
                <a:ea typeface="Arial"/>
              </a:rPr>
              <a:t>Lesson 4</a:t>
            </a:r>
            <a:endParaRPr b="0" lang="en-IN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 0"/>
          <p:cNvSpPr/>
          <p:nvPr/>
        </p:nvSpPr>
        <p:spPr>
          <a:xfrm>
            <a:off x="457200" y="27432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1e3a5f"/>
                </a:solidFill>
                <a:latin typeface="Arial"/>
                <a:ea typeface="Arial"/>
              </a:rPr>
              <a:t>What We'll Cover Today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49" name="Text 3"/>
          <p:cNvSpPr/>
          <p:nvPr/>
        </p:nvSpPr>
        <p:spPr>
          <a:xfrm>
            <a:off x="1051560" y="1097280"/>
            <a:ext cx="704016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2c3e50"/>
                </a:solidFill>
                <a:latin typeface="Arial"/>
                <a:ea typeface="Arial"/>
              </a:rPr>
              <a:t>What are Strings?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50" name="Text 6"/>
          <p:cNvSpPr/>
          <p:nvPr/>
        </p:nvSpPr>
        <p:spPr>
          <a:xfrm>
            <a:off x="1051560" y="1353240"/>
            <a:ext cx="704016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2c3e50"/>
                </a:solidFill>
                <a:latin typeface="Arial"/>
                <a:ea typeface="Arial"/>
              </a:rPr>
              <a:t>String Quotes &amp; Escape Sequences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51" name="Text 8"/>
          <p:cNvSpPr/>
          <p:nvPr/>
        </p:nvSpPr>
        <p:spPr>
          <a:xfrm>
            <a:off x="640080" y="1572840"/>
            <a:ext cx="29196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DejaVu Sans"/>
              </a:rPr>
              <a:t>3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52" name="Text 9"/>
          <p:cNvSpPr/>
          <p:nvPr/>
        </p:nvSpPr>
        <p:spPr>
          <a:xfrm>
            <a:off x="1051560" y="1609200"/>
            <a:ext cx="704016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2c3e50"/>
                </a:solidFill>
                <a:latin typeface="Arial"/>
                <a:ea typeface="Arial"/>
              </a:rPr>
              <a:t>Multi-line Strings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53" name="Text 11"/>
          <p:cNvSpPr/>
          <p:nvPr/>
        </p:nvSpPr>
        <p:spPr>
          <a:xfrm>
            <a:off x="640080" y="1828800"/>
            <a:ext cx="29196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DejaVu Sans"/>
              </a:rPr>
              <a:t>4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54" name="Text 12"/>
          <p:cNvSpPr/>
          <p:nvPr/>
        </p:nvSpPr>
        <p:spPr>
          <a:xfrm>
            <a:off x="1051560" y="1865520"/>
            <a:ext cx="704016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2c3e50"/>
                </a:solidFill>
                <a:latin typeface="Arial"/>
                <a:ea typeface="Arial"/>
              </a:rPr>
              <a:t>String Indexing (Positive &amp; Negative)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55" name="Text 15"/>
          <p:cNvSpPr/>
          <p:nvPr/>
        </p:nvSpPr>
        <p:spPr>
          <a:xfrm>
            <a:off x="1051560" y="2121480"/>
            <a:ext cx="704016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2c3e50"/>
                </a:solidFill>
                <a:latin typeface="Arial"/>
                <a:ea typeface="Arial"/>
              </a:rPr>
              <a:t>String Slicing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56" name="Text 18"/>
          <p:cNvSpPr/>
          <p:nvPr/>
        </p:nvSpPr>
        <p:spPr>
          <a:xfrm>
            <a:off x="1051560" y="2377440"/>
            <a:ext cx="704016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2c3e50"/>
                </a:solidFill>
                <a:latin typeface="Arial"/>
                <a:ea typeface="Arial"/>
              </a:rPr>
              <a:t>String Properties (Immutability)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57" name="Text 21"/>
          <p:cNvSpPr/>
          <p:nvPr/>
        </p:nvSpPr>
        <p:spPr>
          <a:xfrm>
            <a:off x="1051560" y="2633400"/>
            <a:ext cx="704016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2c3e50"/>
                </a:solidFill>
                <a:latin typeface="Arial"/>
                <a:ea typeface="Arial"/>
              </a:rPr>
              <a:t>String Operations (+, *, in)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58" name="Text 23"/>
          <p:cNvSpPr/>
          <p:nvPr/>
        </p:nvSpPr>
        <p:spPr>
          <a:xfrm>
            <a:off x="640080" y="2853000"/>
            <a:ext cx="29196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DejaVu Sans"/>
              </a:rPr>
              <a:t>8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59" name="Text 24"/>
          <p:cNvSpPr/>
          <p:nvPr/>
        </p:nvSpPr>
        <p:spPr>
          <a:xfrm>
            <a:off x="1051560" y="2889360"/>
            <a:ext cx="704016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2c3e50"/>
                </a:solidFill>
                <a:latin typeface="Arial"/>
                <a:ea typeface="Arial"/>
              </a:rPr>
              <a:t>Built-in Functions (len, min, max)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60" name="Text 27"/>
          <p:cNvSpPr/>
          <p:nvPr/>
        </p:nvSpPr>
        <p:spPr>
          <a:xfrm>
            <a:off x="1051560" y="3145680"/>
            <a:ext cx="704016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2c3e50"/>
                </a:solidFill>
                <a:latin typeface="Arial"/>
                <a:ea typeface="Arial"/>
              </a:rPr>
              <a:t>String Methods (isalpha, isdigit, etc.)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61" name="Text 29"/>
          <p:cNvSpPr/>
          <p:nvPr/>
        </p:nvSpPr>
        <p:spPr>
          <a:xfrm>
            <a:off x="640080" y="3364920"/>
            <a:ext cx="29196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DejaVu Sans"/>
              </a:rPr>
              <a:t>0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62" name="Text 30"/>
          <p:cNvSpPr/>
          <p:nvPr/>
        </p:nvSpPr>
        <p:spPr>
          <a:xfrm>
            <a:off x="1051560" y="3401640"/>
            <a:ext cx="704016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2c3e50"/>
                </a:solidFill>
                <a:latin typeface="Arial"/>
                <a:ea typeface="Arial"/>
              </a:rPr>
              <a:t>Search &amp; Replace (find, replace)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63" name="Text 32"/>
          <p:cNvSpPr/>
          <p:nvPr/>
        </p:nvSpPr>
        <p:spPr>
          <a:xfrm>
            <a:off x="640080" y="3620880"/>
            <a:ext cx="29196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DejaVu Sans"/>
              </a:rPr>
              <a:t>11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64" name="Text 33"/>
          <p:cNvSpPr/>
          <p:nvPr/>
        </p:nvSpPr>
        <p:spPr>
          <a:xfrm>
            <a:off x="1051560" y="3657600"/>
            <a:ext cx="704016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2c3e50"/>
                </a:solidFill>
                <a:latin typeface="Arial"/>
                <a:ea typeface="Arial"/>
              </a:rPr>
              <a:t>Trim Methods (strip, lstrip, rstrip)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65" name="Text 35"/>
          <p:cNvSpPr/>
          <p:nvPr/>
        </p:nvSpPr>
        <p:spPr>
          <a:xfrm>
            <a:off x="640080" y="3877200"/>
            <a:ext cx="29196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DejaVu Sans"/>
              </a:rPr>
              <a:t>12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66" name="Text 36"/>
          <p:cNvSpPr/>
          <p:nvPr/>
        </p:nvSpPr>
        <p:spPr>
          <a:xfrm>
            <a:off x="1051560" y="3913560"/>
            <a:ext cx="704016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2c3e50"/>
                </a:solidFill>
                <a:latin typeface="Arial"/>
                <a:ea typeface="Arial"/>
              </a:rPr>
              <a:t>Split &amp; Partition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67" name="Text 39"/>
          <p:cNvSpPr/>
          <p:nvPr/>
        </p:nvSpPr>
        <p:spPr>
          <a:xfrm>
            <a:off x="1051560" y="4169520"/>
            <a:ext cx="704016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2c3e50"/>
                </a:solidFill>
                <a:latin typeface="Arial"/>
                <a:ea typeface="Arial"/>
              </a:rPr>
              <a:t>Case Conversions (upper, lower, etc.)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68" name="Text 41"/>
          <p:cNvSpPr/>
          <p:nvPr/>
        </p:nvSpPr>
        <p:spPr>
          <a:xfrm flipH="1">
            <a:off x="540000" y="3420000"/>
            <a:ext cx="100080" cy="126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DejaVu Sans"/>
              </a:rPr>
              <a:t>14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69" name="Text 42"/>
          <p:cNvSpPr/>
          <p:nvPr/>
        </p:nvSpPr>
        <p:spPr>
          <a:xfrm>
            <a:off x="1051560" y="4425840"/>
            <a:ext cx="704016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2c3e50"/>
                </a:solidFill>
                <a:latin typeface="Arial"/>
                <a:ea typeface="Arial"/>
              </a:rPr>
              <a:t>Type Conversions (str, int, float, chr, ord, join)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ext 0"/>
          <p:cNvSpPr/>
          <p:nvPr/>
        </p:nvSpPr>
        <p:spPr>
          <a:xfrm>
            <a:off x="457200" y="27432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1e3a5f"/>
                </a:solidFill>
                <a:latin typeface="Arial"/>
                <a:ea typeface="Arial"/>
              </a:rPr>
              <a:t>What are Strings?</a:t>
            </a:r>
            <a:endParaRPr b="0" lang="en-IN" sz="3600" spc="-1" strike="noStrike">
              <a:latin typeface="Arial"/>
            </a:endParaRPr>
          </a:p>
        </p:txBody>
      </p:sp>
      <p:pic>
        <p:nvPicPr>
          <p:cNvPr id="71" name="Image 0" descr="preencoded.png"/>
          <p:cNvPicPr/>
          <p:nvPr/>
        </p:nvPicPr>
        <p:blipFill>
          <a:blip r:embed="rId1"/>
          <a:stretch/>
        </p:blipFill>
        <p:spPr>
          <a:xfrm>
            <a:off x="7772400" y="228600"/>
            <a:ext cx="639360" cy="639360"/>
          </a:xfrm>
          <a:prstGeom prst="rect">
            <a:avLst/>
          </a:prstGeom>
          <a:ln w="0">
            <a:noFill/>
          </a:ln>
        </p:spPr>
      </p:pic>
      <p:sp>
        <p:nvSpPr>
          <p:cNvPr id="72" name="Shape 1"/>
          <p:cNvSpPr/>
          <p:nvPr/>
        </p:nvSpPr>
        <p:spPr>
          <a:xfrm>
            <a:off x="914400" y="1097280"/>
            <a:ext cx="7314480" cy="639360"/>
          </a:xfrm>
          <a:prstGeom prst="rect">
            <a:avLst/>
          </a:prstGeom>
          <a:solidFill>
            <a:srgbClr val="fff3e0"/>
          </a:solidFill>
          <a:ln w="25400">
            <a:solidFill>
              <a:srgbClr val="e67e2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3" name="Text 2"/>
          <p:cNvSpPr/>
          <p:nvPr/>
        </p:nvSpPr>
        <p:spPr>
          <a:xfrm>
            <a:off x="914400" y="1188720"/>
            <a:ext cx="73144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e67e22"/>
                </a:solidFill>
                <a:latin typeface="Arial"/>
                <a:ea typeface="Arial"/>
              </a:rPr>
              <a:t>String is a collection of Unicode characters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4" name="Text 3"/>
          <p:cNvSpPr/>
          <p:nvPr/>
        </p:nvSpPr>
        <p:spPr>
          <a:xfrm>
            <a:off x="1371600" y="201168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666666"/>
                </a:solidFill>
                <a:latin typeface="Arial"/>
                <a:ea typeface="Arial"/>
              </a:rPr>
              <a:t>Strings can be enclosed in different quote types: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75" name="Shape 4"/>
          <p:cNvSpPr/>
          <p:nvPr/>
        </p:nvSpPr>
        <p:spPr>
          <a:xfrm>
            <a:off x="1371600" y="2468880"/>
            <a:ext cx="6400080" cy="1736640"/>
          </a:xfrm>
          <a:prstGeom prst="rect">
            <a:avLst/>
          </a:prstGeom>
          <a:solidFill>
            <a:srgbClr val="282c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6" name="Text 5"/>
          <p:cNvSpPr/>
          <p:nvPr/>
        </p:nvSpPr>
        <p:spPr>
          <a:xfrm>
            <a:off x="1554480" y="2606040"/>
            <a:ext cx="6034320" cy="146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# Single quotes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str1 = 'Jai Ganesh'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# Double quotes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str2 = "Jai Ganesh"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# Triple quotes (multi-line)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str3 = '''Jai Ganesh'''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str4 = """Jai Ganesh"""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Text 0"/>
          <p:cNvSpPr/>
          <p:nvPr/>
        </p:nvSpPr>
        <p:spPr>
          <a:xfrm>
            <a:off x="457200" y="27432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1e3a5f"/>
                </a:solidFill>
                <a:latin typeface="Arial"/>
                <a:ea typeface="Arial"/>
              </a:rPr>
              <a:t>String Escape Characters</a:t>
            </a:r>
            <a:endParaRPr b="0" lang="en-IN" sz="3600" spc="-1" strike="noStrike">
              <a:latin typeface="Arial"/>
            </a:endParaRPr>
          </a:p>
        </p:txBody>
      </p:sp>
      <p:pic>
        <p:nvPicPr>
          <p:cNvPr id="78" name="Image 0" descr="preencoded.png"/>
          <p:cNvPicPr/>
          <p:nvPr/>
        </p:nvPicPr>
        <p:blipFill>
          <a:blip r:embed="rId1"/>
          <a:stretch/>
        </p:blipFill>
        <p:spPr>
          <a:xfrm>
            <a:off x="7772400" y="228600"/>
            <a:ext cx="639360" cy="639360"/>
          </a:xfrm>
          <a:prstGeom prst="rect">
            <a:avLst/>
          </a:prstGeom>
          <a:ln w="0">
            <a:noFill/>
          </a:ln>
        </p:spPr>
      </p:pic>
      <p:sp>
        <p:nvSpPr>
          <p:cNvPr id="79" name="Shape 1"/>
          <p:cNvSpPr/>
          <p:nvPr/>
        </p:nvSpPr>
        <p:spPr>
          <a:xfrm>
            <a:off x="914400" y="1097280"/>
            <a:ext cx="7314480" cy="547920"/>
          </a:xfrm>
          <a:prstGeom prst="rect">
            <a:avLst/>
          </a:prstGeom>
          <a:solidFill>
            <a:srgbClr val="ffebee"/>
          </a:solidFill>
          <a:ln w="25400">
            <a:solidFill>
              <a:srgbClr val="e74c3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0" name="Text 2"/>
          <p:cNvSpPr/>
          <p:nvPr/>
        </p:nvSpPr>
        <p:spPr>
          <a:xfrm>
            <a:off x="914400" y="1188720"/>
            <a:ext cx="73144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e74c3c"/>
                </a:solidFill>
                <a:latin typeface="Arial"/>
                <a:ea typeface="Arial"/>
              </a:rPr>
              <a:t>Problem: Quotes inside strings can cause confusion/errors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81" name="Shape 3"/>
          <p:cNvSpPr/>
          <p:nvPr/>
        </p:nvSpPr>
        <p:spPr>
          <a:xfrm>
            <a:off x="1371600" y="1920240"/>
            <a:ext cx="6400080" cy="822240"/>
          </a:xfrm>
          <a:prstGeom prst="rect">
            <a:avLst/>
          </a:prstGeom>
          <a:solidFill>
            <a:srgbClr val="282c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2" name="Text 4"/>
          <p:cNvSpPr/>
          <p:nvPr/>
        </p:nvSpPr>
        <p:spPr>
          <a:xfrm>
            <a:off x="1554480" y="2057400"/>
            <a:ext cx="603432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e06c75"/>
                </a:solidFill>
                <a:latin typeface="Courier New"/>
                <a:ea typeface="Courier New"/>
              </a:rPr>
              <a:t># Problem - SyntaxError!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e06c75"/>
                </a:solidFill>
                <a:latin typeface="Courier New"/>
                <a:ea typeface="Courier New"/>
              </a:rPr>
              <a:t>str1 = 'let's play cricket'  # ERROR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83" name="Shape 5"/>
          <p:cNvSpPr/>
          <p:nvPr/>
        </p:nvSpPr>
        <p:spPr>
          <a:xfrm>
            <a:off x="914400" y="2926080"/>
            <a:ext cx="7314480" cy="547920"/>
          </a:xfrm>
          <a:prstGeom prst="rect">
            <a:avLst/>
          </a:prstGeom>
          <a:solidFill>
            <a:srgbClr val="e8f5e9"/>
          </a:solidFill>
          <a:ln w="254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4" name="Text 6"/>
          <p:cNvSpPr/>
          <p:nvPr/>
        </p:nvSpPr>
        <p:spPr>
          <a:xfrm>
            <a:off x="914400" y="3017520"/>
            <a:ext cx="73144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27ae60"/>
                </a:solidFill>
                <a:latin typeface="Arial"/>
                <a:ea typeface="Arial"/>
              </a:rPr>
              <a:t>Solution: Use backslash (\) escape or alternate quotes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85" name="Shape 7"/>
          <p:cNvSpPr/>
          <p:nvPr/>
        </p:nvSpPr>
        <p:spPr>
          <a:xfrm>
            <a:off x="1371600" y="3657600"/>
            <a:ext cx="6400080" cy="822240"/>
          </a:xfrm>
          <a:prstGeom prst="rect">
            <a:avLst/>
          </a:prstGeom>
          <a:solidFill>
            <a:srgbClr val="282c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6" name="Text 8"/>
          <p:cNvSpPr/>
          <p:nvPr/>
        </p:nvSpPr>
        <p:spPr>
          <a:xfrm>
            <a:off x="1554480" y="3794760"/>
            <a:ext cx="603432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98c379"/>
                </a:solidFill>
                <a:latin typeface="Courier New"/>
                <a:ea typeface="Courier New"/>
              </a:rPr>
              <a:t># Solution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98c379"/>
                </a:solidFill>
                <a:latin typeface="Courier New"/>
                <a:ea typeface="Courier New"/>
              </a:rPr>
              <a:t>str1 = "let's play cricket"  # Use double quotes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98c379"/>
                </a:solidFill>
                <a:latin typeface="Courier New"/>
                <a:ea typeface="Courier New"/>
              </a:rPr>
              <a:t>str2 = 'let\'s play cricket'  # Or escape with \\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ext 0"/>
          <p:cNvSpPr/>
          <p:nvPr/>
        </p:nvSpPr>
        <p:spPr>
          <a:xfrm>
            <a:off x="457200" y="27432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1e3a5f"/>
                </a:solidFill>
                <a:latin typeface="Arial"/>
                <a:ea typeface="Arial"/>
              </a:rPr>
              <a:t>Multi-line Strings</a:t>
            </a:r>
            <a:endParaRPr b="0" lang="en-IN" sz="3600" spc="-1" strike="noStrike">
              <a:latin typeface="Arial"/>
            </a:endParaRPr>
          </a:p>
        </p:txBody>
      </p:sp>
      <p:pic>
        <p:nvPicPr>
          <p:cNvPr id="88" name="Image 0" descr="preencoded.png"/>
          <p:cNvPicPr/>
          <p:nvPr/>
        </p:nvPicPr>
        <p:blipFill>
          <a:blip r:embed="rId1"/>
          <a:stretch/>
        </p:blipFill>
        <p:spPr>
          <a:xfrm>
            <a:off x="7772400" y="228600"/>
            <a:ext cx="639360" cy="639360"/>
          </a:xfrm>
          <a:prstGeom prst="rect">
            <a:avLst/>
          </a:prstGeom>
          <a:ln w="0">
            <a:noFill/>
          </a:ln>
        </p:spPr>
      </p:pic>
      <p:sp>
        <p:nvSpPr>
          <p:cNvPr id="89" name="Shape 1"/>
          <p:cNvSpPr/>
          <p:nvPr/>
        </p:nvSpPr>
        <p:spPr>
          <a:xfrm>
            <a:off x="731520" y="1097280"/>
            <a:ext cx="3656880" cy="1828080"/>
          </a:xfrm>
          <a:prstGeom prst="rect">
            <a:avLst/>
          </a:prstGeom>
          <a:solidFill>
            <a:srgbClr val="e8f5e9"/>
          </a:solidFill>
          <a:ln w="254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0" name="Text 2"/>
          <p:cNvSpPr/>
          <p:nvPr/>
        </p:nvSpPr>
        <p:spPr>
          <a:xfrm>
            <a:off x="731520" y="1188720"/>
            <a:ext cx="3656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27ae60"/>
                </a:solidFill>
                <a:latin typeface="Arial"/>
                <a:ea typeface="Arial"/>
              </a:rPr>
              <a:t>Method 1: Backslash (\)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91" name="Shape 3"/>
          <p:cNvSpPr/>
          <p:nvPr/>
        </p:nvSpPr>
        <p:spPr>
          <a:xfrm>
            <a:off x="914400" y="1600200"/>
            <a:ext cx="3291120" cy="1188000"/>
          </a:xfrm>
          <a:prstGeom prst="rect">
            <a:avLst/>
          </a:prstGeom>
          <a:solidFill>
            <a:srgbClr val="282c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2" name="Text 4"/>
          <p:cNvSpPr/>
          <p:nvPr/>
        </p:nvSpPr>
        <p:spPr>
          <a:xfrm>
            <a:off x="1005840" y="1691640"/>
            <a:ext cx="310824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text = "my name is prashant\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     </a:t>
            </a: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I live in pune\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     </a:t>
            </a: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I have 6 years\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     </a:t>
            </a: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of experience"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93" name="Shape 5"/>
          <p:cNvSpPr/>
          <p:nvPr/>
        </p:nvSpPr>
        <p:spPr>
          <a:xfrm>
            <a:off x="4754880" y="1097280"/>
            <a:ext cx="3656880" cy="1828080"/>
          </a:xfrm>
          <a:prstGeom prst="rect">
            <a:avLst/>
          </a:prstGeom>
          <a:solidFill>
            <a:srgbClr val="fff3e0"/>
          </a:solidFill>
          <a:ln w="25400">
            <a:solidFill>
              <a:srgbClr val="e67e2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4" name="Text 6"/>
          <p:cNvSpPr/>
          <p:nvPr/>
        </p:nvSpPr>
        <p:spPr>
          <a:xfrm>
            <a:off x="4754880" y="1188720"/>
            <a:ext cx="3656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e67e22"/>
                </a:solidFill>
                <a:latin typeface="Arial"/>
                <a:ea typeface="Arial"/>
              </a:rPr>
              <a:t>Method 2: Triple Quotes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95" name="Shape 7"/>
          <p:cNvSpPr/>
          <p:nvPr/>
        </p:nvSpPr>
        <p:spPr>
          <a:xfrm>
            <a:off x="4937760" y="1600200"/>
            <a:ext cx="3291120" cy="1188000"/>
          </a:xfrm>
          <a:prstGeom prst="rect">
            <a:avLst/>
          </a:prstGeom>
          <a:solidFill>
            <a:srgbClr val="282c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6" name="Text 8"/>
          <p:cNvSpPr/>
          <p:nvPr/>
        </p:nvSpPr>
        <p:spPr>
          <a:xfrm>
            <a:off x="5029200" y="1691640"/>
            <a:ext cx="310824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text = """my name is prashant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I live in pune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I have 6 years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of experience"""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97" name="Shape 9"/>
          <p:cNvSpPr/>
          <p:nvPr/>
        </p:nvSpPr>
        <p:spPr>
          <a:xfrm>
            <a:off x="1371600" y="3200400"/>
            <a:ext cx="6400080" cy="456480"/>
          </a:xfrm>
          <a:prstGeom prst="rect">
            <a:avLst/>
          </a:prstGeom>
          <a:solidFill>
            <a:srgbClr val="f5f5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8" name="Text 10"/>
          <p:cNvSpPr/>
          <p:nvPr/>
        </p:nvSpPr>
        <p:spPr>
          <a:xfrm>
            <a:off x="1371600" y="329184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306998"/>
                </a:solidFill>
                <a:latin typeface="Arial"/>
                <a:ea typeface="Arial"/>
              </a:rPr>
              <a:t>✓ </a:t>
            </a:r>
            <a:r>
              <a:rPr b="1" lang="en-US" sz="1300" spc="-1" strike="noStrike">
                <a:solidFill>
                  <a:srgbClr val="306998"/>
                </a:solidFill>
                <a:latin typeface="Arial"/>
                <a:ea typeface="Arial"/>
              </a:rPr>
              <a:t>Triple quotes preserve formatting naturally</a:t>
            </a:r>
            <a:endParaRPr b="0" lang="en-IN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Text 0"/>
          <p:cNvSpPr/>
          <p:nvPr/>
        </p:nvSpPr>
        <p:spPr>
          <a:xfrm>
            <a:off x="457200" y="27432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1e3a5f"/>
                </a:solidFill>
                <a:latin typeface="Arial"/>
                <a:ea typeface="Arial"/>
              </a:rPr>
              <a:t>String Indexing</a:t>
            </a:r>
            <a:endParaRPr b="0" lang="en-IN" sz="3600" spc="-1" strike="noStrike">
              <a:latin typeface="Arial"/>
            </a:endParaRPr>
          </a:p>
        </p:txBody>
      </p:sp>
      <p:pic>
        <p:nvPicPr>
          <p:cNvPr id="100" name="Image 0" descr="preencoded.png"/>
          <p:cNvPicPr/>
          <p:nvPr/>
        </p:nvPicPr>
        <p:blipFill>
          <a:blip r:embed="rId1"/>
          <a:stretch/>
        </p:blipFill>
        <p:spPr>
          <a:xfrm>
            <a:off x="7772400" y="228600"/>
            <a:ext cx="639360" cy="639360"/>
          </a:xfrm>
          <a:prstGeom prst="rect">
            <a:avLst/>
          </a:prstGeom>
          <a:ln w="0">
            <a:noFill/>
          </a:ln>
        </p:spPr>
      </p:pic>
      <p:sp>
        <p:nvSpPr>
          <p:cNvPr id="101" name="Shape 1"/>
          <p:cNvSpPr/>
          <p:nvPr/>
        </p:nvSpPr>
        <p:spPr>
          <a:xfrm>
            <a:off x="914400" y="1005840"/>
            <a:ext cx="7314480" cy="547920"/>
          </a:xfrm>
          <a:prstGeom prst="rect">
            <a:avLst/>
          </a:prstGeom>
          <a:solidFill>
            <a:srgbClr val="e3f2fd"/>
          </a:solidFill>
          <a:ln w="25400">
            <a:solidFill>
              <a:srgbClr val="30699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2" name="Text 2"/>
          <p:cNvSpPr/>
          <p:nvPr/>
        </p:nvSpPr>
        <p:spPr>
          <a:xfrm>
            <a:off x="914400" y="1097280"/>
            <a:ext cx="73144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306998"/>
                </a:solidFill>
                <a:latin typeface="Arial"/>
                <a:ea typeface="Arial"/>
              </a:rPr>
              <a:t>Indexing allows accessing individual characters by position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103" name="Shape 3"/>
          <p:cNvSpPr/>
          <p:nvPr/>
        </p:nvSpPr>
        <p:spPr>
          <a:xfrm>
            <a:off x="1371600" y="1828800"/>
            <a:ext cx="6400080" cy="456480"/>
          </a:xfrm>
          <a:prstGeom prst="rect">
            <a:avLst/>
          </a:prstGeom>
          <a:solidFill>
            <a:srgbClr val="282c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4" name="Text 4"/>
          <p:cNvSpPr/>
          <p:nvPr/>
        </p:nvSpPr>
        <p:spPr>
          <a:xfrm>
            <a:off x="1554480" y="1920240"/>
            <a:ext cx="60343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e5c07b"/>
                </a:solidFill>
                <a:latin typeface="Courier New"/>
                <a:ea typeface="Courier New"/>
              </a:rPr>
              <a:t>str1 = "Jai Ganesh"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05" name="Text 5"/>
          <p:cNvSpPr/>
          <p:nvPr/>
        </p:nvSpPr>
        <p:spPr>
          <a:xfrm>
            <a:off x="914400" y="2468880"/>
            <a:ext cx="3656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27ae60"/>
                </a:solidFill>
                <a:latin typeface="Arial"/>
                <a:ea typeface="Arial"/>
              </a:rPr>
              <a:t>Positive Indexing (starts from 0):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06" name="Shape 6"/>
          <p:cNvSpPr/>
          <p:nvPr/>
        </p:nvSpPr>
        <p:spPr>
          <a:xfrm>
            <a:off x="914400" y="2788920"/>
            <a:ext cx="6400080" cy="730800"/>
          </a:xfrm>
          <a:prstGeom prst="rect">
            <a:avLst/>
          </a:prstGeom>
          <a:solidFill>
            <a:srgbClr val="f5f5f5"/>
          </a:solidFill>
          <a:ln w="254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7" name="Text 7"/>
          <p:cNvSpPr/>
          <p:nvPr/>
        </p:nvSpPr>
        <p:spPr>
          <a:xfrm>
            <a:off x="1097280" y="2880360"/>
            <a:ext cx="5479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27ae60"/>
                </a:solidFill>
                <a:latin typeface="Courier New"/>
                <a:ea typeface="Courier New"/>
              </a:rPr>
              <a:t>0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08" name="Shape 8"/>
          <p:cNvSpPr/>
          <p:nvPr/>
        </p:nvSpPr>
        <p:spPr>
          <a:xfrm>
            <a:off x="1097280" y="3154680"/>
            <a:ext cx="547920" cy="273600"/>
          </a:xfrm>
          <a:prstGeom prst="rect">
            <a:avLst/>
          </a:prstGeom>
          <a:solidFill>
            <a:srgbClr val="ffffff"/>
          </a:solidFill>
          <a:ln w="12700">
            <a:solidFill>
              <a:srgbClr val="30699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9" name="Text 9"/>
          <p:cNvSpPr/>
          <p:nvPr/>
        </p:nvSpPr>
        <p:spPr>
          <a:xfrm>
            <a:off x="1097280" y="3200400"/>
            <a:ext cx="54792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306998"/>
                </a:solidFill>
                <a:latin typeface="Courier New"/>
                <a:ea typeface="Courier New"/>
              </a:rPr>
              <a:t>J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10" name="Text 10"/>
          <p:cNvSpPr/>
          <p:nvPr/>
        </p:nvSpPr>
        <p:spPr>
          <a:xfrm>
            <a:off x="1691640" y="2880360"/>
            <a:ext cx="5479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27ae60"/>
                </a:solidFill>
                <a:latin typeface="Courier New"/>
                <a:ea typeface="Courier New"/>
              </a:rPr>
              <a:t>1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11" name="Shape 11"/>
          <p:cNvSpPr/>
          <p:nvPr/>
        </p:nvSpPr>
        <p:spPr>
          <a:xfrm>
            <a:off x="1691640" y="3154680"/>
            <a:ext cx="547920" cy="273600"/>
          </a:xfrm>
          <a:prstGeom prst="rect">
            <a:avLst/>
          </a:prstGeom>
          <a:solidFill>
            <a:srgbClr val="ffffff"/>
          </a:solidFill>
          <a:ln w="12700">
            <a:solidFill>
              <a:srgbClr val="30699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2" name="Text 12"/>
          <p:cNvSpPr/>
          <p:nvPr/>
        </p:nvSpPr>
        <p:spPr>
          <a:xfrm>
            <a:off x="1691640" y="3200400"/>
            <a:ext cx="54792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306998"/>
                </a:solidFill>
                <a:latin typeface="Courier New"/>
                <a:ea typeface="Courier New"/>
              </a:rPr>
              <a:t>a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13" name="Text 13"/>
          <p:cNvSpPr/>
          <p:nvPr/>
        </p:nvSpPr>
        <p:spPr>
          <a:xfrm>
            <a:off x="2286000" y="2880360"/>
            <a:ext cx="5479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27ae60"/>
                </a:solidFill>
                <a:latin typeface="Courier New"/>
                <a:ea typeface="Courier New"/>
              </a:rPr>
              <a:t>2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14" name="Shape 14"/>
          <p:cNvSpPr/>
          <p:nvPr/>
        </p:nvSpPr>
        <p:spPr>
          <a:xfrm>
            <a:off x="2286000" y="3154680"/>
            <a:ext cx="547920" cy="273600"/>
          </a:xfrm>
          <a:prstGeom prst="rect">
            <a:avLst/>
          </a:prstGeom>
          <a:solidFill>
            <a:srgbClr val="ffffff"/>
          </a:solidFill>
          <a:ln w="12700">
            <a:solidFill>
              <a:srgbClr val="30699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5" name="Text 15"/>
          <p:cNvSpPr/>
          <p:nvPr/>
        </p:nvSpPr>
        <p:spPr>
          <a:xfrm>
            <a:off x="2286000" y="3200400"/>
            <a:ext cx="54792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306998"/>
                </a:solidFill>
                <a:latin typeface="Courier New"/>
                <a:ea typeface="Courier New"/>
              </a:rPr>
              <a:t>i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16" name="Text 16"/>
          <p:cNvSpPr/>
          <p:nvPr/>
        </p:nvSpPr>
        <p:spPr>
          <a:xfrm>
            <a:off x="2880360" y="2880360"/>
            <a:ext cx="5479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27ae60"/>
                </a:solidFill>
                <a:latin typeface="Courier New"/>
                <a:ea typeface="Courier New"/>
              </a:rPr>
              <a:t>3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17" name="Shape 17"/>
          <p:cNvSpPr/>
          <p:nvPr/>
        </p:nvSpPr>
        <p:spPr>
          <a:xfrm>
            <a:off x="2880360" y="3154680"/>
            <a:ext cx="547920" cy="273600"/>
          </a:xfrm>
          <a:prstGeom prst="rect">
            <a:avLst/>
          </a:prstGeom>
          <a:solidFill>
            <a:srgbClr val="ffffff"/>
          </a:solidFill>
          <a:ln w="12700">
            <a:solidFill>
              <a:srgbClr val="30699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8" name="Text 18"/>
          <p:cNvSpPr/>
          <p:nvPr/>
        </p:nvSpPr>
        <p:spPr>
          <a:xfrm>
            <a:off x="2880360" y="3200400"/>
            <a:ext cx="54792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306998"/>
                </a:solidFill>
                <a:latin typeface="Courier New"/>
                <a:ea typeface="Courier New"/>
              </a:rPr>
              <a:t> 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19" name="Text 19"/>
          <p:cNvSpPr/>
          <p:nvPr/>
        </p:nvSpPr>
        <p:spPr>
          <a:xfrm>
            <a:off x="3474720" y="2880360"/>
            <a:ext cx="5479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27ae60"/>
                </a:solidFill>
                <a:latin typeface="Courier New"/>
                <a:ea typeface="Courier New"/>
              </a:rPr>
              <a:t>4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20" name="Shape 20"/>
          <p:cNvSpPr/>
          <p:nvPr/>
        </p:nvSpPr>
        <p:spPr>
          <a:xfrm>
            <a:off x="3474720" y="3154680"/>
            <a:ext cx="547920" cy="273600"/>
          </a:xfrm>
          <a:prstGeom prst="rect">
            <a:avLst/>
          </a:prstGeom>
          <a:solidFill>
            <a:srgbClr val="ffffff"/>
          </a:solidFill>
          <a:ln w="12700">
            <a:solidFill>
              <a:srgbClr val="30699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1" name="Text 21"/>
          <p:cNvSpPr/>
          <p:nvPr/>
        </p:nvSpPr>
        <p:spPr>
          <a:xfrm>
            <a:off x="3474720" y="3200400"/>
            <a:ext cx="54792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306998"/>
                </a:solidFill>
                <a:latin typeface="Courier New"/>
                <a:ea typeface="Courier New"/>
              </a:rPr>
              <a:t>G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22" name="Text 22"/>
          <p:cNvSpPr/>
          <p:nvPr/>
        </p:nvSpPr>
        <p:spPr>
          <a:xfrm>
            <a:off x="4069080" y="2880360"/>
            <a:ext cx="5479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27ae60"/>
                </a:solidFill>
                <a:latin typeface="Courier New"/>
                <a:ea typeface="Courier New"/>
              </a:rPr>
              <a:t>5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23" name="Shape 23"/>
          <p:cNvSpPr/>
          <p:nvPr/>
        </p:nvSpPr>
        <p:spPr>
          <a:xfrm>
            <a:off x="4069080" y="3154680"/>
            <a:ext cx="547920" cy="273600"/>
          </a:xfrm>
          <a:prstGeom prst="rect">
            <a:avLst/>
          </a:prstGeom>
          <a:solidFill>
            <a:srgbClr val="ffffff"/>
          </a:solidFill>
          <a:ln w="12700">
            <a:solidFill>
              <a:srgbClr val="30699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4" name="Text 24"/>
          <p:cNvSpPr/>
          <p:nvPr/>
        </p:nvSpPr>
        <p:spPr>
          <a:xfrm>
            <a:off x="4069080" y="3200400"/>
            <a:ext cx="54792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306998"/>
                </a:solidFill>
                <a:latin typeface="Courier New"/>
                <a:ea typeface="Courier New"/>
              </a:rPr>
              <a:t>a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25" name="Text 25"/>
          <p:cNvSpPr/>
          <p:nvPr/>
        </p:nvSpPr>
        <p:spPr>
          <a:xfrm>
            <a:off x="4663440" y="2880360"/>
            <a:ext cx="5479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27ae60"/>
                </a:solidFill>
                <a:latin typeface="Courier New"/>
                <a:ea typeface="Courier New"/>
              </a:rPr>
              <a:t>6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26" name="Shape 26"/>
          <p:cNvSpPr/>
          <p:nvPr/>
        </p:nvSpPr>
        <p:spPr>
          <a:xfrm>
            <a:off x="4663440" y="3154680"/>
            <a:ext cx="547920" cy="273600"/>
          </a:xfrm>
          <a:prstGeom prst="rect">
            <a:avLst/>
          </a:prstGeom>
          <a:solidFill>
            <a:srgbClr val="ffffff"/>
          </a:solidFill>
          <a:ln w="12700">
            <a:solidFill>
              <a:srgbClr val="30699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7" name="Text 27"/>
          <p:cNvSpPr/>
          <p:nvPr/>
        </p:nvSpPr>
        <p:spPr>
          <a:xfrm>
            <a:off x="4663440" y="3200400"/>
            <a:ext cx="54792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306998"/>
                </a:solidFill>
                <a:latin typeface="Courier New"/>
                <a:ea typeface="Courier New"/>
              </a:rPr>
              <a:t>n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28" name="Text 28"/>
          <p:cNvSpPr/>
          <p:nvPr/>
        </p:nvSpPr>
        <p:spPr>
          <a:xfrm>
            <a:off x="5257800" y="2880360"/>
            <a:ext cx="5479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27ae60"/>
                </a:solidFill>
                <a:latin typeface="Courier New"/>
                <a:ea typeface="Courier New"/>
              </a:rPr>
              <a:t>7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29" name="Shape 29"/>
          <p:cNvSpPr/>
          <p:nvPr/>
        </p:nvSpPr>
        <p:spPr>
          <a:xfrm>
            <a:off x="5257800" y="3154680"/>
            <a:ext cx="547920" cy="273600"/>
          </a:xfrm>
          <a:prstGeom prst="rect">
            <a:avLst/>
          </a:prstGeom>
          <a:solidFill>
            <a:srgbClr val="ffffff"/>
          </a:solidFill>
          <a:ln w="12700">
            <a:solidFill>
              <a:srgbClr val="30699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0" name="Text 30"/>
          <p:cNvSpPr/>
          <p:nvPr/>
        </p:nvSpPr>
        <p:spPr>
          <a:xfrm>
            <a:off x="5257800" y="3200400"/>
            <a:ext cx="54792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306998"/>
                </a:solidFill>
                <a:latin typeface="Courier New"/>
                <a:ea typeface="Courier New"/>
              </a:rPr>
              <a:t>e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31" name="Text 31"/>
          <p:cNvSpPr/>
          <p:nvPr/>
        </p:nvSpPr>
        <p:spPr>
          <a:xfrm>
            <a:off x="5852160" y="2880360"/>
            <a:ext cx="5479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27ae60"/>
                </a:solidFill>
                <a:latin typeface="Courier New"/>
                <a:ea typeface="Courier New"/>
              </a:rPr>
              <a:t>8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32" name="Shape 32"/>
          <p:cNvSpPr/>
          <p:nvPr/>
        </p:nvSpPr>
        <p:spPr>
          <a:xfrm>
            <a:off x="5852160" y="3154680"/>
            <a:ext cx="547920" cy="273600"/>
          </a:xfrm>
          <a:prstGeom prst="rect">
            <a:avLst/>
          </a:prstGeom>
          <a:solidFill>
            <a:srgbClr val="ffffff"/>
          </a:solidFill>
          <a:ln w="12700">
            <a:solidFill>
              <a:srgbClr val="30699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3" name="Text 33"/>
          <p:cNvSpPr/>
          <p:nvPr/>
        </p:nvSpPr>
        <p:spPr>
          <a:xfrm>
            <a:off x="5852160" y="3200400"/>
            <a:ext cx="54792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306998"/>
                </a:solidFill>
                <a:latin typeface="Courier New"/>
                <a:ea typeface="Courier New"/>
              </a:rPr>
              <a:t>s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34" name="Text 34"/>
          <p:cNvSpPr/>
          <p:nvPr/>
        </p:nvSpPr>
        <p:spPr>
          <a:xfrm>
            <a:off x="6446520" y="2880360"/>
            <a:ext cx="5479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27ae60"/>
                </a:solidFill>
                <a:latin typeface="Courier New"/>
                <a:ea typeface="Courier New"/>
              </a:rPr>
              <a:t>9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35" name="Shape 35"/>
          <p:cNvSpPr/>
          <p:nvPr/>
        </p:nvSpPr>
        <p:spPr>
          <a:xfrm>
            <a:off x="6446520" y="3154680"/>
            <a:ext cx="547920" cy="273600"/>
          </a:xfrm>
          <a:prstGeom prst="rect">
            <a:avLst/>
          </a:prstGeom>
          <a:solidFill>
            <a:srgbClr val="ffffff"/>
          </a:solidFill>
          <a:ln w="12700">
            <a:solidFill>
              <a:srgbClr val="30699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6" name="Text 36"/>
          <p:cNvSpPr/>
          <p:nvPr/>
        </p:nvSpPr>
        <p:spPr>
          <a:xfrm>
            <a:off x="6446520" y="3200400"/>
            <a:ext cx="54792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306998"/>
                </a:solidFill>
                <a:latin typeface="Courier New"/>
                <a:ea typeface="Courier New"/>
              </a:rPr>
              <a:t>h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37" name="Text 37"/>
          <p:cNvSpPr/>
          <p:nvPr/>
        </p:nvSpPr>
        <p:spPr>
          <a:xfrm>
            <a:off x="914400" y="3657600"/>
            <a:ext cx="4571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e74c3c"/>
                </a:solidFill>
                <a:latin typeface="Arial"/>
                <a:ea typeface="Arial"/>
              </a:rPr>
              <a:t>Negative Indexing (starts from -1 for last char):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38" name="Text 38"/>
          <p:cNvSpPr/>
          <p:nvPr/>
        </p:nvSpPr>
        <p:spPr>
          <a:xfrm>
            <a:off x="1097280" y="3977640"/>
            <a:ext cx="5479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e74c3c"/>
                </a:solidFill>
                <a:latin typeface="Courier New"/>
                <a:ea typeface="Courier New"/>
              </a:rPr>
              <a:t>-10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39" name="Text 39"/>
          <p:cNvSpPr/>
          <p:nvPr/>
        </p:nvSpPr>
        <p:spPr>
          <a:xfrm>
            <a:off x="1691640" y="3977640"/>
            <a:ext cx="5479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e74c3c"/>
                </a:solidFill>
                <a:latin typeface="Courier New"/>
                <a:ea typeface="Courier New"/>
              </a:rPr>
              <a:t>-9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40" name="Text 40"/>
          <p:cNvSpPr/>
          <p:nvPr/>
        </p:nvSpPr>
        <p:spPr>
          <a:xfrm>
            <a:off x="2286000" y="3977640"/>
            <a:ext cx="5479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e74c3c"/>
                </a:solidFill>
                <a:latin typeface="Courier New"/>
                <a:ea typeface="Courier New"/>
              </a:rPr>
              <a:t>-8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41" name="Text 41"/>
          <p:cNvSpPr/>
          <p:nvPr/>
        </p:nvSpPr>
        <p:spPr>
          <a:xfrm>
            <a:off x="2880360" y="3977640"/>
            <a:ext cx="5479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e74c3c"/>
                </a:solidFill>
                <a:latin typeface="Courier New"/>
                <a:ea typeface="Courier New"/>
              </a:rPr>
              <a:t>-7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42" name="Text 42"/>
          <p:cNvSpPr/>
          <p:nvPr/>
        </p:nvSpPr>
        <p:spPr>
          <a:xfrm>
            <a:off x="3474720" y="3977640"/>
            <a:ext cx="5479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e74c3c"/>
                </a:solidFill>
                <a:latin typeface="Courier New"/>
                <a:ea typeface="Courier New"/>
              </a:rPr>
              <a:t>-6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43" name="Text 43"/>
          <p:cNvSpPr/>
          <p:nvPr/>
        </p:nvSpPr>
        <p:spPr>
          <a:xfrm>
            <a:off x="4069080" y="3977640"/>
            <a:ext cx="5479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e74c3c"/>
                </a:solidFill>
                <a:latin typeface="Courier New"/>
                <a:ea typeface="Courier New"/>
              </a:rPr>
              <a:t>-5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44" name="Text 44"/>
          <p:cNvSpPr/>
          <p:nvPr/>
        </p:nvSpPr>
        <p:spPr>
          <a:xfrm>
            <a:off x="4663440" y="3977640"/>
            <a:ext cx="5479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e74c3c"/>
                </a:solidFill>
                <a:latin typeface="Courier New"/>
                <a:ea typeface="Courier New"/>
              </a:rPr>
              <a:t>-4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45" name="Text 45"/>
          <p:cNvSpPr/>
          <p:nvPr/>
        </p:nvSpPr>
        <p:spPr>
          <a:xfrm>
            <a:off x="5257800" y="3977640"/>
            <a:ext cx="5479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e74c3c"/>
                </a:solidFill>
                <a:latin typeface="Courier New"/>
                <a:ea typeface="Courier New"/>
              </a:rPr>
              <a:t>-3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46" name="Text 46"/>
          <p:cNvSpPr/>
          <p:nvPr/>
        </p:nvSpPr>
        <p:spPr>
          <a:xfrm>
            <a:off x="5852160" y="3977640"/>
            <a:ext cx="5479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e74c3c"/>
                </a:solidFill>
                <a:latin typeface="Courier New"/>
                <a:ea typeface="Courier New"/>
              </a:rPr>
              <a:t>-2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47" name="Text 47"/>
          <p:cNvSpPr/>
          <p:nvPr/>
        </p:nvSpPr>
        <p:spPr>
          <a:xfrm>
            <a:off x="6446520" y="3977640"/>
            <a:ext cx="5479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e74c3c"/>
                </a:solidFill>
                <a:latin typeface="Courier New"/>
                <a:ea typeface="Courier New"/>
              </a:rPr>
              <a:t>-1</a:t>
            </a: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Text 0"/>
          <p:cNvSpPr/>
          <p:nvPr/>
        </p:nvSpPr>
        <p:spPr>
          <a:xfrm>
            <a:off x="457200" y="27432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1e3a5f"/>
                </a:solidFill>
                <a:latin typeface="Arial"/>
                <a:ea typeface="Arial"/>
              </a:rPr>
              <a:t>String Indexing - Examples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149" name="Shape 1"/>
          <p:cNvSpPr/>
          <p:nvPr/>
        </p:nvSpPr>
        <p:spPr>
          <a:xfrm>
            <a:off x="914400" y="1097280"/>
            <a:ext cx="7314480" cy="3199680"/>
          </a:xfrm>
          <a:prstGeom prst="rect">
            <a:avLst/>
          </a:prstGeom>
          <a:solidFill>
            <a:srgbClr val="282c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0" name="Text 2"/>
          <p:cNvSpPr/>
          <p:nvPr/>
        </p:nvSpPr>
        <p:spPr>
          <a:xfrm>
            <a:off x="1097280" y="1234440"/>
            <a:ext cx="6948720" cy="29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str1 = "Jai Ganesh"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# Print full string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print(str1)      # Jai Ganesh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# Positive indexing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print(str1[0])   # J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print(str1[1])   # a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print(str1[2])   # i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print(str1[3])   # (space)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print(str1[4])   # G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print(str1[7])   # e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print(str1[9])   # h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# Negative indexing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print(str1[-1])  # h (last character)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print(str1[-2])  # s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print(str1[-10]) # J (first character)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Text 0"/>
          <p:cNvSpPr/>
          <p:nvPr/>
        </p:nvSpPr>
        <p:spPr>
          <a:xfrm>
            <a:off x="457200" y="27432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1e3a5f"/>
                </a:solidFill>
                <a:latin typeface="Arial"/>
                <a:ea typeface="Arial"/>
              </a:rPr>
              <a:t>String Slicing</a:t>
            </a:r>
            <a:endParaRPr b="0" lang="en-IN" sz="3600" spc="-1" strike="noStrike">
              <a:latin typeface="Arial"/>
            </a:endParaRPr>
          </a:p>
        </p:txBody>
      </p:sp>
      <p:pic>
        <p:nvPicPr>
          <p:cNvPr id="152" name="Image 0" descr="preencoded.png"/>
          <p:cNvPicPr/>
          <p:nvPr/>
        </p:nvPicPr>
        <p:blipFill>
          <a:blip r:embed="rId1"/>
          <a:stretch/>
        </p:blipFill>
        <p:spPr>
          <a:xfrm>
            <a:off x="7772400" y="228600"/>
            <a:ext cx="639360" cy="639360"/>
          </a:xfrm>
          <a:prstGeom prst="rect">
            <a:avLst/>
          </a:prstGeom>
          <a:ln w="0">
            <a:noFill/>
          </a:ln>
        </p:spPr>
      </p:pic>
      <p:sp>
        <p:nvSpPr>
          <p:cNvPr id="153" name="Shape 1"/>
          <p:cNvSpPr/>
          <p:nvPr/>
        </p:nvSpPr>
        <p:spPr>
          <a:xfrm>
            <a:off x="914400" y="1005840"/>
            <a:ext cx="7314480" cy="547920"/>
          </a:xfrm>
          <a:prstGeom prst="rect">
            <a:avLst/>
          </a:prstGeom>
          <a:solidFill>
            <a:srgbClr val="e8f5e9"/>
          </a:solidFill>
          <a:ln w="254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4" name="Text 2"/>
          <p:cNvSpPr/>
          <p:nvPr/>
        </p:nvSpPr>
        <p:spPr>
          <a:xfrm>
            <a:off x="914400" y="1097280"/>
            <a:ext cx="73144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27ae60"/>
                </a:solidFill>
                <a:latin typeface="Arial"/>
                <a:ea typeface="Arial"/>
              </a:rPr>
              <a:t>Slicing extracts a substring (part of string)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155" name="Text 3"/>
          <p:cNvSpPr/>
          <p:nvPr/>
        </p:nvSpPr>
        <p:spPr>
          <a:xfrm>
            <a:off x="1371600" y="182880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306998"/>
                </a:solidFill>
                <a:latin typeface="Arial"/>
                <a:ea typeface="Arial"/>
              </a:rPr>
              <a:t>Syntax: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56" name="Shape 4"/>
          <p:cNvSpPr/>
          <p:nvPr/>
        </p:nvSpPr>
        <p:spPr>
          <a:xfrm>
            <a:off x="1828800" y="2194560"/>
            <a:ext cx="5485680" cy="456480"/>
          </a:xfrm>
          <a:prstGeom prst="rect">
            <a:avLst/>
          </a:prstGeom>
          <a:solidFill>
            <a:srgbClr val="ffd4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7" name="Text 5"/>
          <p:cNvSpPr/>
          <p:nvPr/>
        </p:nvSpPr>
        <p:spPr>
          <a:xfrm>
            <a:off x="1828800" y="2240280"/>
            <a:ext cx="54856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1e3a5f"/>
                </a:solidFill>
                <a:latin typeface="Courier New"/>
                <a:ea typeface="Courier New"/>
              </a:rPr>
              <a:t>string[Start : Stop : Step]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58" name="Shape 6"/>
          <p:cNvSpPr/>
          <p:nvPr/>
        </p:nvSpPr>
        <p:spPr>
          <a:xfrm>
            <a:off x="1371600" y="2926080"/>
            <a:ext cx="6400080" cy="456480"/>
          </a:xfrm>
          <a:prstGeom prst="rect">
            <a:avLst/>
          </a:prstGeom>
          <a:solidFill>
            <a:srgbClr val="f5f5f5"/>
          </a:solidFill>
          <a:ln w="12700">
            <a:solidFill>
              <a:srgbClr val="30699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9" name="Text 7"/>
          <p:cNvSpPr/>
          <p:nvPr/>
        </p:nvSpPr>
        <p:spPr>
          <a:xfrm>
            <a:off x="1645920" y="3017520"/>
            <a:ext cx="1370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306998"/>
                </a:solidFill>
                <a:latin typeface="Arial"/>
                <a:ea typeface="Arial"/>
              </a:rPr>
              <a:t>Start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60" name="Text 8"/>
          <p:cNvSpPr/>
          <p:nvPr/>
        </p:nvSpPr>
        <p:spPr>
          <a:xfrm>
            <a:off x="3200400" y="3017520"/>
            <a:ext cx="43884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2c3e50"/>
                </a:solidFill>
                <a:latin typeface="Arial"/>
                <a:ea typeface="Arial"/>
              </a:rPr>
              <a:t>Starting index (default: 0)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61" name="Shape 9"/>
          <p:cNvSpPr/>
          <p:nvPr/>
        </p:nvSpPr>
        <p:spPr>
          <a:xfrm>
            <a:off x="1371600" y="3474720"/>
            <a:ext cx="6400080" cy="456480"/>
          </a:xfrm>
          <a:prstGeom prst="rect">
            <a:avLst/>
          </a:prstGeom>
          <a:solidFill>
            <a:srgbClr val="f5f5f5"/>
          </a:solidFill>
          <a:ln w="12700">
            <a:solidFill>
              <a:srgbClr val="30699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2" name="Text 10"/>
          <p:cNvSpPr/>
          <p:nvPr/>
        </p:nvSpPr>
        <p:spPr>
          <a:xfrm>
            <a:off x="1645920" y="3566160"/>
            <a:ext cx="1370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306998"/>
                </a:solidFill>
                <a:latin typeface="Arial"/>
                <a:ea typeface="Arial"/>
              </a:rPr>
              <a:t>Stop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63" name="Text 11"/>
          <p:cNvSpPr/>
          <p:nvPr/>
        </p:nvSpPr>
        <p:spPr>
          <a:xfrm>
            <a:off x="3200400" y="3566160"/>
            <a:ext cx="43884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2c3e50"/>
                </a:solidFill>
                <a:latin typeface="Arial"/>
                <a:ea typeface="Arial"/>
              </a:rPr>
              <a:t>Ending index - NOT included (default: len(string))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64" name="Shape 12"/>
          <p:cNvSpPr/>
          <p:nvPr/>
        </p:nvSpPr>
        <p:spPr>
          <a:xfrm>
            <a:off x="1371600" y="4023360"/>
            <a:ext cx="6400080" cy="456480"/>
          </a:xfrm>
          <a:prstGeom prst="rect">
            <a:avLst/>
          </a:prstGeom>
          <a:solidFill>
            <a:srgbClr val="f5f5f5"/>
          </a:solidFill>
          <a:ln w="12700">
            <a:solidFill>
              <a:srgbClr val="30699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5" name="Text 13"/>
          <p:cNvSpPr/>
          <p:nvPr/>
        </p:nvSpPr>
        <p:spPr>
          <a:xfrm>
            <a:off x="1645920" y="4114800"/>
            <a:ext cx="1370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306998"/>
                </a:solidFill>
                <a:latin typeface="Arial"/>
                <a:ea typeface="Arial"/>
              </a:rPr>
              <a:t>Step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66" name="Text 14"/>
          <p:cNvSpPr/>
          <p:nvPr/>
        </p:nvSpPr>
        <p:spPr>
          <a:xfrm>
            <a:off x="3200400" y="4114800"/>
            <a:ext cx="43884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2c3e50"/>
                </a:solidFill>
                <a:latin typeface="Arial"/>
                <a:ea typeface="Arial"/>
              </a:rPr>
              <a:t>Interval/increment (default: 1)</a:t>
            </a:r>
            <a:endParaRPr b="0" lang="en-IN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Text 0"/>
          <p:cNvSpPr/>
          <p:nvPr/>
        </p:nvSpPr>
        <p:spPr>
          <a:xfrm>
            <a:off x="457200" y="27432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1e3a5f"/>
                </a:solidFill>
                <a:latin typeface="Arial"/>
                <a:ea typeface="Arial"/>
              </a:rPr>
              <a:t>String Slicing - Examples Part 1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168" name="Shape 1"/>
          <p:cNvSpPr/>
          <p:nvPr/>
        </p:nvSpPr>
        <p:spPr>
          <a:xfrm>
            <a:off x="731520" y="1097280"/>
            <a:ext cx="7680240" cy="3291120"/>
          </a:xfrm>
          <a:prstGeom prst="rect">
            <a:avLst/>
          </a:prstGeom>
          <a:solidFill>
            <a:srgbClr val="282c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9" name="Text 2"/>
          <p:cNvSpPr/>
          <p:nvPr/>
        </p:nvSpPr>
        <p:spPr>
          <a:xfrm>
            <a:off x="914400" y="1234440"/>
            <a:ext cx="7314480" cy="30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str1 = "Jai Ganesh"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# Basic slicing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print(str1[0:1])     # "J"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print(str1[0:2])     # "Ja"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print(str1[0:3])     # "Jai"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print(str1[0:10])    # "Jai Ganesh"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# Default start (0)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print(str1[:3])      # "Jai"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print(str1[:5])      # "Jai G"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# Default stop (end)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print(str1[4:])      # "Ganesh"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print(str1[0:])      # "Jai Ganesh"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Text 0"/>
          <p:cNvSpPr/>
          <p:nvPr/>
        </p:nvSpPr>
        <p:spPr>
          <a:xfrm>
            <a:off x="457200" y="27432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1e3a5f"/>
                </a:solidFill>
                <a:latin typeface="Arial"/>
                <a:ea typeface="Arial"/>
              </a:rPr>
              <a:t>String Slicing - Examples Part 2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171" name="Shape 1"/>
          <p:cNvSpPr/>
          <p:nvPr/>
        </p:nvSpPr>
        <p:spPr>
          <a:xfrm>
            <a:off x="731520" y="1097280"/>
            <a:ext cx="7680240" cy="3291120"/>
          </a:xfrm>
          <a:prstGeom prst="rect">
            <a:avLst/>
          </a:prstGeom>
          <a:solidFill>
            <a:srgbClr val="282c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2" name="Text 2"/>
          <p:cNvSpPr/>
          <p:nvPr/>
        </p:nvSpPr>
        <p:spPr>
          <a:xfrm>
            <a:off x="914400" y="1234440"/>
            <a:ext cx="7314480" cy="30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str2 = "Jai Ganesh"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# Using step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print(str2[::2])     # "JiGns" (every 2nd char)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print(str2[0:10:2])  # "JiGns"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print(str2[::3])     # "J ns" (every 3rd char)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# Reverse string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print(str2[::-1])    # "hsenag iaJ"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# Negative indices in slicing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print(str2[-4:-1])   # "nes"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print(str2[-6:])     # "Ganesh"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print(str2[:-7])     # "Jai"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Text 0"/>
          <p:cNvSpPr/>
          <p:nvPr/>
        </p:nvSpPr>
        <p:spPr>
          <a:xfrm>
            <a:off x="457200" y="27432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1e3a5f"/>
                </a:solidFill>
                <a:latin typeface="Arial"/>
                <a:ea typeface="Arial"/>
              </a:rPr>
              <a:t>String Property: Immutability</a:t>
            </a:r>
            <a:endParaRPr b="0" lang="en-IN" sz="3600" spc="-1" strike="noStrike">
              <a:latin typeface="Arial"/>
            </a:endParaRPr>
          </a:p>
        </p:txBody>
      </p:sp>
      <p:pic>
        <p:nvPicPr>
          <p:cNvPr id="174" name="Image 0" descr="preencoded.png"/>
          <p:cNvPicPr/>
          <p:nvPr/>
        </p:nvPicPr>
        <p:blipFill>
          <a:blip r:embed="rId1"/>
          <a:stretch/>
        </p:blipFill>
        <p:spPr>
          <a:xfrm>
            <a:off x="7772400" y="228600"/>
            <a:ext cx="639360" cy="639360"/>
          </a:xfrm>
          <a:prstGeom prst="rect">
            <a:avLst/>
          </a:prstGeom>
          <a:ln w="0">
            <a:noFill/>
          </a:ln>
        </p:spPr>
      </p:pic>
      <p:sp>
        <p:nvSpPr>
          <p:cNvPr id="175" name="Shape 1"/>
          <p:cNvSpPr/>
          <p:nvPr/>
        </p:nvSpPr>
        <p:spPr>
          <a:xfrm>
            <a:off x="914400" y="1097280"/>
            <a:ext cx="7314480" cy="639360"/>
          </a:xfrm>
          <a:prstGeom prst="rect">
            <a:avLst/>
          </a:prstGeom>
          <a:solidFill>
            <a:srgbClr val="ffebee"/>
          </a:solidFill>
          <a:ln w="25400">
            <a:solidFill>
              <a:srgbClr val="e74c3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6" name="Text 2"/>
          <p:cNvSpPr/>
          <p:nvPr/>
        </p:nvSpPr>
        <p:spPr>
          <a:xfrm>
            <a:off x="914400" y="1188720"/>
            <a:ext cx="73144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e74c3c"/>
                </a:solidFill>
                <a:latin typeface="Arial"/>
                <a:ea typeface="Arial"/>
              </a:rPr>
              <a:t>Once a string is created, it CANNOT be modified</a:t>
            </a:r>
            <a:endParaRPr b="0" lang="en-IN" sz="16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e74c3c"/>
                </a:solidFill>
                <a:latin typeface="Arial"/>
                <a:ea typeface="Arial"/>
              </a:rPr>
              <a:t>Strings are IMMUTABLE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77" name="Shape 3"/>
          <p:cNvSpPr/>
          <p:nvPr/>
        </p:nvSpPr>
        <p:spPr>
          <a:xfrm>
            <a:off x="1371600" y="2011680"/>
            <a:ext cx="6400080" cy="1188000"/>
          </a:xfrm>
          <a:prstGeom prst="rect">
            <a:avLst/>
          </a:prstGeom>
          <a:solidFill>
            <a:srgbClr val="282c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8" name="Text 4"/>
          <p:cNvSpPr/>
          <p:nvPr/>
        </p:nvSpPr>
        <p:spPr>
          <a:xfrm>
            <a:off x="1554480" y="2148840"/>
            <a:ext cx="603432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e06c75"/>
                </a:solidFill>
                <a:latin typeface="Courier New"/>
                <a:ea typeface="Courier New"/>
              </a:rPr>
              <a:t># Example showing immutability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e06c75"/>
                </a:solidFill>
                <a:latin typeface="Courier New"/>
                <a:ea typeface="Courier New"/>
              </a:rPr>
              <a:t>name = "hello"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e06c75"/>
                </a:solidFill>
                <a:latin typeface="Courier New"/>
                <a:ea typeface="Courier New"/>
              </a:rPr>
              <a:t># Try to modify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e06c75"/>
                </a:solidFill>
                <a:latin typeface="Courier New"/>
                <a:ea typeface="Courier New"/>
              </a:rPr>
              <a:t>name[0] = "H"  # TypeError!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e06c75"/>
                </a:solidFill>
                <a:latin typeface="Courier New"/>
                <a:ea typeface="Courier New"/>
              </a:rPr>
              <a:t># Error: 'str' object does not support item assignment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79" name="Text 5"/>
          <p:cNvSpPr/>
          <p:nvPr/>
        </p:nvSpPr>
        <p:spPr>
          <a:xfrm>
            <a:off x="1371600" y="338328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666666"/>
                </a:solidFill>
                <a:latin typeface="Arial"/>
                <a:ea typeface="Arial"/>
              </a:rPr>
              <a:t>Why can't we modify strings?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80" name="Text 6"/>
          <p:cNvSpPr/>
          <p:nvPr/>
        </p:nvSpPr>
        <p:spPr>
          <a:xfrm>
            <a:off x="1371600" y="370332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2c3e50"/>
                </a:solidFill>
                <a:latin typeface="Arial"/>
                <a:ea typeface="Arial"/>
              </a:rPr>
              <a:t>Because strings are immutable, they cannot be changed.</a:t>
            </a:r>
            <a:endParaRPr b="0" lang="en-IN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Text 0"/>
          <p:cNvSpPr/>
          <p:nvPr/>
        </p:nvSpPr>
        <p:spPr>
          <a:xfrm>
            <a:off x="457200" y="27432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1e3a5f"/>
                </a:solidFill>
                <a:latin typeface="Arial"/>
                <a:ea typeface="Arial"/>
              </a:rPr>
              <a:t>String Concatenation (+)</a:t>
            </a:r>
            <a:endParaRPr b="0" lang="en-IN" sz="3600" spc="-1" strike="noStrike">
              <a:latin typeface="Arial"/>
            </a:endParaRPr>
          </a:p>
        </p:txBody>
      </p:sp>
      <p:pic>
        <p:nvPicPr>
          <p:cNvPr id="182" name="Image 0" descr="preencoded.png"/>
          <p:cNvPicPr/>
          <p:nvPr/>
        </p:nvPicPr>
        <p:blipFill>
          <a:blip r:embed="rId1"/>
          <a:stretch/>
        </p:blipFill>
        <p:spPr>
          <a:xfrm>
            <a:off x="7772400" y="228600"/>
            <a:ext cx="639360" cy="639360"/>
          </a:xfrm>
          <a:prstGeom prst="rect">
            <a:avLst/>
          </a:prstGeom>
          <a:ln w="0">
            <a:noFill/>
          </a:ln>
        </p:spPr>
      </p:pic>
      <p:sp>
        <p:nvSpPr>
          <p:cNvPr id="183" name="Shape 1"/>
          <p:cNvSpPr/>
          <p:nvPr/>
        </p:nvSpPr>
        <p:spPr>
          <a:xfrm>
            <a:off x="914400" y="1097280"/>
            <a:ext cx="7314480" cy="547920"/>
          </a:xfrm>
          <a:prstGeom prst="rect">
            <a:avLst/>
          </a:prstGeom>
          <a:solidFill>
            <a:srgbClr val="e8f5e9"/>
          </a:solidFill>
          <a:ln w="254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4" name="Text 2"/>
          <p:cNvSpPr/>
          <p:nvPr/>
        </p:nvSpPr>
        <p:spPr>
          <a:xfrm>
            <a:off x="914400" y="1188720"/>
            <a:ext cx="73144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27ae60"/>
                </a:solidFill>
                <a:latin typeface="Arial"/>
                <a:ea typeface="Arial"/>
              </a:rPr>
              <a:t>+ operator combines two or more strings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185" name="Shape 3"/>
          <p:cNvSpPr/>
          <p:nvPr/>
        </p:nvSpPr>
        <p:spPr>
          <a:xfrm>
            <a:off x="1371600" y="1920240"/>
            <a:ext cx="6400080" cy="1370880"/>
          </a:xfrm>
          <a:prstGeom prst="rect">
            <a:avLst/>
          </a:prstGeom>
          <a:solidFill>
            <a:srgbClr val="282c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6" name="Text 4"/>
          <p:cNvSpPr/>
          <p:nvPr/>
        </p:nvSpPr>
        <p:spPr>
          <a:xfrm>
            <a:off x="1554480" y="2057400"/>
            <a:ext cx="603432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greeting = "Hello"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name = "world"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message = greeting + " - " + name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print(message)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# Output: Hello - world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Text 0"/>
          <p:cNvSpPr/>
          <p:nvPr/>
        </p:nvSpPr>
        <p:spPr>
          <a:xfrm>
            <a:off x="457200" y="27432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1e3a5f"/>
                </a:solidFill>
                <a:latin typeface="Arial"/>
                <a:ea typeface="Arial"/>
              </a:rPr>
              <a:t>String Repetition (*)</a:t>
            </a:r>
            <a:endParaRPr b="0" lang="en-IN" sz="3600" spc="-1" strike="noStrike">
              <a:latin typeface="Arial"/>
            </a:endParaRPr>
          </a:p>
        </p:txBody>
      </p:sp>
      <p:pic>
        <p:nvPicPr>
          <p:cNvPr id="188" name="Image 0" descr="preencoded.png"/>
          <p:cNvPicPr/>
          <p:nvPr/>
        </p:nvPicPr>
        <p:blipFill>
          <a:blip r:embed="rId1"/>
          <a:stretch/>
        </p:blipFill>
        <p:spPr>
          <a:xfrm>
            <a:off x="7772400" y="228600"/>
            <a:ext cx="639360" cy="639360"/>
          </a:xfrm>
          <a:prstGeom prst="rect">
            <a:avLst/>
          </a:prstGeom>
          <a:ln w="0">
            <a:noFill/>
          </a:ln>
        </p:spPr>
      </p:pic>
      <p:sp>
        <p:nvSpPr>
          <p:cNvPr id="189" name="Shape 1"/>
          <p:cNvSpPr/>
          <p:nvPr/>
        </p:nvSpPr>
        <p:spPr>
          <a:xfrm>
            <a:off x="914400" y="1097280"/>
            <a:ext cx="7314480" cy="547920"/>
          </a:xfrm>
          <a:prstGeom prst="rect">
            <a:avLst/>
          </a:prstGeom>
          <a:solidFill>
            <a:srgbClr val="fff3e0"/>
          </a:solidFill>
          <a:ln w="25400">
            <a:solidFill>
              <a:srgbClr val="e67e2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0" name="Text 2"/>
          <p:cNvSpPr/>
          <p:nvPr/>
        </p:nvSpPr>
        <p:spPr>
          <a:xfrm>
            <a:off x="914400" y="1188720"/>
            <a:ext cx="73144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e67e22"/>
                </a:solidFill>
                <a:latin typeface="Arial"/>
                <a:ea typeface="Arial"/>
              </a:rPr>
              <a:t>* operator repeats string multiple times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191" name="Shape 3"/>
          <p:cNvSpPr/>
          <p:nvPr/>
        </p:nvSpPr>
        <p:spPr>
          <a:xfrm>
            <a:off x="1371600" y="1920240"/>
            <a:ext cx="6400080" cy="1096560"/>
          </a:xfrm>
          <a:prstGeom prst="rect">
            <a:avLst/>
          </a:prstGeom>
          <a:solidFill>
            <a:srgbClr val="282c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2" name="Text 4"/>
          <p:cNvSpPr/>
          <p:nvPr/>
        </p:nvSpPr>
        <p:spPr>
          <a:xfrm>
            <a:off x="1554480" y="2057400"/>
            <a:ext cx="60343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word = "Hi"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repeated_word = word * 3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print(repeated_word)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# Output: HiHiHi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Text 0"/>
          <p:cNvSpPr/>
          <p:nvPr/>
        </p:nvSpPr>
        <p:spPr>
          <a:xfrm>
            <a:off x="457200" y="27432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1e3a5f"/>
                </a:solidFill>
                <a:latin typeface="Arial"/>
                <a:ea typeface="Arial"/>
              </a:rPr>
              <a:t>Membership Testing (in / not in)</a:t>
            </a:r>
            <a:endParaRPr b="0" lang="en-IN" sz="3600" spc="-1" strike="noStrike">
              <a:latin typeface="Arial"/>
            </a:endParaRPr>
          </a:p>
        </p:txBody>
      </p:sp>
      <p:pic>
        <p:nvPicPr>
          <p:cNvPr id="194" name="Image 0" descr="preencoded.png"/>
          <p:cNvPicPr/>
          <p:nvPr/>
        </p:nvPicPr>
        <p:blipFill>
          <a:blip r:embed="rId1"/>
          <a:stretch/>
        </p:blipFill>
        <p:spPr>
          <a:xfrm>
            <a:off x="7772400" y="228600"/>
            <a:ext cx="639360" cy="639360"/>
          </a:xfrm>
          <a:prstGeom prst="rect">
            <a:avLst/>
          </a:prstGeom>
          <a:ln w="0">
            <a:noFill/>
          </a:ln>
        </p:spPr>
      </p:pic>
      <p:sp>
        <p:nvSpPr>
          <p:cNvPr id="195" name="Shape 1"/>
          <p:cNvSpPr/>
          <p:nvPr/>
        </p:nvSpPr>
        <p:spPr>
          <a:xfrm>
            <a:off x="914400" y="1097280"/>
            <a:ext cx="7314480" cy="547920"/>
          </a:xfrm>
          <a:prstGeom prst="rect">
            <a:avLst/>
          </a:prstGeom>
          <a:solidFill>
            <a:srgbClr val="e3f2fd"/>
          </a:solidFill>
          <a:ln w="25400">
            <a:solidFill>
              <a:srgbClr val="30699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6" name="Text 2"/>
          <p:cNvSpPr/>
          <p:nvPr/>
        </p:nvSpPr>
        <p:spPr>
          <a:xfrm>
            <a:off x="914400" y="1188720"/>
            <a:ext cx="73144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306998"/>
                </a:solidFill>
                <a:latin typeface="Arial"/>
                <a:ea typeface="Arial"/>
              </a:rPr>
              <a:t>Check if substring exists using 'in' and 'not in'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197" name="Shape 3"/>
          <p:cNvSpPr/>
          <p:nvPr/>
        </p:nvSpPr>
        <p:spPr>
          <a:xfrm>
            <a:off x="914400" y="1920240"/>
            <a:ext cx="7314480" cy="2285280"/>
          </a:xfrm>
          <a:prstGeom prst="rect">
            <a:avLst/>
          </a:prstGeom>
          <a:solidFill>
            <a:srgbClr val="282c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8" name="Text 4"/>
          <p:cNvSpPr/>
          <p:nvPr/>
        </p:nvSpPr>
        <p:spPr>
          <a:xfrm>
            <a:off x="1097280" y="2057400"/>
            <a:ext cx="6948720" cy="201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text = "Python Programming"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print("Python" in text)      # True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print("Java" in text)        # False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print("Python" not in text)  # False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print("Java" not in text)    # True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Text 0"/>
          <p:cNvSpPr/>
          <p:nvPr/>
        </p:nvSpPr>
        <p:spPr>
          <a:xfrm>
            <a:off x="457200" y="27432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1e3a5f"/>
                </a:solidFill>
                <a:latin typeface="Arial"/>
                <a:ea typeface="Arial"/>
              </a:rPr>
              <a:t>Built-in String Functions</a:t>
            </a:r>
            <a:endParaRPr b="0" lang="en-IN" sz="3600" spc="-1" strike="noStrike">
              <a:latin typeface="Arial"/>
            </a:endParaRPr>
          </a:p>
        </p:txBody>
      </p:sp>
      <p:pic>
        <p:nvPicPr>
          <p:cNvPr id="200" name="Image 0" descr="preencoded.png"/>
          <p:cNvPicPr/>
          <p:nvPr/>
        </p:nvPicPr>
        <p:blipFill>
          <a:blip r:embed="rId1"/>
          <a:stretch/>
        </p:blipFill>
        <p:spPr>
          <a:xfrm>
            <a:off x="7772400" y="228600"/>
            <a:ext cx="639360" cy="639360"/>
          </a:xfrm>
          <a:prstGeom prst="rect">
            <a:avLst/>
          </a:prstGeom>
          <a:ln w="0">
            <a:noFill/>
          </a:ln>
        </p:spPr>
      </p:pic>
      <p:sp>
        <p:nvSpPr>
          <p:cNvPr id="201" name="Shape 1"/>
          <p:cNvSpPr/>
          <p:nvPr/>
        </p:nvSpPr>
        <p:spPr>
          <a:xfrm>
            <a:off x="914400" y="1280160"/>
            <a:ext cx="7314480" cy="1005120"/>
          </a:xfrm>
          <a:prstGeom prst="rect">
            <a:avLst/>
          </a:prstGeom>
          <a:solidFill>
            <a:srgbClr val="f5f5f5"/>
          </a:solidFill>
          <a:ln w="25400">
            <a:solidFill>
              <a:srgbClr val="30699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2" name="Text 2"/>
          <p:cNvSpPr/>
          <p:nvPr/>
        </p:nvSpPr>
        <p:spPr>
          <a:xfrm>
            <a:off x="1188720" y="1417320"/>
            <a:ext cx="1828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306998"/>
                </a:solidFill>
                <a:latin typeface="Courier New"/>
                <a:ea typeface="Courier New"/>
              </a:rPr>
              <a:t>len()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203" name="Text 3"/>
          <p:cNvSpPr/>
          <p:nvPr/>
        </p:nvSpPr>
        <p:spPr>
          <a:xfrm>
            <a:off x="3200400" y="1417320"/>
            <a:ext cx="47541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2c3e50"/>
                </a:solidFill>
                <a:latin typeface="Arial"/>
                <a:ea typeface="Arial"/>
              </a:rPr>
              <a:t>Returns the length of string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04" name="Shape 4"/>
          <p:cNvSpPr/>
          <p:nvPr/>
        </p:nvSpPr>
        <p:spPr>
          <a:xfrm>
            <a:off x="3200400" y="1737360"/>
            <a:ext cx="4754160" cy="456480"/>
          </a:xfrm>
          <a:prstGeom prst="rect">
            <a:avLst/>
          </a:prstGeom>
          <a:solidFill>
            <a:srgbClr val="282c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5" name="Text 5"/>
          <p:cNvSpPr/>
          <p:nvPr/>
        </p:nvSpPr>
        <p:spPr>
          <a:xfrm>
            <a:off x="3291840" y="1828800"/>
            <a:ext cx="4571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name = "hello"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print(len(name))  # 5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06" name="Shape 6"/>
          <p:cNvSpPr/>
          <p:nvPr/>
        </p:nvSpPr>
        <p:spPr>
          <a:xfrm>
            <a:off x="914400" y="2423160"/>
            <a:ext cx="7314480" cy="1005120"/>
          </a:xfrm>
          <a:prstGeom prst="rect">
            <a:avLst/>
          </a:prstGeom>
          <a:solidFill>
            <a:srgbClr val="f5f5f5"/>
          </a:solidFill>
          <a:ln w="25400">
            <a:solidFill>
              <a:srgbClr val="30699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7" name="Text 7"/>
          <p:cNvSpPr/>
          <p:nvPr/>
        </p:nvSpPr>
        <p:spPr>
          <a:xfrm>
            <a:off x="1188720" y="2560320"/>
            <a:ext cx="1828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306998"/>
                </a:solidFill>
                <a:latin typeface="Courier New"/>
                <a:ea typeface="Courier New"/>
              </a:rPr>
              <a:t>min()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208" name="Text 8"/>
          <p:cNvSpPr/>
          <p:nvPr/>
        </p:nvSpPr>
        <p:spPr>
          <a:xfrm>
            <a:off x="3200400" y="2560320"/>
            <a:ext cx="47541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2c3e50"/>
                </a:solidFill>
                <a:latin typeface="Arial"/>
                <a:ea typeface="Arial"/>
              </a:rPr>
              <a:t>Returns smallest character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09" name="Shape 9"/>
          <p:cNvSpPr/>
          <p:nvPr/>
        </p:nvSpPr>
        <p:spPr>
          <a:xfrm>
            <a:off x="3200400" y="2880360"/>
            <a:ext cx="4754160" cy="456480"/>
          </a:xfrm>
          <a:prstGeom prst="rect">
            <a:avLst/>
          </a:prstGeom>
          <a:solidFill>
            <a:srgbClr val="282c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0" name="Text 10"/>
          <p:cNvSpPr/>
          <p:nvPr/>
        </p:nvSpPr>
        <p:spPr>
          <a:xfrm>
            <a:off x="3291840" y="2971800"/>
            <a:ext cx="4571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name = "hello"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print(min(name))  # "e"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11" name="Shape 11"/>
          <p:cNvSpPr/>
          <p:nvPr/>
        </p:nvSpPr>
        <p:spPr>
          <a:xfrm>
            <a:off x="914400" y="3566160"/>
            <a:ext cx="7314480" cy="1005120"/>
          </a:xfrm>
          <a:prstGeom prst="rect">
            <a:avLst/>
          </a:prstGeom>
          <a:solidFill>
            <a:srgbClr val="f5f5f5"/>
          </a:solidFill>
          <a:ln w="25400">
            <a:solidFill>
              <a:srgbClr val="30699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2" name="Text 12"/>
          <p:cNvSpPr/>
          <p:nvPr/>
        </p:nvSpPr>
        <p:spPr>
          <a:xfrm>
            <a:off x="1188720" y="3703320"/>
            <a:ext cx="1828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306998"/>
                </a:solidFill>
                <a:latin typeface="Courier New"/>
                <a:ea typeface="Courier New"/>
              </a:rPr>
              <a:t>max()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213" name="Text 13"/>
          <p:cNvSpPr/>
          <p:nvPr/>
        </p:nvSpPr>
        <p:spPr>
          <a:xfrm>
            <a:off x="3200400" y="3703320"/>
            <a:ext cx="47541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2c3e50"/>
                </a:solidFill>
                <a:latin typeface="Arial"/>
                <a:ea typeface="Arial"/>
              </a:rPr>
              <a:t>Returns largest character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14" name="Shape 14"/>
          <p:cNvSpPr/>
          <p:nvPr/>
        </p:nvSpPr>
        <p:spPr>
          <a:xfrm>
            <a:off x="3200400" y="4023360"/>
            <a:ext cx="4754160" cy="456480"/>
          </a:xfrm>
          <a:prstGeom prst="rect">
            <a:avLst/>
          </a:prstGeom>
          <a:solidFill>
            <a:srgbClr val="282c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5" name="Text 15"/>
          <p:cNvSpPr/>
          <p:nvPr/>
        </p:nvSpPr>
        <p:spPr>
          <a:xfrm>
            <a:off x="3291840" y="4114800"/>
            <a:ext cx="4571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name = "hello"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print(max(name))  # "o"</a:t>
            </a: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Text 0"/>
          <p:cNvSpPr/>
          <p:nvPr/>
        </p:nvSpPr>
        <p:spPr>
          <a:xfrm>
            <a:off x="457200" y="27432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1e3a5f"/>
                </a:solidFill>
                <a:latin typeface="Arial"/>
                <a:ea typeface="Arial"/>
              </a:rPr>
              <a:t>String Methods</a:t>
            </a:r>
            <a:endParaRPr b="0" lang="en-IN" sz="3600" spc="-1" strike="noStrike">
              <a:latin typeface="Arial"/>
            </a:endParaRPr>
          </a:p>
        </p:txBody>
      </p:sp>
      <p:pic>
        <p:nvPicPr>
          <p:cNvPr id="217" name="Image 0" descr="preencoded.png"/>
          <p:cNvPicPr/>
          <p:nvPr/>
        </p:nvPicPr>
        <p:blipFill>
          <a:blip r:embed="rId1"/>
          <a:stretch/>
        </p:blipFill>
        <p:spPr>
          <a:xfrm>
            <a:off x="7772400" y="228600"/>
            <a:ext cx="639360" cy="639360"/>
          </a:xfrm>
          <a:prstGeom prst="rect">
            <a:avLst/>
          </a:prstGeom>
          <a:ln w="0">
            <a:noFill/>
          </a:ln>
        </p:spPr>
      </p:pic>
      <p:sp>
        <p:nvSpPr>
          <p:cNvPr id="218" name="Shape 1"/>
          <p:cNvSpPr/>
          <p:nvPr/>
        </p:nvSpPr>
        <p:spPr>
          <a:xfrm>
            <a:off x="914400" y="1097280"/>
            <a:ext cx="7314480" cy="547920"/>
          </a:xfrm>
          <a:prstGeom prst="rect">
            <a:avLst/>
          </a:prstGeom>
          <a:solidFill>
            <a:srgbClr val="fff3e0"/>
          </a:solidFill>
          <a:ln w="25400">
            <a:solidFill>
              <a:srgbClr val="e67e2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9" name="Text 2"/>
          <p:cNvSpPr/>
          <p:nvPr/>
        </p:nvSpPr>
        <p:spPr>
          <a:xfrm>
            <a:off x="914400" y="1188720"/>
            <a:ext cx="73144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e67e22"/>
                </a:solidFill>
                <a:latin typeface="Arial"/>
                <a:ea typeface="Arial"/>
              </a:rPr>
              <a:t>String methods allow accessing and modifying string behavior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220" name="Text 3"/>
          <p:cNvSpPr/>
          <p:nvPr/>
        </p:nvSpPr>
        <p:spPr>
          <a:xfrm>
            <a:off x="1371600" y="192024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666666"/>
                </a:solidFill>
                <a:latin typeface="Arial"/>
                <a:ea typeface="Arial"/>
              </a:rPr>
              <a:t>Methods are called using dot (.) notation: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21" name="Shape 4"/>
          <p:cNvSpPr/>
          <p:nvPr/>
        </p:nvSpPr>
        <p:spPr>
          <a:xfrm>
            <a:off x="1828800" y="2377440"/>
            <a:ext cx="5485680" cy="639360"/>
          </a:xfrm>
          <a:prstGeom prst="rect">
            <a:avLst/>
          </a:prstGeom>
          <a:solidFill>
            <a:srgbClr val="282c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2" name="Text 5"/>
          <p:cNvSpPr/>
          <p:nvPr/>
        </p:nvSpPr>
        <p:spPr>
          <a:xfrm>
            <a:off x="2011680" y="2514600"/>
            <a:ext cx="51199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str1 = "Jai Ganesh"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str1.upper()  # Syntax for calling method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23" name="Text 6"/>
          <p:cNvSpPr/>
          <p:nvPr/>
        </p:nvSpPr>
        <p:spPr>
          <a:xfrm>
            <a:off x="1371600" y="320040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666666"/>
                </a:solidFill>
                <a:latin typeface="Arial"/>
                <a:ea typeface="Arial"/>
              </a:rPr>
              <a:t>Common categories of string methods: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24" name="Text 7"/>
          <p:cNvSpPr/>
          <p:nvPr/>
        </p:nvSpPr>
        <p:spPr>
          <a:xfrm>
            <a:off x="1828800" y="3566160"/>
            <a:ext cx="54856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2c3e50"/>
                </a:solidFill>
                <a:latin typeface="Arial"/>
                <a:ea typeface="Arial"/>
              </a:rPr>
              <a:t>• </a:t>
            </a:r>
            <a:r>
              <a:rPr b="0" lang="en-US" sz="1300" spc="-1" strike="noStrike">
                <a:solidFill>
                  <a:srgbClr val="2c3e50"/>
                </a:solidFill>
                <a:latin typeface="Arial"/>
                <a:ea typeface="Arial"/>
              </a:rPr>
              <a:t>Content Testing (isalpha, isdigit, etc.)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25" name="Text 8"/>
          <p:cNvSpPr/>
          <p:nvPr/>
        </p:nvSpPr>
        <p:spPr>
          <a:xfrm>
            <a:off x="1828800" y="3886200"/>
            <a:ext cx="54856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2c3e50"/>
                </a:solidFill>
                <a:latin typeface="Arial"/>
                <a:ea typeface="Arial"/>
              </a:rPr>
              <a:t>• </a:t>
            </a:r>
            <a:r>
              <a:rPr b="0" lang="en-US" sz="1300" spc="-1" strike="noStrike">
                <a:solidFill>
                  <a:srgbClr val="2c3e50"/>
                </a:solidFill>
                <a:latin typeface="Arial"/>
                <a:ea typeface="Arial"/>
              </a:rPr>
              <a:t>Search &amp; Replace (find, replace)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26" name="Text 9"/>
          <p:cNvSpPr/>
          <p:nvPr/>
        </p:nvSpPr>
        <p:spPr>
          <a:xfrm>
            <a:off x="1828800" y="4206240"/>
            <a:ext cx="54856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2c3e50"/>
                </a:solidFill>
                <a:latin typeface="Arial"/>
                <a:ea typeface="Arial"/>
              </a:rPr>
              <a:t>• </a:t>
            </a:r>
            <a:r>
              <a:rPr b="0" lang="en-US" sz="1300" spc="-1" strike="noStrike">
                <a:solidFill>
                  <a:srgbClr val="2c3e50"/>
                </a:solidFill>
                <a:latin typeface="Arial"/>
                <a:ea typeface="Arial"/>
              </a:rPr>
              <a:t>Trimming (strip, lstrip, rstrip)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27" name="Text 10"/>
          <p:cNvSpPr/>
          <p:nvPr/>
        </p:nvSpPr>
        <p:spPr>
          <a:xfrm>
            <a:off x="1828800" y="4526280"/>
            <a:ext cx="54856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2c3e50"/>
                </a:solidFill>
                <a:latin typeface="Arial"/>
                <a:ea typeface="Arial"/>
              </a:rPr>
              <a:t>• </a:t>
            </a:r>
            <a:r>
              <a:rPr b="0" lang="en-US" sz="1300" spc="-1" strike="noStrike">
                <a:solidFill>
                  <a:srgbClr val="2c3e50"/>
                </a:solidFill>
                <a:latin typeface="Arial"/>
                <a:ea typeface="Arial"/>
              </a:rPr>
              <a:t>Splitting (split, partition)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28" name="Text 11"/>
          <p:cNvSpPr/>
          <p:nvPr/>
        </p:nvSpPr>
        <p:spPr>
          <a:xfrm>
            <a:off x="1828800" y="4846320"/>
            <a:ext cx="54856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2c3e50"/>
                </a:solidFill>
                <a:latin typeface="Arial"/>
                <a:ea typeface="Arial"/>
              </a:rPr>
              <a:t>• </a:t>
            </a:r>
            <a:r>
              <a:rPr b="0" lang="en-US" sz="1300" spc="-1" strike="noStrike">
                <a:solidFill>
                  <a:srgbClr val="2c3e50"/>
                </a:solidFill>
                <a:latin typeface="Arial"/>
                <a:ea typeface="Arial"/>
              </a:rPr>
              <a:t>Case Conversion (upper, lower, etc.)</a:t>
            </a:r>
            <a:endParaRPr b="0" lang="en-IN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Text 0"/>
          <p:cNvSpPr/>
          <p:nvPr/>
        </p:nvSpPr>
        <p:spPr>
          <a:xfrm>
            <a:off x="457200" y="27432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1e3a5f"/>
                </a:solidFill>
                <a:latin typeface="Arial"/>
                <a:ea typeface="Arial"/>
              </a:rPr>
              <a:t>String Content Test Methods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230" name="Shape 1"/>
          <p:cNvSpPr/>
          <p:nvPr/>
        </p:nvSpPr>
        <p:spPr>
          <a:xfrm>
            <a:off x="914400" y="1188720"/>
            <a:ext cx="7314480" cy="456480"/>
          </a:xfrm>
          <a:prstGeom prst="rect">
            <a:avLst/>
          </a:prstGeom>
          <a:solidFill>
            <a:srgbClr val="f5f5f5"/>
          </a:solidFill>
          <a:ln w="127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1" name="Text 2"/>
          <p:cNvSpPr/>
          <p:nvPr/>
        </p:nvSpPr>
        <p:spPr>
          <a:xfrm>
            <a:off x="1188720" y="1280160"/>
            <a:ext cx="2285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27ae60"/>
                </a:solidFill>
                <a:latin typeface="Courier New"/>
                <a:ea typeface="Courier New"/>
              </a:rPr>
              <a:t>isalpha()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32" name="Text 3"/>
          <p:cNvSpPr/>
          <p:nvPr/>
        </p:nvSpPr>
        <p:spPr>
          <a:xfrm>
            <a:off x="3657600" y="1280160"/>
            <a:ext cx="43884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2c3e50"/>
                </a:solidFill>
                <a:latin typeface="Arial"/>
                <a:ea typeface="Arial"/>
              </a:rPr>
              <a:t>Checks if all characters are alphabets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33" name="Shape 4"/>
          <p:cNvSpPr/>
          <p:nvPr/>
        </p:nvSpPr>
        <p:spPr>
          <a:xfrm>
            <a:off x="914400" y="1691640"/>
            <a:ext cx="7314480" cy="456480"/>
          </a:xfrm>
          <a:prstGeom prst="rect">
            <a:avLst/>
          </a:prstGeom>
          <a:solidFill>
            <a:srgbClr val="f5f5f5"/>
          </a:solidFill>
          <a:ln w="127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4" name="Text 5"/>
          <p:cNvSpPr/>
          <p:nvPr/>
        </p:nvSpPr>
        <p:spPr>
          <a:xfrm>
            <a:off x="1188720" y="1783080"/>
            <a:ext cx="2285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27ae60"/>
                </a:solidFill>
                <a:latin typeface="Courier New"/>
                <a:ea typeface="Courier New"/>
              </a:rPr>
              <a:t>isdigit()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35" name="Text 6"/>
          <p:cNvSpPr/>
          <p:nvPr/>
        </p:nvSpPr>
        <p:spPr>
          <a:xfrm>
            <a:off x="3657600" y="1783080"/>
            <a:ext cx="43884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2c3e50"/>
                </a:solidFill>
                <a:latin typeface="Arial"/>
                <a:ea typeface="Arial"/>
              </a:rPr>
              <a:t>Checks if all characters are digits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36" name="Shape 7"/>
          <p:cNvSpPr/>
          <p:nvPr/>
        </p:nvSpPr>
        <p:spPr>
          <a:xfrm>
            <a:off x="914400" y="2194560"/>
            <a:ext cx="7314480" cy="456480"/>
          </a:xfrm>
          <a:prstGeom prst="rect">
            <a:avLst/>
          </a:prstGeom>
          <a:solidFill>
            <a:srgbClr val="f5f5f5"/>
          </a:solidFill>
          <a:ln w="127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7" name="Text 8"/>
          <p:cNvSpPr/>
          <p:nvPr/>
        </p:nvSpPr>
        <p:spPr>
          <a:xfrm>
            <a:off x="1188720" y="2286000"/>
            <a:ext cx="2285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27ae60"/>
                </a:solidFill>
                <a:latin typeface="Courier New"/>
                <a:ea typeface="Courier New"/>
              </a:rPr>
              <a:t>isalnum()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38" name="Text 9"/>
          <p:cNvSpPr/>
          <p:nvPr/>
        </p:nvSpPr>
        <p:spPr>
          <a:xfrm>
            <a:off x="3657600" y="2286000"/>
            <a:ext cx="43884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2c3e50"/>
                </a:solidFill>
                <a:latin typeface="Arial"/>
                <a:ea typeface="Arial"/>
              </a:rPr>
              <a:t>Checks if all are alphabets or digits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39" name="Shape 10"/>
          <p:cNvSpPr/>
          <p:nvPr/>
        </p:nvSpPr>
        <p:spPr>
          <a:xfrm>
            <a:off x="914400" y="2697480"/>
            <a:ext cx="7314480" cy="456480"/>
          </a:xfrm>
          <a:prstGeom prst="rect">
            <a:avLst/>
          </a:prstGeom>
          <a:solidFill>
            <a:srgbClr val="f5f5f5"/>
          </a:solidFill>
          <a:ln w="127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0" name="Text 11"/>
          <p:cNvSpPr/>
          <p:nvPr/>
        </p:nvSpPr>
        <p:spPr>
          <a:xfrm>
            <a:off x="1188720" y="2788920"/>
            <a:ext cx="2285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27ae60"/>
                </a:solidFill>
                <a:latin typeface="Courier New"/>
                <a:ea typeface="Courier New"/>
              </a:rPr>
              <a:t>islower()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41" name="Text 12"/>
          <p:cNvSpPr/>
          <p:nvPr/>
        </p:nvSpPr>
        <p:spPr>
          <a:xfrm>
            <a:off x="3657600" y="2788920"/>
            <a:ext cx="43884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2c3e50"/>
                </a:solidFill>
                <a:latin typeface="Arial"/>
                <a:ea typeface="Arial"/>
              </a:rPr>
              <a:t>Checks if all characters are lowercase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42" name="Shape 13"/>
          <p:cNvSpPr/>
          <p:nvPr/>
        </p:nvSpPr>
        <p:spPr>
          <a:xfrm>
            <a:off x="914400" y="3200400"/>
            <a:ext cx="7314480" cy="456480"/>
          </a:xfrm>
          <a:prstGeom prst="rect">
            <a:avLst/>
          </a:prstGeom>
          <a:solidFill>
            <a:srgbClr val="f5f5f5"/>
          </a:solidFill>
          <a:ln w="127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3" name="Text 14"/>
          <p:cNvSpPr/>
          <p:nvPr/>
        </p:nvSpPr>
        <p:spPr>
          <a:xfrm>
            <a:off x="1188720" y="3291840"/>
            <a:ext cx="2285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27ae60"/>
                </a:solidFill>
                <a:latin typeface="Courier New"/>
                <a:ea typeface="Courier New"/>
              </a:rPr>
              <a:t>isupper()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44" name="Text 15"/>
          <p:cNvSpPr/>
          <p:nvPr/>
        </p:nvSpPr>
        <p:spPr>
          <a:xfrm>
            <a:off x="3657600" y="3291840"/>
            <a:ext cx="43884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2c3e50"/>
                </a:solidFill>
                <a:latin typeface="Arial"/>
                <a:ea typeface="Arial"/>
              </a:rPr>
              <a:t>Checks if all characters are uppercase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45" name="Shape 16"/>
          <p:cNvSpPr/>
          <p:nvPr/>
        </p:nvSpPr>
        <p:spPr>
          <a:xfrm>
            <a:off x="914400" y="3703320"/>
            <a:ext cx="7314480" cy="456480"/>
          </a:xfrm>
          <a:prstGeom prst="rect">
            <a:avLst/>
          </a:prstGeom>
          <a:solidFill>
            <a:srgbClr val="f5f5f5"/>
          </a:solidFill>
          <a:ln w="127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6" name="Text 17"/>
          <p:cNvSpPr/>
          <p:nvPr/>
        </p:nvSpPr>
        <p:spPr>
          <a:xfrm>
            <a:off x="1188720" y="3794760"/>
            <a:ext cx="2285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27ae60"/>
                </a:solidFill>
                <a:latin typeface="Courier New"/>
                <a:ea typeface="Courier New"/>
              </a:rPr>
              <a:t>startswith()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47" name="Text 18"/>
          <p:cNvSpPr/>
          <p:nvPr/>
        </p:nvSpPr>
        <p:spPr>
          <a:xfrm>
            <a:off x="3657600" y="3794760"/>
            <a:ext cx="43884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2c3e50"/>
                </a:solidFill>
                <a:latin typeface="Arial"/>
                <a:ea typeface="Arial"/>
              </a:rPr>
              <a:t>Checks if string starts with value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48" name="Shape 19"/>
          <p:cNvSpPr/>
          <p:nvPr/>
        </p:nvSpPr>
        <p:spPr>
          <a:xfrm>
            <a:off x="914400" y="4206240"/>
            <a:ext cx="7314480" cy="456480"/>
          </a:xfrm>
          <a:prstGeom prst="rect">
            <a:avLst/>
          </a:prstGeom>
          <a:solidFill>
            <a:srgbClr val="f5f5f5"/>
          </a:solidFill>
          <a:ln w="127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9" name="Text 20"/>
          <p:cNvSpPr/>
          <p:nvPr/>
        </p:nvSpPr>
        <p:spPr>
          <a:xfrm>
            <a:off x="1188720" y="4297680"/>
            <a:ext cx="2285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27ae60"/>
                </a:solidFill>
                <a:latin typeface="Courier New"/>
                <a:ea typeface="Courier New"/>
              </a:rPr>
              <a:t>endswith()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50" name="Text 21"/>
          <p:cNvSpPr/>
          <p:nvPr/>
        </p:nvSpPr>
        <p:spPr>
          <a:xfrm>
            <a:off x="3657600" y="4297680"/>
            <a:ext cx="43884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2c3e50"/>
                </a:solidFill>
                <a:latin typeface="Arial"/>
                <a:ea typeface="Arial"/>
              </a:rPr>
              <a:t>Checks if string ends with value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Text 0"/>
          <p:cNvSpPr/>
          <p:nvPr/>
        </p:nvSpPr>
        <p:spPr>
          <a:xfrm>
            <a:off x="457200" y="27432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1e3a5f"/>
                </a:solidFill>
                <a:latin typeface="Arial"/>
                <a:ea typeface="Arial"/>
              </a:rPr>
              <a:t>Content Test Methods - Examples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252" name="Shape 1"/>
          <p:cNvSpPr/>
          <p:nvPr/>
        </p:nvSpPr>
        <p:spPr>
          <a:xfrm>
            <a:off x="731520" y="1097280"/>
            <a:ext cx="7680240" cy="3291120"/>
          </a:xfrm>
          <a:prstGeom prst="rect">
            <a:avLst/>
          </a:prstGeom>
          <a:solidFill>
            <a:srgbClr val="282c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53" name="Text 2"/>
          <p:cNvSpPr/>
          <p:nvPr/>
        </p:nvSpPr>
        <p:spPr>
          <a:xfrm>
            <a:off x="914400" y="1234440"/>
            <a:ext cx="7314480" cy="30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string1 = "Helloworld"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string2 = "12345"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string3 = "Hello123"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string4 = " "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string5 = "hello"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string6 = "HELLO"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string7 = "Hello World"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string8 = "hello_world"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print(string1.isalpha())  # True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print(string2.isdigit())  # True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print(string3.isalnum())  # True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print(string5.islower())  # True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print(string6.isupper())  # True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print(string7.startswith("Hello"))  # True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print(string8.endswith("world"))    # True</a:t>
            </a: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Text 0"/>
          <p:cNvSpPr/>
          <p:nvPr/>
        </p:nvSpPr>
        <p:spPr>
          <a:xfrm>
            <a:off x="457200" y="27432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1e3a5f"/>
                </a:solidFill>
                <a:latin typeface="Arial"/>
                <a:ea typeface="Arial"/>
              </a:rPr>
              <a:t>Search Method: find()</a:t>
            </a:r>
            <a:endParaRPr b="0" lang="en-IN" sz="3600" spc="-1" strike="noStrike">
              <a:latin typeface="Arial"/>
            </a:endParaRPr>
          </a:p>
        </p:txBody>
      </p:sp>
      <p:pic>
        <p:nvPicPr>
          <p:cNvPr id="255" name="Image 0" descr="preencoded.png"/>
          <p:cNvPicPr/>
          <p:nvPr/>
        </p:nvPicPr>
        <p:blipFill>
          <a:blip r:embed="rId1"/>
          <a:stretch/>
        </p:blipFill>
        <p:spPr>
          <a:xfrm>
            <a:off x="7772400" y="228600"/>
            <a:ext cx="639360" cy="639360"/>
          </a:xfrm>
          <a:prstGeom prst="rect">
            <a:avLst/>
          </a:prstGeom>
          <a:ln w="0">
            <a:noFill/>
          </a:ln>
        </p:spPr>
      </p:pic>
      <p:sp>
        <p:nvSpPr>
          <p:cNvPr id="256" name="Shape 1"/>
          <p:cNvSpPr/>
          <p:nvPr/>
        </p:nvSpPr>
        <p:spPr>
          <a:xfrm>
            <a:off x="914400" y="1097280"/>
            <a:ext cx="7314480" cy="639360"/>
          </a:xfrm>
          <a:prstGeom prst="rect">
            <a:avLst/>
          </a:prstGeom>
          <a:solidFill>
            <a:srgbClr val="e3f2fd"/>
          </a:solidFill>
          <a:ln w="25400">
            <a:solidFill>
              <a:srgbClr val="30699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7" name="Text 2"/>
          <p:cNvSpPr/>
          <p:nvPr/>
        </p:nvSpPr>
        <p:spPr>
          <a:xfrm>
            <a:off x="914400" y="1188720"/>
            <a:ext cx="73144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306998"/>
                </a:solidFill>
                <a:latin typeface="Arial"/>
                <a:ea typeface="Arial"/>
              </a:rPr>
              <a:t>find() - Returns lowest index of substring,</a:t>
            </a:r>
            <a:endParaRPr b="0" lang="en-IN" sz="15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306998"/>
                </a:solidFill>
                <a:latin typeface="Arial"/>
                <a:ea typeface="Arial"/>
              </a:rPr>
              <a:t>or -1 if not found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258" name="Shape 3"/>
          <p:cNvSpPr/>
          <p:nvPr/>
        </p:nvSpPr>
        <p:spPr>
          <a:xfrm>
            <a:off x="1371600" y="2011680"/>
            <a:ext cx="6400080" cy="2193840"/>
          </a:xfrm>
          <a:prstGeom prst="rect">
            <a:avLst/>
          </a:prstGeom>
          <a:solidFill>
            <a:srgbClr val="282c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59" name="Text 4"/>
          <p:cNvSpPr/>
          <p:nvPr/>
        </p:nvSpPr>
        <p:spPr>
          <a:xfrm>
            <a:off x="1554480" y="2148840"/>
            <a:ext cx="6034320" cy="191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text = "Hello, welcome to python programming!"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# Find substring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index = text.find("python")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print(index)  # 18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# Not found returns -1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index = text.find("Java")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print(index)  # -1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Text 0"/>
          <p:cNvSpPr/>
          <p:nvPr/>
        </p:nvSpPr>
        <p:spPr>
          <a:xfrm>
            <a:off x="457200" y="27432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1e3a5f"/>
                </a:solidFill>
                <a:latin typeface="Arial"/>
                <a:ea typeface="Arial"/>
              </a:rPr>
              <a:t>Replace Method: replace()</a:t>
            </a:r>
            <a:endParaRPr b="0" lang="en-IN" sz="3600" spc="-1" strike="noStrike">
              <a:latin typeface="Arial"/>
            </a:endParaRPr>
          </a:p>
        </p:txBody>
      </p:sp>
      <p:pic>
        <p:nvPicPr>
          <p:cNvPr id="261" name="Image 0" descr="preencoded.png"/>
          <p:cNvPicPr/>
          <p:nvPr/>
        </p:nvPicPr>
        <p:blipFill>
          <a:blip r:embed="rId1"/>
          <a:stretch/>
        </p:blipFill>
        <p:spPr>
          <a:xfrm>
            <a:off x="7772400" y="228600"/>
            <a:ext cx="639360" cy="639360"/>
          </a:xfrm>
          <a:prstGeom prst="rect">
            <a:avLst/>
          </a:prstGeom>
          <a:ln w="0">
            <a:noFill/>
          </a:ln>
        </p:spPr>
      </p:pic>
      <p:sp>
        <p:nvSpPr>
          <p:cNvPr id="262" name="Shape 1"/>
          <p:cNvSpPr/>
          <p:nvPr/>
        </p:nvSpPr>
        <p:spPr>
          <a:xfrm>
            <a:off x="914400" y="1097280"/>
            <a:ext cx="7314480" cy="547920"/>
          </a:xfrm>
          <a:prstGeom prst="rect">
            <a:avLst/>
          </a:prstGeom>
          <a:solidFill>
            <a:srgbClr val="e8f5e9"/>
          </a:solidFill>
          <a:ln w="254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3" name="Text 2"/>
          <p:cNvSpPr/>
          <p:nvPr/>
        </p:nvSpPr>
        <p:spPr>
          <a:xfrm>
            <a:off x="914400" y="1188720"/>
            <a:ext cx="73144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27ae60"/>
                </a:solidFill>
                <a:latin typeface="Arial"/>
                <a:ea typeface="Arial"/>
              </a:rPr>
              <a:t>replace() - Replaces old substring with new substring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264" name="Shape 3"/>
          <p:cNvSpPr/>
          <p:nvPr/>
        </p:nvSpPr>
        <p:spPr>
          <a:xfrm>
            <a:off x="1371600" y="1920240"/>
            <a:ext cx="6400080" cy="1645200"/>
          </a:xfrm>
          <a:prstGeom prst="rect">
            <a:avLst/>
          </a:prstGeom>
          <a:solidFill>
            <a:srgbClr val="282c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65" name="Text 4"/>
          <p:cNvSpPr/>
          <p:nvPr/>
        </p:nvSpPr>
        <p:spPr>
          <a:xfrm>
            <a:off x="1554480" y="2057400"/>
            <a:ext cx="6034320" cy="137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text = "Hello, welcome to Python programming"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new_text = text.replace("Python", "Java")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print(new_text)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# Output: Hello, welcome to Java programming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Text 0"/>
          <p:cNvSpPr/>
          <p:nvPr/>
        </p:nvSpPr>
        <p:spPr>
          <a:xfrm>
            <a:off x="457200" y="27432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1e3a5f"/>
                </a:solidFill>
                <a:latin typeface="Arial"/>
                <a:ea typeface="Arial"/>
              </a:rPr>
              <a:t>Trim Whitespace Methods</a:t>
            </a:r>
            <a:endParaRPr b="0" lang="en-IN" sz="3600" spc="-1" strike="noStrike">
              <a:latin typeface="Arial"/>
            </a:endParaRPr>
          </a:p>
        </p:txBody>
      </p:sp>
      <p:pic>
        <p:nvPicPr>
          <p:cNvPr id="267" name="Image 0" descr="preencoded.png"/>
          <p:cNvPicPr/>
          <p:nvPr/>
        </p:nvPicPr>
        <p:blipFill>
          <a:blip r:embed="rId1"/>
          <a:stretch/>
        </p:blipFill>
        <p:spPr>
          <a:xfrm>
            <a:off x="7772400" y="228600"/>
            <a:ext cx="639360" cy="639360"/>
          </a:xfrm>
          <a:prstGeom prst="rect">
            <a:avLst/>
          </a:prstGeom>
          <a:ln w="0">
            <a:noFill/>
          </a:ln>
        </p:spPr>
      </p:pic>
      <p:sp>
        <p:nvSpPr>
          <p:cNvPr id="268" name="Shape 1"/>
          <p:cNvSpPr/>
          <p:nvPr/>
        </p:nvSpPr>
        <p:spPr>
          <a:xfrm>
            <a:off x="914400" y="1280160"/>
            <a:ext cx="7314480" cy="136440"/>
          </a:xfrm>
          <a:prstGeom prst="rect">
            <a:avLst/>
          </a:prstGeom>
          <a:solidFill>
            <a:srgbClr val="27ae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69" name="Text 2"/>
          <p:cNvSpPr/>
          <p:nvPr/>
        </p:nvSpPr>
        <p:spPr>
          <a:xfrm>
            <a:off x="914400" y="1005840"/>
            <a:ext cx="27424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27ae60"/>
                </a:solidFill>
                <a:latin typeface="Courier New"/>
                <a:ea typeface="Courier New"/>
              </a:rPr>
              <a:t>lstrip()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270" name="Text 3"/>
          <p:cNvSpPr/>
          <p:nvPr/>
        </p:nvSpPr>
        <p:spPr>
          <a:xfrm>
            <a:off x="3840480" y="1005840"/>
            <a:ext cx="43884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2c3e50"/>
                </a:solidFill>
                <a:latin typeface="Arial"/>
                <a:ea typeface="Arial"/>
              </a:rPr>
              <a:t>Removes leading (left) whitespaces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71" name="Shape 4"/>
          <p:cNvSpPr/>
          <p:nvPr/>
        </p:nvSpPr>
        <p:spPr>
          <a:xfrm>
            <a:off x="914400" y="1691640"/>
            <a:ext cx="7314480" cy="136440"/>
          </a:xfrm>
          <a:prstGeom prst="rect">
            <a:avLst/>
          </a:prstGeom>
          <a:solidFill>
            <a:srgbClr val="30699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72" name="Text 5"/>
          <p:cNvSpPr/>
          <p:nvPr/>
        </p:nvSpPr>
        <p:spPr>
          <a:xfrm>
            <a:off x="914400" y="1417320"/>
            <a:ext cx="27424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306998"/>
                </a:solidFill>
                <a:latin typeface="Courier New"/>
                <a:ea typeface="Courier New"/>
              </a:rPr>
              <a:t>rstrip()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273" name="Text 6"/>
          <p:cNvSpPr/>
          <p:nvPr/>
        </p:nvSpPr>
        <p:spPr>
          <a:xfrm>
            <a:off x="3840480" y="1417320"/>
            <a:ext cx="43884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2c3e50"/>
                </a:solidFill>
                <a:latin typeface="Arial"/>
                <a:ea typeface="Arial"/>
              </a:rPr>
              <a:t>Removes trailing (right) whitespaces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74" name="Shape 7"/>
          <p:cNvSpPr/>
          <p:nvPr/>
        </p:nvSpPr>
        <p:spPr>
          <a:xfrm>
            <a:off x="914400" y="2103120"/>
            <a:ext cx="7314480" cy="136440"/>
          </a:xfrm>
          <a:prstGeom prst="rect">
            <a:avLst/>
          </a:prstGeom>
          <a:solidFill>
            <a:srgbClr val="e67e2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75" name="Text 8"/>
          <p:cNvSpPr/>
          <p:nvPr/>
        </p:nvSpPr>
        <p:spPr>
          <a:xfrm>
            <a:off x="914400" y="1828800"/>
            <a:ext cx="27424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e67e22"/>
                </a:solidFill>
                <a:latin typeface="Courier New"/>
                <a:ea typeface="Courier New"/>
              </a:rPr>
              <a:t>strip()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276" name="Text 9"/>
          <p:cNvSpPr/>
          <p:nvPr/>
        </p:nvSpPr>
        <p:spPr>
          <a:xfrm>
            <a:off x="3840480" y="1828800"/>
            <a:ext cx="43884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2c3e50"/>
                </a:solidFill>
                <a:latin typeface="Arial"/>
                <a:ea typeface="Arial"/>
              </a:rPr>
              <a:t>Removes both leading &amp; trailing whitespaces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77" name="Shape 10"/>
          <p:cNvSpPr/>
          <p:nvPr/>
        </p:nvSpPr>
        <p:spPr>
          <a:xfrm>
            <a:off x="1371600" y="2468880"/>
            <a:ext cx="6400080" cy="1828080"/>
          </a:xfrm>
          <a:prstGeom prst="rect">
            <a:avLst/>
          </a:prstGeom>
          <a:solidFill>
            <a:srgbClr val="282c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78" name="Text 11"/>
          <p:cNvSpPr/>
          <p:nvPr/>
        </p:nvSpPr>
        <p:spPr>
          <a:xfrm>
            <a:off x="1554480" y="2606040"/>
            <a:ext cx="6034320" cy="155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text = "   Hello, world   "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result = text.lstrip()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print(result)  # "Hello, world   "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result = text.rstrip()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print(result)  # "   Hello, world"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result = text.strip()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print(result)  # "Hello, world"</a:t>
            </a: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Text 0"/>
          <p:cNvSpPr/>
          <p:nvPr/>
        </p:nvSpPr>
        <p:spPr>
          <a:xfrm>
            <a:off x="457200" y="27432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1e3a5f"/>
                </a:solidFill>
                <a:latin typeface="Arial"/>
                <a:ea typeface="Arial"/>
              </a:rPr>
              <a:t>Split Method: split()</a:t>
            </a:r>
            <a:endParaRPr b="0" lang="en-IN" sz="3600" spc="-1" strike="noStrike">
              <a:latin typeface="Arial"/>
            </a:endParaRPr>
          </a:p>
        </p:txBody>
      </p:sp>
      <p:pic>
        <p:nvPicPr>
          <p:cNvPr id="280" name="Image 0" descr="preencoded.png"/>
          <p:cNvPicPr/>
          <p:nvPr/>
        </p:nvPicPr>
        <p:blipFill>
          <a:blip r:embed="rId1"/>
          <a:stretch/>
        </p:blipFill>
        <p:spPr>
          <a:xfrm>
            <a:off x="7772400" y="228600"/>
            <a:ext cx="639360" cy="639360"/>
          </a:xfrm>
          <a:prstGeom prst="rect">
            <a:avLst/>
          </a:prstGeom>
          <a:ln w="0">
            <a:noFill/>
          </a:ln>
        </p:spPr>
      </p:pic>
      <p:sp>
        <p:nvSpPr>
          <p:cNvPr id="281" name="Shape 1"/>
          <p:cNvSpPr/>
          <p:nvPr/>
        </p:nvSpPr>
        <p:spPr>
          <a:xfrm>
            <a:off x="914400" y="1097280"/>
            <a:ext cx="7314480" cy="547920"/>
          </a:xfrm>
          <a:prstGeom prst="rect">
            <a:avLst/>
          </a:prstGeom>
          <a:solidFill>
            <a:srgbClr val="e8f5e9"/>
          </a:solidFill>
          <a:ln w="254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2" name="Text 2"/>
          <p:cNvSpPr/>
          <p:nvPr/>
        </p:nvSpPr>
        <p:spPr>
          <a:xfrm>
            <a:off x="914400" y="1188720"/>
            <a:ext cx="73144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27ae60"/>
                </a:solidFill>
                <a:latin typeface="Arial"/>
                <a:ea typeface="Arial"/>
              </a:rPr>
              <a:t>split() - Divides string based on delimiter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283" name="Shape 3"/>
          <p:cNvSpPr/>
          <p:nvPr/>
        </p:nvSpPr>
        <p:spPr>
          <a:xfrm>
            <a:off x="1371600" y="1920240"/>
            <a:ext cx="6400080" cy="2285280"/>
          </a:xfrm>
          <a:prstGeom prst="rect">
            <a:avLst/>
          </a:prstGeom>
          <a:solidFill>
            <a:srgbClr val="282c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84" name="Text 4"/>
          <p:cNvSpPr/>
          <p:nvPr/>
        </p:nvSpPr>
        <p:spPr>
          <a:xfrm>
            <a:off x="1554480" y="2057400"/>
            <a:ext cx="6034320" cy="201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str1 = "hello, welcome to india"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# Split by spaces (default)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words = str1.split()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print(words)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# ['hello,', 'welcome', 'to', 'india']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# Split by comma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str2 = "apple, banana, cherry"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fruits = str2.split(",")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print(fruits)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# ['apple', 'banana', 'cherry']</a:t>
            </a: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Text 0"/>
          <p:cNvSpPr/>
          <p:nvPr/>
        </p:nvSpPr>
        <p:spPr>
          <a:xfrm>
            <a:off x="457200" y="27432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1e3a5f"/>
                </a:solidFill>
                <a:latin typeface="Arial"/>
                <a:ea typeface="Arial"/>
              </a:rPr>
              <a:t>Partition Method: partition()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286" name="Shape 1"/>
          <p:cNvSpPr/>
          <p:nvPr/>
        </p:nvSpPr>
        <p:spPr>
          <a:xfrm>
            <a:off x="914400" y="1097280"/>
            <a:ext cx="7314480" cy="639360"/>
          </a:xfrm>
          <a:prstGeom prst="rect">
            <a:avLst/>
          </a:prstGeom>
          <a:solidFill>
            <a:srgbClr val="fff3e0"/>
          </a:solidFill>
          <a:ln w="25400">
            <a:solidFill>
              <a:srgbClr val="e67e2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7" name="Text 2"/>
          <p:cNvSpPr/>
          <p:nvPr/>
        </p:nvSpPr>
        <p:spPr>
          <a:xfrm>
            <a:off x="914400" y="1188720"/>
            <a:ext cx="73144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e67e22"/>
                </a:solidFill>
                <a:latin typeface="Arial"/>
                <a:ea typeface="Arial"/>
              </a:rPr>
              <a:t>partition() - Divides string into 3 parts:</a:t>
            </a:r>
            <a:endParaRPr b="0" lang="en-IN" sz="14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e67e22"/>
                </a:solidFill>
                <a:latin typeface="Arial"/>
                <a:ea typeface="Arial"/>
              </a:rPr>
              <a:t>before separator, separator, after separator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88" name="Shape 3"/>
          <p:cNvSpPr/>
          <p:nvPr/>
        </p:nvSpPr>
        <p:spPr>
          <a:xfrm>
            <a:off x="1371600" y="2011680"/>
            <a:ext cx="6400080" cy="2193840"/>
          </a:xfrm>
          <a:prstGeom prst="rect">
            <a:avLst/>
          </a:prstGeom>
          <a:solidFill>
            <a:srgbClr val="282c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89" name="Text 4"/>
          <p:cNvSpPr/>
          <p:nvPr/>
        </p:nvSpPr>
        <p:spPr>
          <a:xfrm>
            <a:off x="1554480" y="2148840"/>
            <a:ext cx="6034320" cy="191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str1 = "Who are you?"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result = str1.partition("are")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print(result)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# ('Who ', 'are', ' you?')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str2 = "hello my name is prashant"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result = str2.partition("name")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print(result)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# ('hello my ', 'name', ' is prashant')</a:t>
            </a: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Text 0"/>
          <p:cNvSpPr/>
          <p:nvPr/>
        </p:nvSpPr>
        <p:spPr>
          <a:xfrm>
            <a:off x="457200" y="27432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1e3a5f"/>
                </a:solidFill>
                <a:latin typeface="Arial"/>
                <a:ea typeface="Arial"/>
              </a:rPr>
              <a:t>Case Conversion Methods</a:t>
            </a:r>
            <a:endParaRPr b="0" lang="en-IN" sz="3600" spc="-1" strike="noStrike">
              <a:latin typeface="Arial"/>
            </a:endParaRPr>
          </a:p>
        </p:txBody>
      </p:sp>
      <p:pic>
        <p:nvPicPr>
          <p:cNvPr id="291" name="Image 0" descr="preencoded.png"/>
          <p:cNvPicPr/>
          <p:nvPr/>
        </p:nvPicPr>
        <p:blipFill>
          <a:blip r:embed="rId1"/>
          <a:stretch/>
        </p:blipFill>
        <p:spPr>
          <a:xfrm>
            <a:off x="7772400" y="228600"/>
            <a:ext cx="639360" cy="639360"/>
          </a:xfrm>
          <a:prstGeom prst="rect">
            <a:avLst/>
          </a:prstGeom>
          <a:ln w="0">
            <a:noFill/>
          </a:ln>
        </p:spPr>
      </p:pic>
      <p:sp>
        <p:nvSpPr>
          <p:cNvPr id="292" name="Shape 1"/>
          <p:cNvSpPr/>
          <p:nvPr/>
        </p:nvSpPr>
        <p:spPr>
          <a:xfrm>
            <a:off x="914400" y="1188720"/>
            <a:ext cx="7314480" cy="639360"/>
          </a:xfrm>
          <a:prstGeom prst="rect">
            <a:avLst/>
          </a:prstGeom>
          <a:solidFill>
            <a:srgbClr val="f5f5f5"/>
          </a:solidFill>
          <a:ln w="12700">
            <a:solidFill>
              <a:srgbClr val="30699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3" name="Text 2"/>
          <p:cNvSpPr/>
          <p:nvPr/>
        </p:nvSpPr>
        <p:spPr>
          <a:xfrm>
            <a:off x="1188720" y="1261800"/>
            <a:ext cx="20109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306998"/>
                </a:solidFill>
                <a:latin typeface="Courier New"/>
                <a:ea typeface="Courier New"/>
              </a:rPr>
              <a:t>lower()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94" name="Text 3"/>
          <p:cNvSpPr/>
          <p:nvPr/>
        </p:nvSpPr>
        <p:spPr>
          <a:xfrm>
            <a:off x="3291840" y="1261800"/>
            <a:ext cx="475416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Arial"/>
                <a:ea typeface="Arial"/>
              </a:rPr>
              <a:t>Converts to lowercase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95" name="Text 4"/>
          <p:cNvSpPr/>
          <p:nvPr/>
        </p:nvSpPr>
        <p:spPr>
          <a:xfrm>
            <a:off x="3291840" y="1508760"/>
            <a:ext cx="47541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27ae60"/>
                </a:solidFill>
                <a:latin typeface="Courier New"/>
                <a:ea typeface="Courier New"/>
              </a:rPr>
              <a:t>"JAI GANESH".lower() → "jai ganesh"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96" name="Shape 5"/>
          <p:cNvSpPr/>
          <p:nvPr/>
        </p:nvSpPr>
        <p:spPr>
          <a:xfrm>
            <a:off x="914400" y="1874520"/>
            <a:ext cx="7314480" cy="639360"/>
          </a:xfrm>
          <a:prstGeom prst="rect">
            <a:avLst/>
          </a:prstGeom>
          <a:solidFill>
            <a:srgbClr val="f5f5f5"/>
          </a:solidFill>
          <a:ln w="12700">
            <a:solidFill>
              <a:srgbClr val="30699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7" name="Text 6"/>
          <p:cNvSpPr/>
          <p:nvPr/>
        </p:nvSpPr>
        <p:spPr>
          <a:xfrm>
            <a:off x="1188720" y="1947600"/>
            <a:ext cx="20109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306998"/>
                </a:solidFill>
                <a:latin typeface="Courier New"/>
                <a:ea typeface="Courier New"/>
              </a:rPr>
              <a:t>upper()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98" name="Text 7"/>
          <p:cNvSpPr/>
          <p:nvPr/>
        </p:nvSpPr>
        <p:spPr>
          <a:xfrm>
            <a:off x="3291840" y="1947600"/>
            <a:ext cx="475416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Arial"/>
                <a:ea typeface="Arial"/>
              </a:rPr>
              <a:t>Converts to uppercase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99" name="Text 8"/>
          <p:cNvSpPr/>
          <p:nvPr/>
        </p:nvSpPr>
        <p:spPr>
          <a:xfrm>
            <a:off x="3291840" y="2194560"/>
            <a:ext cx="47541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27ae60"/>
                </a:solidFill>
                <a:latin typeface="Courier New"/>
                <a:ea typeface="Courier New"/>
              </a:rPr>
              <a:t>"jai ganesh".upper() → "JAI GANESH"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00" name="Shape 9"/>
          <p:cNvSpPr/>
          <p:nvPr/>
        </p:nvSpPr>
        <p:spPr>
          <a:xfrm>
            <a:off x="914400" y="2560320"/>
            <a:ext cx="7314480" cy="639360"/>
          </a:xfrm>
          <a:prstGeom prst="rect">
            <a:avLst/>
          </a:prstGeom>
          <a:solidFill>
            <a:srgbClr val="f5f5f5"/>
          </a:solidFill>
          <a:ln w="12700">
            <a:solidFill>
              <a:srgbClr val="30699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1" name="Text 10"/>
          <p:cNvSpPr/>
          <p:nvPr/>
        </p:nvSpPr>
        <p:spPr>
          <a:xfrm>
            <a:off x="1188720" y="2633400"/>
            <a:ext cx="20109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306998"/>
                </a:solidFill>
                <a:latin typeface="Courier New"/>
                <a:ea typeface="Courier New"/>
              </a:rPr>
              <a:t>capitalize()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02" name="Text 11"/>
          <p:cNvSpPr/>
          <p:nvPr/>
        </p:nvSpPr>
        <p:spPr>
          <a:xfrm>
            <a:off x="3291840" y="2633400"/>
            <a:ext cx="475416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Arial"/>
                <a:ea typeface="Arial"/>
              </a:rPr>
              <a:t>First char uppercase, rest lowercase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03" name="Text 12"/>
          <p:cNvSpPr/>
          <p:nvPr/>
        </p:nvSpPr>
        <p:spPr>
          <a:xfrm>
            <a:off x="3291840" y="2880360"/>
            <a:ext cx="47541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27ae60"/>
                </a:solidFill>
                <a:latin typeface="Courier New"/>
                <a:ea typeface="Courier New"/>
              </a:rPr>
              <a:t>"jai ganesh".capitalize() → "Jai ganesh"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04" name="Shape 13"/>
          <p:cNvSpPr/>
          <p:nvPr/>
        </p:nvSpPr>
        <p:spPr>
          <a:xfrm>
            <a:off x="914400" y="3246120"/>
            <a:ext cx="7314480" cy="639360"/>
          </a:xfrm>
          <a:prstGeom prst="rect">
            <a:avLst/>
          </a:prstGeom>
          <a:solidFill>
            <a:srgbClr val="f5f5f5"/>
          </a:solidFill>
          <a:ln w="12700">
            <a:solidFill>
              <a:srgbClr val="30699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5" name="Text 14"/>
          <p:cNvSpPr/>
          <p:nvPr/>
        </p:nvSpPr>
        <p:spPr>
          <a:xfrm>
            <a:off x="1188720" y="3319200"/>
            <a:ext cx="20109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306998"/>
                </a:solidFill>
                <a:latin typeface="Courier New"/>
                <a:ea typeface="Courier New"/>
              </a:rPr>
              <a:t>title()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06" name="Text 15"/>
          <p:cNvSpPr/>
          <p:nvPr/>
        </p:nvSpPr>
        <p:spPr>
          <a:xfrm>
            <a:off x="3291840" y="3319200"/>
            <a:ext cx="475416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Arial"/>
                <a:ea typeface="Arial"/>
              </a:rPr>
              <a:t>First char of each word uppercase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07" name="Text 16"/>
          <p:cNvSpPr/>
          <p:nvPr/>
        </p:nvSpPr>
        <p:spPr>
          <a:xfrm>
            <a:off x="3291840" y="3566160"/>
            <a:ext cx="47541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27ae60"/>
                </a:solidFill>
                <a:latin typeface="Courier New"/>
                <a:ea typeface="Courier New"/>
              </a:rPr>
              <a:t>"jai ganesh".title() → "Jai Ganesh"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08" name="Shape 17"/>
          <p:cNvSpPr/>
          <p:nvPr/>
        </p:nvSpPr>
        <p:spPr>
          <a:xfrm>
            <a:off x="914400" y="3931920"/>
            <a:ext cx="7314480" cy="639360"/>
          </a:xfrm>
          <a:prstGeom prst="rect">
            <a:avLst/>
          </a:prstGeom>
          <a:solidFill>
            <a:srgbClr val="f5f5f5"/>
          </a:solidFill>
          <a:ln w="12700">
            <a:solidFill>
              <a:srgbClr val="30699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9" name="Text 18"/>
          <p:cNvSpPr/>
          <p:nvPr/>
        </p:nvSpPr>
        <p:spPr>
          <a:xfrm>
            <a:off x="1188720" y="4005000"/>
            <a:ext cx="20109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306998"/>
                </a:solidFill>
                <a:latin typeface="Courier New"/>
                <a:ea typeface="Courier New"/>
              </a:rPr>
              <a:t>swapcase()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10" name="Text 19"/>
          <p:cNvSpPr/>
          <p:nvPr/>
        </p:nvSpPr>
        <p:spPr>
          <a:xfrm>
            <a:off x="3291840" y="4005000"/>
            <a:ext cx="475416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Arial"/>
                <a:ea typeface="Arial"/>
              </a:rPr>
              <a:t>Swaps uppercase ↔ lowercase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11" name="Text 20"/>
          <p:cNvSpPr/>
          <p:nvPr/>
        </p:nvSpPr>
        <p:spPr>
          <a:xfrm>
            <a:off x="3291840" y="4251960"/>
            <a:ext cx="47541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27ae60"/>
                </a:solidFill>
                <a:latin typeface="Courier New"/>
                <a:ea typeface="Courier New"/>
              </a:rPr>
              <a:t>"JaI gAnEsH".swapcase() → "jAi GaNeSh"</a:t>
            </a: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Text 0"/>
          <p:cNvSpPr/>
          <p:nvPr/>
        </p:nvSpPr>
        <p:spPr>
          <a:xfrm>
            <a:off x="457200" y="27432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1e3a5f"/>
                </a:solidFill>
                <a:latin typeface="Arial"/>
                <a:ea typeface="Arial"/>
              </a:rPr>
              <a:t>Type Conversion: str()</a:t>
            </a:r>
            <a:endParaRPr b="0" lang="en-IN" sz="3600" spc="-1" strike="noStrike">
              <a:latin typeface="Arial"/>
            </a:endParaRPr>
          </a:p>
        </p:txBody>
      </p:sp>
      <p:pic>
        <p:nvPicPr>
          <p:cNvPr id="313" name="Image 0" descr="preencoded.png"/>
          <p:cNvPicPr/>
          <p:nvPr/>
        </p:nvPicPr>
        <p:blipFill>
          <a:blip r:embed="rId1"/>
          <a:stretch/>
        </p:blipFill>
        <p:spPr>
          <a:xfrm>
            <a:off x="7772400" y="228600"/>
            <a:ext cx="639360" cy="639360"/>
          </a:xfrm>
          <a:prstGeom prst="rect">
            <a:avLst/>
          </a:prstGeom>
          <a:ln w="0">
            <a:noFill/>
          </a:ln>
        </p:spPr>
      </p:pic>
      <p:sp>
        <p:nvSpPr>
          <p:cNvPr id="314" name="Shape 1"/>
          <p:cNvSpPr/>
          <p:nvPr/>
        </p:nvSpPr>
        <p:spPr>
          <a:xfrm>
            <a:off x="914400" y="1097280"/>
            <a:ext cx="7314480" cy="547920"/>
          </a:xfrm>
          <a:prstGeom prst="rect">
            <a:avLst/>
          </a:prstGeom>
          <a:solidFill>
            <a:srgbClr val="e8f5e9"/>
          </a:solidFill>
          <a:ln w="254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5" name="Text 2"/>
          <p:cNvSpPr/>
          <p:nvPr/>
        </p:nvSpPr>
        <p:spPr>
          <a:xfrm>
            <a:off x="914400" y="1188720"/>
            <a:ext cx="73144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27ae60"/>
                </a:solidFill>
                <a:latin typeface="Arial"/>
                <a:ea typeface="Arial"/>
              </a:rPr>
              <a:t>str() - Converts int, float, or complex to string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316" name="Shape 3"/>
          <p:cNvSpPr/>
          <p:nvPr/>
        </p:nvSpPr>
        <p:spPr>
          <a:xfrm>
            <a:off x="1371600" y="1920240"/>
            <a:ext cx="6400080" cy="2376720"/>
          </a:xfrm>
          <a:prstGeom prst="rect">
            <a:avLst/>
          </a:prstGeom>
          <a:solidFill>
            <a:srgbClr val="282c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17" name="Text 4"/>
          <p:cNvSpPr/>
          <p:nvPr/>
        </p:nvSpPr>
        <p:spPr>
          <a:xfrm>
            <a:off x="1554480" y="2057400"/>
            <a:ext cx="6034320" cy="210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a = 10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b = 10.1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c = 10 + 4j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print(type(a))  # &lt;class 'int'&gt;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print(type(b))  # &lt;class 'float'&gt;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print(type(c))  # &lt;class 'complex'&gt;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a = str(a)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b = str(b)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c = str(c)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print(type(a))  # &lt;class 'str'&gt;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print(type(b))  # &lt;class 'str'&gt;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print(type(c))  # &lt;class 'str'&gt;</a:t>
            </a: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Text 0"/>
          <p:cNvSpPr/>
          <p:nvPr/>
        </p:nvSpPr>
        <p:spPr>
          <a:xfrm>
            <a:off x="457200" y="27432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1e3a5f"/>
                </a:solidFill>
                <a:latin typeface="Arial"/>
                <a:ea typeface="Arial"/>
              </a:rPr>
              <a:t>Type Conversion: int() &amp; float()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319" name="Shape 1"/>
          <p:cNvSpPr/>
          <p:nvPr/>
        </p:nvSpPr>
        <p:spPr>
          <a:xfrm>
            <a:off x="731520" y="1097280"/>
            <a:ext cx="3656880" cy="136440"/>
          </a:xfrm>
          <a:prstGeom prst="rect">
            <a:avLst/>
          </a:prstGeom>
          <a:solidFill>
            <a:srgbClr val="27ae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20" name="Text 2"/>
          <p:cNvSpPr/>
          <p:nvPr/>
        </p:nvSpPr>
        <p:spPr>
          <a:xfrm>
            <a:off x="731520" y="822960"/>
            <a:ext cx="36568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27ae60"/>
                </a:solidFill>
                <a:latin typeface="Arial"/>
                <a:ea typeface="Arial"/>
              </a:rPr>
              <a:t>int() - String to Integer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321" name="Shape 3"/>
          <p:cNvSpPr/>
          <p:nvPr/>
        </p:nvSpPr>
        <p:spPr>
          <a:xfrm>
            <a:off x="914400" y="1371600"/>
            <a:ext cx="3291120" cy="822240"/>
          </a:xfrm>
          <a:prstGeom prst="rect">
            <a:avLst/>
          </a:prstGeom>
          <a:solidFill>
            <a:srgbClr val="282c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22" name="Text 4"/>
          <p:cNvSpPr/>
          <p:nvPr/>
        </p:nvSpPr>
        <p:spPr>
          <a:xfrm>
            <a:off x="1097280" y="1463040"/>
            <a:ext cx="29253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a = "10"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b = int(a)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print(type(a))  # str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print(type(b))  # int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23" name="Shape 5"/>
          <p:cNvSpPr/>
          <p:nvPr/>
        </p:nvSpPr>
        <p:spPr>
          <a:xfrm>
            <a:off x="4754880" y="1097280"/>
            <a:ext cx="3656880" cy="136440"/>
          </a:xfrm>
          <a:prstGeom prst="rect">
            <a:avLst/>
          </a:prstGeom>
          <a:solidFill>
            <a:srgbClr val="30699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24" name="Text 6"/>
          <p:cNvSpPr/>
          <p:nvPr/>
        </p:nvSpPr>
        <p:spPr>
          <a:xfrm>
            <a:off x="4754880" y="822960"/>
            <a:ext cx="36568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306998"/>
                </a:solidFill>
                <a:latin typeface="Arial"/>
                <a:ea typeface="Arial"/>
              </a:rPr>
              <a:t>float() - String to Float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325" name="Shape 7"/>
          <p:cNvSpPr/>
          <p:nvPr/>
        </p:nvSpPr>
        <p:spPr>
          <a:xfrm>
            <a:off x="4937760" y="1371600"/>
            <a:ext cx="3291120" cy="822240"/>
          </a:xfrm>
          <a:prstGeom prst="rect">
            <a:avLst/>
          </a:prstGeom>
          <a:solidFill>
            <a:srgbClr val="282c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26" name="Text 8"/>
          <p:cNvSpPr/>
          <p:nvPr/>
        </p:nvSpPr>
        <p:spPr>
          <a:xfrm>
            <a:off x="5120640" y="1463040"/>
            <a:ext cx="29253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a = "10.1"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b = float(a)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print(type(a))  # str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print(type(b))  # float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27" name="Shape 9"/>
          <p:cNvSpPr/>
          <p:nvPr/>
        </p:nvSpPr>
        <p:spPr>
          <a:xfrm>
            <a:off x="1371600" y="2468880"/>
            <a:ext cx="6400080" cy="136440"/>
          </a:xfrm>
          <a:prstGeom prst="rect">
            <a:avLst/>
          </a:prstGeom>
          <a:solidFill>
            <a:srgbClr val="9b59b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28" name="Text 10"/>
          <p:cNvSpPr/>
          <p:nvPr/>
        </p:nvSpPr>
        <p:spPr>
          <a:xfrm>
            <a:off x="1371600" y="2194560"/>
            <a:ext cx="64000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9b59b6"/>
                </a:solidFill>
                <a:latin typeface="Arial"/>
                <a:ea typeface="Arial"/>
              </a:rPr>
              <a:t>complex() - String to Complex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329" name="Shape 11"/>
          <p:cNvSpPr/>
          <p:nvPr/>
        </p:nvSpPr>
        <p:spPr>
          <a:xfrm>
            <a:off x="1828800" y="2743200"/>
            <a:ext cx="5485680" cy="822240"/>
          </a:xfrm>
          <a:prstGeom prst="rect">
            <a:avLst/>
          </a:prstGeom>
          <a:solidFill>
            <a:srgbClr val="282c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30" name="Text 12"/>
          <p:cNvSpPr/>
          <p:nvPr/>
        </p:nvSpPr>
        <p:spPr>
          <a:xfrm>
            <a:off x="2011680" y="2834640"/>
            <a:ext cx="511992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a = "10+1j"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b = complex(a)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print(type(a))  # str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print(type(b))  # complex</a:t>
            </a: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Text 0"/>
          <p:cNvSpPr/>
          <p:nvPr/>
        </p:nvSpPr>
        <p:spPr>
          <a:xfrm>
            <a:off x="457200" y="27432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1e3a5f"/>
                </a:solidFill>
                <a:latin typeface="Arial"/>
                <a:ea typeface="Arial"/>
              </a:rPr>
              <a:t>chr() and ord() Functions</a:t>
            </a:r>
            <a:endParaRPr b="0" lang="en-IN" sz="3600" spc="-1" strike="noStrike">
              <a:latin typeface="Arial"/>
            </a:endParaRPr>
          </a:p>
        </p:txBody>
      </p:sp>
      <p:pic>
        <p:nvPicPr>
          <p:cNvPr id="332" name="Image 0" descr="preencoded.png"/>
          <p:cNvPicPr/>
          <p:nvPr/>
        </p:nvPicPr>
        <p:blipFill>
          <a:blip r:embed="rId1"/>
          <a:stretch/>
        </p:blipFill>
        <p:spPr>
          <a:xfrm>
            <a:off x="7772400" y="228600"/>
            <a:ext cx="639360" cy="639360"/>
          </a:xfrm>
          <a:prstGeom prst="rect">
            <a:avLst/>
          </a:prstGeom>
          <a:ln w="0">
            <a:noFill/>
          </a:ln>
        </p:spPr>
      </p:pic>
      <p:sp>
        <p:nvSpPr>
          <p:cNvPr id="333" name="Shape 1"/>
          <p:cNvSpPr/>
          <p:nvPr/>
        </p:nvSpPr>
        <p:spPr>
          <a:xfrm>
            <a:off x="731520" y="1188720"/>
            <a:ext cx="3656880" cy="1553760"/>
          </a:xfrm>
          <a:prstGeom prst="rect">
            <a:avLst/>
          </a:prstGeom>
          <a:solidFill>
            <a:srgbClr val="e8f5e9"/>
          </a:solidFill>
          <a:ln w="254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34" name="Text 2"/>
          <p:cNvSpPr/>
          <p:nvPr/>
        </p:nvSpPr>
        <p:spPr>
          <a:xfrm>
            <a:off x="731520" y="1280160"/>
            <a:ext cx="3656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27ae60"/>
                </a:solidFill>
                <a:latin typeface="Courier New"/>
                <a:ea typeface="Courier New"/>
              </a:rPr>
              <a:t>ord()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335" name="Text 3"/>
          <p:cNvSpPr/>
          <p:nvPr/>
        </p:nvSpPr>
        <p:spPr>
          <a:xfrm>
            <a:off x="731520" y="1600200"/>
            <a:ext cx="3656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666666"/>
                </a:solidFill>
                <a:latin typeface="Arial"/>
                <a:ea typeface="Arial"/>
              </a:rPr>
              <a:t>Returns Unicode value</a:t>
            </a:r>
            <a:endParaRPr b="0" lang="en-IN" sz="12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666666"/>
                </a:solidFill>
                <a:latin typeface="Arial"/>
                <a:ea typeface="Arial"/>
              </a:rPr>
              <a:t>of a character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36" name="Shape 4"/>
          <p:cNvSpPr/>
          <p:nvPr/>
        </p:nvSpPr>
        <p:spPr>
          <a:xfrm>
            <a:off x="914400" y="2103120"/>
            <a:ext cx="3291120" cy="547920"/>
          </a:xfrm>
          <a:prstGeom prst="rect">
            <a:avLst/>
          </a:prstGeom>
          <a:solidFill>
            <a:srgbClr val="282c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37" name="Text 5"/>
          <p:cNvSpPr/>
          <p:nvPr/>
        </p:nvSpPr>
        <p:spPr>
          <a:xfrm>
            <a:off x="1097280" y="2194560"/>
            <a:ext cx="29253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unicode = ord("A")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print(unicode)  # 65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38" name="Shape 6"/>
          <p:cNvSpPr/>
          <p:nvPr/>
        </p:nvSpPr>
        <p:spPr>
          <a:xfrm>
            <a:off x="4754880" y="1188720"/>
            <a:ext cx="3656880" cy="1553760"/>
          </a:xfrm>
          <a:prstGeom prst="rect">
            <a:avLst/>
          </a:prstGeom>
          <a:solidFill>
            <a:srgbClr val="fff3e0"/>
          </a:solidFill>
          <a:ln w="25400">
            <a:solidFill>
              <a:srgbClr val="e67e2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39" name="Text 7"/>
          <p:cNvSpPr/>
          <p:nvPr/>
        </p:nvSpPr>
        <p:spPr>
          <a:xfrm>
            <a:off x="4754880" y="1280160"/>
            <a:ext cx="3656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e67e22"/>
                </a:solidFill>
                <a:latin typeface="Courier New"/>
                <a:ea typeface="Courier New"/>
              </a:rPr>
              <a:t>chr()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340" name="Text 8"/>
          <p:cNvSpPr/>
          <p:nvPr/>
        </p:nvSpPr>
        <p:spPr>
          <a:xfrm>
            <a:off x="4754880" y="1600200"/>
            <a:ext cx="3656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666666"/>
                </a:solidFill>
                <a:latin typeface="Arial"/>
                <a:ea typeface="Arial"/>
              </a:rPr>
              <a:t>Returns character from</a:t>
            </a:r>
            <a:endParaRPr b="0" lang="en-IN" sz="12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666666"/>
                </a:solidFill>
                <a:latin typeface="Arial"/>
                <a:ea typeface="Arial"/>
              </a:rPr>
              <a:t>Unicode value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41" name="Shape 9"/>
          <p:cNvSpPr/>
          <p:nvPr/>
        </p:nvSpPr>
        <p:spPr>
          <a:xfrm>
            <a:off x="4937760" y="2103120"/>
            <a:ext cx="3291120" cy="547920"/>
          </a:xfrm>
          <a:prstGeom prst="rect">
            <a:avLst/>
          </a:prstGeom>
          <a:solidFill>
            <a:srgbClr val="282c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42" name="Text 10"/>
          <p:cNvSpPr/>
          <p:nvPr/>
        </p:nvSpPr>
        <p:spPr>
          <a:xfrm>
            <a:off x="5120640" y="2194560"/>
            <a:ext cx="29253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character = chr(65)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print(character)  # A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43" name="Shape 11"/>
          <p:cNvSpPr/>
          <p:nvPr/>
        </p:nvSpPr>
        <p:spPr>
          <a:xfrm>
            <a:off x="1371600" y="3017520"/>
            <a:ext cx="6400080" cy="1279440"/>
          </a:xfrm>
          <a:prstGeom prst="rect">
            <a:avLst/>
          </a:prstGeom>
          <a:solidFill>
            <a:srgbClr val="282c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44" name="Text 12"/>
          <p:cNvSpPr/>
          <p:nvPr/>
        </p:nvSpPr>
        <p:spPr>
          <a:xfrm>
            <a:off x="1554480" y="3108960"/>
            <a:ext cx="603432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# More examples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print(ord("a"))   # 97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print(ord("Z"))   # 90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print(chr(97))    # a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print(chr(90))    # Z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print(chr(1234))  # Ӓ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Text 0"/>
          <p:cNvSpPr/>
          <p:nvPr/>
        </p:nvSpPr>
        <p:spPr>
          <a:xfrm>
            <a:off x="457200" y="27432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1e3a5f"/>
                </a:solidFill>
                <a:latin typeface="Arial"/>
                <a:ea typeface="Arial"/>
              </a:rPr>
              <a:t>join() Method</a:t>
            </a:r>
            <a:endParaRPr b="0" lang="en-IN" sz="3600" spc="-1" strike="noStrike">
              <a:latin typeface="Arial"/>
            </a:endParaRPr>
          </a:p>
        </p:txBody>
      </p:sp>
      <p:pic>
        <p:nvPicPr>
          <p:cNvPr id="346" name="Image 0" descr="preencoded.png"/>
          <p:cNvPicPr/>
          <p:nvPr/>
        </p:nvPicPr>
        <p:blipFill>
          <a:blip r:embed="rId1"/>
          <a:stretch/>
        </p:blipFill>
        <p:spPr>
          <a:xfrm>
            <a:off x="7772400" y="228600"/>
            <a:ext cx="639360" cy="639360"/>
          </a:xfrm>
          <a:prstGeom prst="rect">
            <a:avLst/>
          </a:prstGeom>
          <a:ln w="0">
            <a:noFill/>
          </a:ln>
        </p:spPr>
      </p:pic>
      <p:sp>
        <p:nvSpPr>
          <p:cNvPr id="347" name="Shape 1"/>
          <p:cNvSpPr/>
          <p:nvPr/>
        </p:nvSpPr>
        <p:spPr>
          <a:xfrm>
            <a:off x="914400" y="1097280"/>
            <a:ext cx="7314480" cy="639360"/>
          </a:xfrm>
          <a:prstGeom prst="rect">
            <a:avLst/>
          </a:prstGeom>
          <a:solidFill>
            <a:srgbClr val="e3f2fd"/>
          </a:solidFill>
          <a:ln w="25400">
            <a:solidFill>
              <a:srgbClr val="30699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48" name="Text 2"/>
          <p:cNvSpPr/>
          <p:nvPr/>
        </p:nvSpPr>
        <p:spPr>
          <a:xfrm>
            <a:off x="914400" y="1188720"/>
            <a:ext cx="73144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306998"/>
                </a:solidFill>
                <a:latin typeface="Arial"/>
                <a:ea typeface="Arial"/>
              </a:rPr>
              <a:t>join() - Joins elements of iterable (list/tuple)</a:t>
            </a:r>
            <a:endParaRPr b="0" lang="en-IN" sz="15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306998"/>
                </a:solidFill>
                <a:latin typeface="Arial"/>
                <a:ea typeface="Arial"/>
              </a:rPr>
              <a:t>into a single string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349" name="Shape 3"/>
          <p:cNvSpPr/>
          <p:nvPr/>
        </p:nvSpPr>
        <p:spPr>
          <a:xfrm>
            <a:off x="1371600" y="2011680"/>
            <a:ext cx="6400080" cy="2193840"/>
          </a:xfrm>
          <a:prstGeom prst="rect">
            <a:avLst/>
          </a:prstGeom>
          <a:solidFill>
            <a:srgbClr val="282c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50" name="Text 4"/>
          <p:cNvSpPr/>
          <p:nvPr/>
        </p:nvSpPr>
        <p:spPr>
          <a:xfrm>
            <a:off x="1554480" y="2148840"/>
            <a:ext cx="6034320" cy="191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# Join list elements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words = ['my', 'name', 'is', 'prashant']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sentence = " ".join(words)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print(sentence)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# Output: my name is prashant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# Join with different separator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letters = ['a', 'b', 'c']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result = "-".join(letters)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print(result)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# Output: a-b-c</a:t>
            </a: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Text 0"/>
          <p:cNvSpPr/>
          <p:nvPr/>
        </p:nvSpPr>
        <p:spPr>
          <a:xfrm>
            <a:off x="457200" y="27432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1e3a5f"/>
                </a:solidFill>
                <a:latin typeface="Arial"/>
                <a:ea typeface="Arial"/>
              </a:rPr>
              <a:t>Key Takeaways</a:t>
            </a:r>
            <a:endParaRPr b="0" lang="en-IN" sz="3600" spc="-1" strike="noStrike">
              <a:latin typeface="Arial"/>
            </a:endParaRPr>
          </a:p>
        </p:txBody>
      </p:sp>
      <p:pic>
        <p:nvPicPr>
          <p:cNvPr id="352" name="Image 0" descr="preencoded.png"/>
          <p:cNvPicPr/>
          <p:nvPr/>
        </p:nvPicPr>
        <p:blipFill>
          <a:blip r:embed="rId1"/>
          <a:stretch/>
        </p:blipFill>
        <p:spPr>
          <a:xfrm>
            <a:off x="777240" y="1024200"/>
            <a:ext cx="227880" cy="227880"/>
          </a:xfrm>
          <a:prstGeom prst="rect">
            <a:avLst/>
          </a:prstGeom>
          <a:ln w="0">
            <a:noFill/>
          </a:ln>
        </p:spPr>
      </p:pic>
      <p:sp>
        <p:nvSpPr>
          <p:cNvPr id="353" name="Text 1"/>
          <p:cNvSpPr/>
          <p:nvPr/>
        </p:nvSpPr>
        <p:spPr>
          <a:xfrm>
            <a:off x="1143000" y="1051560"/>
            <a:ext cx="694872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Arial"/>
                <a:ea typeface="Arial"/>
              </a:rPr>
              <a:t>Strings are immutable collections of Unicode characters</a:t>
            </a:r>
            <a:endParaRPr b="0" lang="en-IN" sz="1100" spc="-1" strike="noStrike">
              <a:latin typeface="Arial"/>
            </a:endParaRPr>
          </a:p>
        </p:txBody>
      </p:sp>
      <p:pic>
        <p:nvPicPr>
          <p:cNvPr id="354" name="Image 1" descr="preencoded.png"/>
          <p:cNvPicPr/>
          <p:nvPr/>
        </p:nvPicPr>
        <p:blipFill>
          <a:blip r:embed="rId2"/>
          <a:stretch/>
        </p:blipFill>
        <p:spPr>
          <a:xfrm>
            <a:off x="777240" y="1252800"/>
            <a:ext cx="227880" cy="227880"/>
          </a:xfrm>
          <a:prstGeom prst="rect">
            <a:avLst/>
          </a:prstGeom>
          <a:ln w="0">
            <a:noFill/>
          </a:ln>
        </p:spPr>
      </p:pic>
      <p:sp>
        <p:nvSpPr>
          <p:cNvPr id="355" name="Text 2"/>
          <p:cNvSpPr/>
          <p:nvPr/>
        </p:nvSpPr>
        <p:spPr>
          <a:xfrm>
            <a:off x="1143000" y="1280160"/>
            <a:ext cx="694872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Arial"/>
                <a:ea typeface="Arial"/>
              </a:rPr>
              <a:t>Use single, double, or triple quotes</a:t>
            </a:r>
            <a:endParaRPr b="0" lang="en-IN" sz="1100" spc="-1" strike="noStrike">
              <a:latin typeface="Arial"/>
            </a:endParaRPr>
          </a:p>
        </p:txBody>
      </p:sp>
      <p:pic>
        <p:nvPicPr>
          <p:cNvPr id="356" name="Image 2" descr="preencoded.png"/>
          <p:cNvPicPr/>
          <p:nvPr/>
        </p:nvPicPr>
        <p:blipFill>
          <a:blip r:embed="rId3"/>
          <a:stretch/>
        </p:blipFill>
        <p:spPr>
          <a:xfrm>
            <a:off x="777240" y="1481400"/>
            <a:ext cx="227880" cy="227880"/>
          </a:xfrm>
          <a:prstGeom prst="rect">
            <a:avLst/>
          </a:prstGeom>
          <a:ln w="0">
            <a:noFill/>
          </a:ln>
        </p:spPr>
      </p:pic>
      <p:sp>
        <p:nvSpPr>
          <p:cNvPr id="357" name="Text 3"/>
          <p:cNvSpPr/>
          <p:nvPr/>
        </p:nvSpPr>
        <p:spPr>
          <a:xfrm>
            <a:off x="1143000" y="1508760"/>
            <a:ext cx="694872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Arial"/>
                <a:ea typeface="Arial"/>
              </a:rPr>
              <a:t>Escape special characters with backslash (\)</a:t>
            </a:r>
            <a:endParaRPr b="0" lang="en-IN" sz="1100" spc="-1" strike="noStrike">
              <a:latin typeface="Arial"/>
            </a:endParaRPr>
          </a:p>
        </p:txBody>
      </p:sp>
      <p:pic>
        <p:nvPicPr>
          <p:cNvPr id="358" name="Image 3" descr="preencoded.png"/>
          <p:cNvPicPr/>
          <p:nvPr/>
        </p:nvPicPr>
        <p:blipFill>
          <a:blip r:embed="rId4"/>
          <a:stretch/>
        </p:blipFill>
        <p:spPr>
          <a:xfrm>
            <a:off x="777240" y="1710000"/>
            <a:ext cx="227880" cy="227880"/>
          </a:xfrm>
          <a:prstGeom prst="rect">
            <a:avLst/>
          </a:prstGeom>
          <a:ln w="0">
            <a:noFill/>
          </a:ln>
        </p:spPr>
      </p:pic>
      <p:sp>
        <p:nvSpPr>
          <p:cNvPr id="359" name="Text 4"/>
          <p:cNvSpPr/>
          <p:nvPr/>
        </p:nvSpPr>
        <p:spPr>
          <a:xfrm>
            <a:off x="1143000" y="1737360"/>
            <a:ext cx="694872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Arial"/>
                <a:ea typeface="Arial"/>
              </a:rPr>
              <a:t>Indexing: positive (0 to n-1) and negative (-1 to -n)</a:t>
            </a:r>
            <a:endParaRPr b="0" lang="en-IN" sz="1100" spc="-1" strike="noStrike">
              <a:latin typeface="Arial"/>
            </a:endParaRPr>
          </a:p>
        </p:txBody>
      </p:sp>
      <p:pic>
        <p:nvPicPr>
          <p:cNvPr id="360" name="Image 4" descr="preencoded.png"/>
          <p:cNvPicPr/>
          <p:nvPr/>
        </p:nvPicPr>
        <p:blipFill>
          <a:blip r:embed="rId5"/>
          <a:stretch/>
        </p:blipFill>
        <p:spPr>
          <a:xfrm>
            <a:off x="777240" y="1938600"/>
            <a:ext cx="227880" cy="227880"/>
          </a:xfrm>
          <a:prstGeom prst="rect">
            <a:avLst/>
          </a:prstGeom>
          <a:ln w="0">
            <a:noFill/>
          </a:ln>
        </p:spPr>
      </p:pic>
      <p:sp>
        <p:nvSpPr>
          <p:cNvPr id="361" name="Text 5"/>
          <p:cNvSpPr/>
          <p:nvPr/>
        </p:nvSpPr>
        <p:spPr>
          <a:xfrm>
            <a:off x="1143000" y="1965960"/>
            <a:ext cx="694872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Arial"/>
                <a:ea typeface="Arial"/>
              </a:rPr>
              <a:t>Slicing: string[start:stop:step]</a:t>
            </a:r>
            <a:endParaRPr b="0" lang="en-IN" sz="1100" spc="-1" strike="noStrike">
              <a:latin typeface="Arial"/>
            </a:endParaRPr>
          </a:p>
        </p:txBody>
      </p:sp>
      <p:pic>
        <p:nvPicPr>
          <p:cNvPr id="362" name="Image 5" descr="preencoded.png"/>
          <p:cNvPicPr/>
          <p:nvPr/>
        </p:nvPicPr>
        <p:blipFill>
          <a:blip r:embed="rId6"/>
          <a:stretch/>
        </p:blipFill>
        <p:spPr>
          <a:xfrm>
            <a:off x="777240" y="2167200"/>
            <a:ext cx="227880" cy="227880"/>
          </a:xfrm>
          <a:prstGeom prst="rect">
            <a:avLst/>
          </a:prstGeom>
          <a:ln w="0">
            <a:noFill/>
          </a:ln>
        </p:spPr>
      </p:pic>
      <p:sp>
        <p:nvSpPr>
          <p:cNvPr id="363" name="Text 6"/>
          <p:cNvSpPr/>
          <p:nvPr/>
        </p:nvSpPr>
        <p:spPr>
          <a:xfrm>
            <a:off x="1143000" y="2194560"/>
            <a:ext cx="694872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Arial"/>
                <a:ea typeface="Arial"/>
              </a:rPr>
              <a:t>Operations: + (concatenation), * (repetition), in (membership)</a:t>
            </a:r>
            <a:endParaRPr b="0" lang="en-IN" sz="1100" spc="-1" strike="noStrike">
              <a:latin typeface="Arial"/>
            </a:endParaRPr>
          </a:p>
        </p:txBody>
      </p:sp>
      <p:pic>
        <p:nvPicPr>
          <p:cNvPr id="364" name="Image 6" descr="preencoded.png"/>
          <p:cNvPicPr/>
          <p:nvPr/>
        </p:nvPicPr>
        <p:blipFill>
          <a:blip r:embed="rId7"/>
          <a:stretch/>
        </p:blipFill>
        <p:spPr>
          <a:xfrm>
            <a:off x="777240" y="2395800"/>
            <a:ext cx="227880" cy="227880"/>
          </a:xfrm>
          <a:prstGeom prst="rect">
            <a:avLst/>
          </a:prstGeom>
          <a:ln w="0">
            <a:noFill/>
          </a:ln>
        </p:spPr>
      </p:pic>
      <p:sp>
        <p:nvSpPr>
          <p:cNvPr id="365" name="Text 7"/>
          <p:cNvSpPr/>
          <p:nvPr/>
        </p:nvSpPr>
        <p:spPr>
          <a:xfrm>
            <a:off x="1143000" y="2423160"/>
            <a:ext cx="694872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Arial"/>
                <a:ea typeface="Arial"/>
              </a:rPr>
              <a:t>Built-in: len(), min(), max()</a:t>
            </a:r>
            <a:endParaRPr b="0" lang="en-IN" sz="1100" spc="-1" strike="noStrike">
              <a:latin typeface="Arial"/>
            </a:endParaRPr>
          </a:p>
        </p:txBody>
      </p:sp>
      <p:pic>
        <p:nvPicPr>
          <p:cNvPr id="366" name="Image 7" descr="preencoded.png"/>
          <p:cNvPicPr/>
          <p:nvPr/>
        </p:nvPicPr>
        <p:blipFill>
          <a:blip r:embed="rId8"/>
          <a:stretch/>
        </p:blipFill>
        <p:spPr>
          <a:xfrm>
            <a:off x="777240" y="2624400"/>
            <a:ext cx="227880" cy="227880"/>
          </a:xfrm>
          <a:prstGeom prst="rect">
            <a:avLst/>
          </a:prstGeom>
          <a:ln w="0">
            <a:noFill/>
          </a:ln>
        </p:spPr>
      </p:pic>
      <p:sp>
        <p:nvSpPr>
          <p:cNvPr id="367" name="Text 8"/>
          <p:cNvSpPr/>
          <p:nvPr/>
        </p:nvSpPr>
        <p:spPr>
          <a:xfrm>
            <a:off x="1143000" y="2651760"/>
            <a:ext cx="694872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Arial"/>
                <a:ea typeface="Arial"/>
              </a:rPr>
              <a:t>Content tests: isalpha(), isdigit(), isalnum(), etc.</a:t>
            </a:r>
            <a:endParaRPr b="0" lang="en-IN" sz="1100" spc="-1" strike="noStrike">
              <a:latin typeface="Arial"/>
            </a:endParaRPr>
          </a:p>
        </p:txBody>
      </p:sp>
      <p:pic>
        <p:nvPicPr>
          <p:cNvPr id="368" name="Image 8" descr="preencoded.png"/>
          <p:cNvPicPr/>
          <p:nvPr/>
        </p:nvPicPr>
        <p:blipFill>
          <a:blip r:embed="rId9"/>
          <a:stretch/>
        </p:blipFill>
        <p:spPr>
          <a:xfrm>
            <a:off x="777240" y="2853000"/>
            <a:ext cx="227880" cy="227880"/>
          </a:xfrm>
          <a:prstGeom prst="rect">
            <a:avLst/>
          </a:prstGeom>
          <a:ln w="0">
            <a:noFill/>
          </a:ln>
        </p:spPr>
      </p:pic>
      <p:sp>
        <p:nvSpPr>
          <p:cNvPr id="369" name="Text 9"/>
          <p:cNvSpPr/>
          <p:nvPr/>
        </p:nvSpPr>
        <p:spPr>
          <a:xfrm>
            <a:off x="1143000" y="2880360"/>
            <a:ext cx="694872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Arial"/>
                <a:ea typeface="Arial"/>
              </a:rPr>
              <a:t>Search/Replace: find(), replace()</a:t>
            </a:r>
            <a:endParaRPr b="0" lang="en-IN" sz="1100" spc="-1" strike="noStrike">
              <a:latin typeface="Arial"/>
            </a:endParaRPr>
          </a:p>
        </p:txBody>
      </p:sp>
      <p:pic>
        <p:nvPicPr>
          <p:cNvPr id="370" name="Image 9" descr="preencoded.png"/>
          <p:cNvPicPr/>
          <p:nvPr/>
        </p:nvPicPr>
        <p:blipFill>
          <a:blip r:embed="rId10"/>
          <a:stretch/>
        </p:blipFill>
        <p:spPr>
          <a:xfrm>
            <a:off x="777240" y="3081600"/>
            <a:ext cx="227880" cy="227880"/>
          </a:xfrm>
          <a:prstGeom prst="rect">
            <a:avLst/>
          </a:prstGeom>
          <a:ln w="0">
            <a:noFill/>
          </a:ln>
        </p:spPr>
      </p:pic>
      <p:sp>
        <p:nvSpPr>
          <p:cNvPr id="371" name="Text 10"/>
          <p:cNvSpPr/>
          <p:nvPr/>
        </p:nvSpPr>
        <p:spPr>
          <a:xfrm>
            <a:off x="1143000" y="3108960"/>
            <a:ext cx="694872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Arial"/>
                <a:ea typeface="Arial"/>
              </a:rPr>
              <a:t>Trim: strip(), lstrip(), rstrip()</a:t>
            </a:r>
            <a:endParaRPr b="0" lang="en-IN" sz="1100" spc="-1" strike="noStrike">
              <a:latin typeface="Arial"/>
            </a:endParaRPr>
          </a:p>
        </p:txBody>
      </p:sp>
      <p:pic>
        <p:nvPicPr>
          <p:cNvPr id="372" name="Image 10" descr="preencoded.png"/>
          <p:cNvPicPr/>
          <p:nvPr/>
        </p:nvPicPr>
        <p:blipFill>
          <a:blip r:embed="rId11"/>
          <a:stretch/>
        </p:blipFill>
        <p:spPr>
          <a:xfrm>
            <a:off x="777240" y="3310200"/>
            <a:ext cx="227880" cy="227880"/>
          </a:xfrm>
          <a:prstGeom prst="rect">
            <a:avLst/>
          </a:prstGeom>
          <a:ln w="0">
            <a:noFill/>
          </a:ln>
        </p:spPr>
      </p:pic>
      <p:sp>
        <p:nvSpPr>
          <p:cNvPr id="373" name="Text 11"/>
          <p:cNvSpPr/>
          <p:nvPr/>
        </p:nvSpPr>
        <p:spPr>
          <a:xfrm>
            <a:off x="1143000" y="3337560"/>
            <a:ext cx="694872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Arial"/>
                <a:ea typeface="Arial"/>
              </a:rPr>
              <a:t>Split: split(), partition()</a:t>
            </a:r>
            <a:endParaRPr b="0" lang="en-IN" sz="1100" spc="-1" strike="noStrike">
              <a:latin typeface="Arial"/>
            </a:endParaRPr>
          </a:p>
        </p:txBody>
      </p:sp>
      <p:pic>
        <p:nvPicPr>
          <p:cNvPr id="374" name="Image 11" descr="preencoded.png"/>
          <p:cNvPicPr/>
          <p:nvPr/>
        </p:nvPicPr>
        <p:blipFill>
          <a:blip r:embed="rId12"/>
          <a:stretch/>
        </p:blipFill>
        <p:spPr>
          <a:xfrm>
            <a:off x="777240" y="3538800"/>
            <a:ext cx="227880" cy="227880"/>
          </a:xfrm>
          <a:prstGeom prst="rect">
            <a:avLst/>
          </a:prstGeom>
          <a:ln w="0">
            <a:noFill/>
          </a:ln>
        </p:spPr>
      </p:pic>
      <p:sp>
        <p:nvSpPr>
          <p:cNvPr id="375" name="Text 12"/>
          <p:cNvSpPr/>
          <p:nvPr/>
        </p:nvSpPr>
        <p:spPr>
          <a:xfrm>
            <a:off x="1143000" y="3566160"/>
            <a:ext cx="694872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Arial"/>
                <a:ea typeface="Arial"/>
              </a:rPr>
              <a:t>Case: lower(), upper(), capitalize(), title(), swapcase()</a:t>
            </a:r>
            <a:endParaRPr b="0" lang="en-IN" sz="1100" spc="-1" strike="noStrike">
              <a:latin typeface="Arial"/>
            </a:endParaRPr>
          </a:p>
        </p:txBody>
      </p:sp>
      <p:pic>
        <p:nvPicPr>
          <p:cNvPr id="376" name="Image 12" descr="preencoded.png"/>
          <p:cNvPicPr/>
          <p:nvPr/>
        </p:nvPicPr>
        <p:blipFill>
          <a:blip r:embed="rId13"/>
          <a:stretch/>
        </p:blipFill>
        <p:spPr>
          <a:xfrm>
            <a:off x="777240" y="3767400"/>
            <a:ext cx="227880" cy="227880"/>
          </a:xfrm>
          <a:prstGeom prst="rect">
            <a:avLst/>
          </a:prstGeom>
          <a:ln w="0">
            <a:noFill/>
          </a:ln>
        </p:spPr>
      </p:pic>
      <p:sp>
        <p:nvSpPr>
          <p:cNvPr id="377" name="Text 13"/>
          <p:cNvSpPr/>
          <p:nvPr/>
        </p:nvSpPr>
        <p:spPr>
          <a:xfrm>
            <a:off x="1143000" y="3794760"/>
            <a:ext cx="694872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Arial"/>
                <a:ea typeface="Arial"/>
              </a:rPr>
              <a:t>Type conversion: str(), int(), float(), complex()</a:t>
            </a:r>
            <a:endParaRPr b="0" lang="en-IN" sz="1100" spc="-1" strike="noStrike">
              <a:latin typeface="Arial"/>
            </a:endParaRPr>
          </a:p>
        </p:txBody>
      </p:sp>
      <p:pic>
        <p:nvPicPr>
          <p:cNvPr id="378" name="Image 13" descr="preencoded.png"/>
          <p:cNvPicPr/>
          <p:nvPr/>
        </p:nvPicPr>
        <p:blipFill>
          <a:blip r:embed="rId14"/>
          <a:stretch/>
        </p:blipFill>
        <p:spPr>
          <a:xfrm>
            <a:off x="777240" y="3996000"/>
            <a:ext cx="227880" cy="227880"/>
          </a:xfrm>
          <a:prstGeom prst="rect">
            <a:avLst/>
          </a:prstGeom>
          <a:ln w="0">
            <a:noFill/>
          </a:ln>
        </p:spPr>
      </p:pic>
      <p:sp>
        <p:nvSpPr>
          <p:cNvPr id="379" name="Text 14"/>
          <p:cNvSpPr/>
          <p:nvPr/>
        </p:nvSpPr>
        <p:spPr>
          <a:xfrm>
            <a:off x="1143000" y="4023360"/>
            <a:ext cx="694872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Arial"/>
                <a:ea typeface="Arial"/>
              </a:rPr>
              <a:t>Unicode: ord(), chr()</a:t>
            </a:r>
            <a:endParaRPr b="0" lang="en-IN" sz="1100" spc="-1" strike="noStrike">
              <a:latin typeface="Arial"/>
            </a:endParaRPr>
          </a:p>
        </p:txBody>
      </p:sp>
      <p:pic>
        <p:nvPicPr>
          <p:cNvPr id="380" name="Image 14" descr="preencoded.png"/>
          <p:cNvPicPr/>
          <p:nvPr/>
        </p:nvPicPr>
        <p:blipFill>
          <a:blip r:embed="rId15"/>
          <a:stretch/>
        </p:blipFill>
        <p:spPr>
          <a:xfrm>
            <a:off x="777240" y="4224600"/>
            <a:ext cx="227880" cy="227880"/>
          </a:xfrm>
          <a:prstGeom prst="rect">
            <a:avLst/>
          </a:prstGeom>
          <a:ln w="0">
            <a:noFill/>
          </a:ln>
        </p:spPr>
      </p:pic>
      <p:sp>
        <p:nvSpPr>
          <p:cNvPr id="381" name="Text 15"/>
          <p:cNvSpPr/>
          <p:nvPr/>
        </p:nvSpPr>
        <p:spPr>
          <a:xfrm>
            <a:off x="1143000" y="4251960"/>
            <a:ext cx="694872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Arial"/>
                <a:ea typeface="Arial"/>
              </a:rPr>
              <a:t>Join: join() to combine iterable elements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2" name="Image 0" descr="preencoded.png"/>
          <p:cNvPicPr/>
          <p:nvPr/>
        </p:nvPicPr>
        <p:blipFill>
          <a:blip r:embed="rId1"/>
          <a:stretch/>
        </p:blipFill>
        <p:spPr>
          <a:xfrm>
            <a:off x="3840480" y="1645920"/>
            <a:ext cx="1462320" cy="1462320"/>
          </a:xfrm>
          <a:prstGeom prst="rect">
            <a:avLst/>
          </a:prstGeom>
          <a:ln w="0">
            <a:noFill/>
          </a:ln>
        </p:spPr>
      </p:pic>
      <p:sp>
        <p:nvSpPr>
          <p:cNvPr id="383" name="Text 0"/>
          <p:cNvSpPr/>
          <p:nvPr/>
        </p:nvSpPr>
        <p:spPr>
          <a:xfrm>
            <a:off x="457200" y="338328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ffd43b"/>
                </a:solidFill>
                <a:latin typeface="Arial"/>
                <a:ea typeface="Arial"/>
              </a:rPr>
              <a:t>Excellent Work!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384" name="Text 1"/>
          <p:cNvSpPr/>
          <p:nvPr/>
        </p:nvSpPr>
        <p:spPr>
          <a:xfrm>
            <a:off x="457200" y="4023360"/>
            <a:ext cx="8228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  <a:ea typeface="Arial"/>
              </a:rPr>
              <a:t>You've mastered Python Strings!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85" name="Text 2"/>
          <p:cNvSpPr/>
          <p:nvPr/>
        </p:nvSpPr>
        <p:spPr>
          <a:xfrm>
            <a:off x="457200" y="448056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cccccc"/>
                </a:solidFill>
                <a:latin typeface="Arial"/>
                <a:ea typeface="Arial"/>
              </a:rPr>
              <a:t>Next: Lists, Tuples, Sets &amp; Dictionaries</a:t>
            </a:r>
            <a:endParaRPr b="0" lang="en-IN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</TotalTime>
  <Application>LibreOffice/7.3.7.2$Linux_X86_64 LibreOffice_project/30$Build-2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2026-02-01T11:20:54Z</dcterms:created>
  <dc:creator>Python Training</dc:creator>
  <dc:description/>
  <dc:language>en-IN</dc:language>
  <cp:lastModifiedBy/>
  <dcterms:modified xsi:type="dcterms:W3CDTF">2026-02-01T20:38:40Z</dcterms:modified>
  <cp:revision>6</cp:revision>
  <dc:subject>PptxGenJS Presentation</dc:subject>
  <dc:title>Python Strings - Complete Guide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30</vt:i4>
  </property>
  <property fmtid="{D5CDD505-2E9C-101B-9397-08002B2CF9AE}" pid="3" name="PresentationFormat">
    <vt:lpwstr>On-screen Show (16:9)</vt:lpwstr>
  </property>
  <property fmtid="{D5CDD505-2E9C-101B-9397-08002B2CF9AE}" pid="4" name="Slides">
    <vt:i4>30</vt:i4>
  </property>
</Properties>
</file>