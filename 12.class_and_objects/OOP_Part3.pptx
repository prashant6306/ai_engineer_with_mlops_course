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ck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mo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ve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sli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36033B36-D367-4322-9170-17DCA6D282C0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25B83FC-61C5-493E-A6AB-C5EF996A368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4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C487366-B8B7-42BB-8705-8625250FBA0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4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A7AB372-0AA4-4D0C-89E4-C885003B27A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9FDC8D1-49A0-4F53-9DF9-D83BDCB4E27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5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1E4FB2E-956A-4B40-8EC8-F1823D6CC08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5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9EC48D4-8E43-4F9F-BF66-80B30057C1E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5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626281A-2D78-487C-ACE3-B197E1C0E7E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6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EDEB287-A378-447E-8E49-AECA9F1AF90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6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515658B-DA85-4C52-8310-AFE242F81A3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6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184AF71-3058-4498-910A-02856B05754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7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14AAA85-2C15-47EB-997D-63E412AB070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7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2A07B03-6997-41F2-8EDB-F109D938F32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7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2ABD97F-3824-42DB-92C6-F592D426F6B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8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DA910BD-6BE4-47CF-8065-0F01F237C36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8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ECA076E-EC44-4AF8-A3B3-686CB158D9A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8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37E66BD-58BF-4DB7-9F16-219B98CD800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8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AF9CB34-CFBE-4E13-9124-F58D1655E49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4114800"/>
            <a:ext cx="9143640" cy="10285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457200" y="1097280"/>
            <a:ext cx="109440" cy="27885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ext 2"/>
          <p:cNvSpPr/>
          <p:nvPr/>
        </p:nvSpPr>
        <p:spPr>
          <a:xfrm>
            <a:off x="777240" y="1097280"/>
            <a:ext cx="7772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OOP in Python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777240" y="1874520"/>
            <a:ext cx="77720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b703"/>
                </a:solidFill>
                <a:latin typeface="Calibri"/>
                <a:ea typeface="Calibri"/>
              </a:rPr>
              <a:t>Part 3 — Constructor, self &amp; Class Diagram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777240" y="2724840"/>
            <a:ext cx="7314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90e0ef"/>
                </a:solidFill>
                <a:latin typeface="Calibri"/>
                <a:ea typeface="Calibri"/>
              </a:rPr>
              <a:t>Week 3 · Session 1  |  File 2 of 3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777240" y="321876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8da9c4"/>
                </a:solidFill>
                <a:latin typeface="Calibri"/>
                <a:ea typeface="Calibri"/>
              </a:rPr>
              <a:t>Week 3 · Session 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457200" y="420624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Topics: Methods vs Functions • Class Diagram • Constructor Deep-Dive • self Keyword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6949440" y="228600"/>
            <a:ext cx="2559960" cy="2559960"/>
          </a:xfrm>
          <a:prstGeom prst="ellipse">
            <a:avLst/>
          </a:prstGeom>
          <a:solidFill>
            <a:srgbClr val="ffb703">
              <a:alpha val="10000"/>
            </a:srgbClr>
          </a:solidFill>
          <a:ln w="12700">
            <a:solidFill>
              <a:srgbClr val="ffb703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Shape 8"/>
          <p:cNvSpPr/>
          <p:nvPr/>
        </p:nvSpPr>
        <p:spPr>
          <a:xfrm>
            <a:off x="7589520" y="1325880"/>
            <a:ext cx="1371240" cy="1371240"/>
          </a:xfrm>
          <a:prstGeom prst="ellipse">
            <a:avLst/>
          </a:prstGeom>
          <a:solidFill>
            <a:srgbClr val="00b4d8">
              <a:alpha val="13000"/>
            </a:srgbClr>
          </a:solidFill>
          <a:ln w="12700">
            <a:solidFill>
              <a:srgbClr val="00b4d8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Shape 1"/>
          <p:cNvSpPr/>
          <p:nvPr/>
        </p:nvSpPr>
        <p:spPr>
          <a:xfrm>
            <a:off x="0" y="0"/>
            <a:ext cx="109440" cy="1005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2"/>
          <p:cNvSpPr/>
          <p:nvPr/>
        </p:nvSpPr>
        <p:spPr>
          <a:xfrm>
            <a:off x="255960" y="12816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Session Roadmap — Part 3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6" name="Text 3"/>
          <p:cNvSpPr/>
          <p:nvPr/>
        </p:nvSpPr>
        <p:spPr>
          <a:xfrm>
            <a:off x="255960" y="65844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What this file covers, in transcript order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7" name="Shape 4"/>
          <p:cNvSpPr/>
          <p:nvPr/>
        </p:nvSpPr>
        <p:spPr>
          <a:xfrm>
            <a:off x="365760" y="1170360"/>
            <a:ext cx="8412120" cy="5666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8" name="Shape 5"/>
          <p:cNvSpPr/>
          <p:nvPr/>
        </p:nvSpPr>
        <p:spPr>
          <a:xfrm>
            <a:off x="365760" y="1170360"/>
            <a:ext cx="475200" cy="5666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6"/>
          <p:cNvSpPr/>
          <p:nvPr/>
        </p:nvSpPr>
        <p:spPr>
          <a:xfrm>
            <a:off x="365760" y="1170360"/>
            <a:ext cx="475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01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0" name="Text 7"/>
          <p:cNvSpPr/>
          <p:nvPr/>
        </p:nvSpPr>
        <p:spPr>
          <a:xfrm>
            <a:off x="951120" y="122544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Methods vs Functions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1" name="Text 8"/>
          <p:cNvSpPr/>
          <p:nvPr/>
        </p:nvSpPr>
        <p:spPr>
          <a:xfrm>
            <a:off x="951120" y="1499760"/>
            <a:ext cx="7589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Inside class = method · Outside class = function · Interview terminology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2" name="Shape 9"/>
          <p:cNvSpPr/>
          <p:nvPr/>
        </p:nvSpPr>
        <p:spPr>
          <a:xfrm>
            <a:off x="365760" y="1828800"/>
            <a:ext cx="8412120" cy="5666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3" name="Shape 10"/>
          <p:cNvSpPr/>
          <p:nvPr/>
        </p:nvSpPr>
        <p:spPr>
          <a:xfrm>
            <a:off x="365760" y="1828800"/>
            <a:ext cx="475200" cy="5666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Text 11"/>
          <p:cNvSpPr/>
          <p:nvPr/>
        </p:nvSpPr>
        <p:spPr>
          <a:xfrm>
            <a:off x="365760" y="1828800"/>
            <a:ext cx="475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02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5" name="Text 12"/>
          <p:cNvSpPr/>
          <p:nvPr/>
        </p:nvSpPr>
        <p:spPr>
          <a:xfrm>
            <a:off x="951120" y="188352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Class Diagram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6" name="Text 13"/>
          <p:cNvSpPr/>
          <p:nvPr/>
        </p:nvSpPr>
        <p:spPr>
          <a:xfrm>
            <a:off x="951120" y="2157840"/>
            <a:ext cx="7589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Visual box format · + public · − private · Interview format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7" name="Shape 14"/>
          <p:cNvSpPr/>
          <p:nvPr/>
        </p:nvSpPr>
        <p:spPr>
          <a:xfrm>
            <a:off x="365760" y="2487240"/>
            <a:ext cx="8412120" cy="5666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8" name="Shape 15"/>
          <p:cNvSpPr/>
          <p:nvPr/>
        </p:nvSpPr>
        <p:spPr>
          <a:xfrm>
            <a:off x="365760" y="2487240"/>
            <a:ext cx="475200" cy="5666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Text 16"/>
          <p:cNvSpPr/>
          <p:nvPr/>
        </p:nvSpPr>
        <p:spPr>
          <a:xfrm>
            <a:off x="365760" y="2487240"/>
            <a:ext cx="475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03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0" name="Text 17"/>
          <p:cNvSpPr/>
          <p:nvPr/>
        </p:nvSpPr>
        <p:spPr>
          <a:xfrm>
            <a:off x="951120" y="254196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Constructor Deep-Dive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1" name="Text 18"/>
          <p:cNvSpPr/>
          <p:nvPr/>
        </p:nvSpPr>
        <p:spPr>
          <a:xfrm>
            <a:off x="951120" y="2816280"/>
            <a:ext cx="7589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Superpower · What belongs inside · What doesn't · Philosophical analogy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2" name="Shape 19"/>
          <p:cNvSpPr/>
          <p:nvPr/>
        </p:nvSpPr>
        <p:spPr>
          <a:xfrm>
            <a:off x="365760" y="3145680"/>
            <a:ext cx="8412120" cy="5666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3" name="Shape 20"/>
          <p:cNvSpPr/>
          <p:nvPr/>
        </p:nvSpPr>
        <p:spPr>
          <a:xfrm>
            <a:off x="365760" y="3145680"/>
            <a:ext cx="475200" cy="5666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Text 21"/>
          <p:cNvSpPr/>
          <p:nvPr/>
        </p:nvSpPr>
        <p:spPr>
          <a:xfrm>
            <a:off x="365760" y="3145680"/>
            <a:ext cx="475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04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5" name="Text 22"/>
          <p:cNvSpPr/>
          <p:nvPr/>
        </p:nvSpPr>
        <p:spPr>
          <a:xfrm>
            <a:off x="951120" y="320040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One Constructor Rule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6" name="Text 23"/>
          <p:cNvSpPr/>
          <p:nvPr/>
        </p:nvSpPr>
        <p:spPr>
          <a:xfrm>
            <a:off x="951120" y="3474720"/>
            <a:ext cx="7589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Python allows only ONE __init__ · Compare with Java / C++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7" name="Shape 24"/>
          <p:cNvSpPr/>
          <p:nvPr/>
        </p:nvSpPr>
        <p:spPr>
          <a:xfrm>
            <a:off x="365760" y="3803760"/>
            <a:ext cx="8412120" cy="5666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8" name="Shape 25"/>
          <p:cNvSpPr/>
          <p:nvPr/>
        </p:nvSpPr>
        <p:spPr>
          <a:xfrm>
            <a:off x="365760" y="3803760"/>
            <a:ext cx="475200" cy="5666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Text 26"/>
          <p:cNvSpPr/>
          <p:nvPr/>
        </p:nvSpPr>
        <p:spPr>
          <a:xfrm>
            <a:off x="365760" y="3803760"/>
            <a:ext cx="475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0" name="Text 27"/>
          <p:cNvSpPr/>
          <p:nvPr/>
        </p:nvSpPr>
        <p:spPr>
          <a:xfrm>
            <a:off x="951120" y="385884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Understanding self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1" name="Text 28"/>
          <p:cNvSpPr/>
          <p:nvPr/>
        </p:nvSpPr>
        <p:spPr>
          <a:xfrm>
            <a:off x="951120" y="4133160"/>
            <a:ext cx="7589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Golden Rule · self = current object · Memory proof · Why it must exist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2" name="Shape 29"/>
          <p:cNvSpPr/>
          <p:nvPr/>
        </p:nvSpPr>
        <p:spPr>
          <a:xfrm>
            <a:off x="365760" y="4462200"/>
            <a:ext cx="8412120" cy="5666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3" name="Shape 30"/>
          <p:cNvSpPr/>
          <p:nvPr/>
        </p:nvSpPr>
        <p:spPr>
          <a:xfrm>
            <a:off x="365760" y="4462200"/>
            <a:ext cx="475200" cy="5666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Text 31"/>
          <p:cNvSpPr/>
          <p:nvPr/>
        </p:nvSpPr>
        <p:spPr>
          <a:xfrm>
            <a:off x="365760" y="4462200"/>
            <a:ext cx="475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06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5" name="Text 32"/>
          <p:cNvSpPr/>
          <p:nvPr/>
        </p:nvSpPr>
        <p:spPr>
          <a:xfrm>
            <a:off x="951120" y="451728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self in Depth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6" name="Text 33"/>
          <p:cNvSpPr/>
          <p:nvPr/>
        </p:nvSpPr>
        <p:spPr>
          <a:xfrm>
            <a:off x="951120" y="4791600"/>
            <a:ext cx="7589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Removing self breaks things · Multiple objects · self for variables too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Shape 1"/>
          <p:cNvSpPr/>
          <p:nvPr/>
        </p:nvSpPr>
        <p:spPr>
          <a:xfrm>
            <a:off x="0" y="0"/>
            <a:ext cx="109440" cy="1005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2"/>
          <p:cNvSpPr/>
          <p:nvPr/>
        </p:nvSpPr>
        <p:spPr>
          <a:xfrm>
            <a:off x="255960" y="12816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Methods vs Functions — The Correct Terminology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90" name="Text 3"/>
          <p:cNvSpPr/>
          <p:nvPr/>
        </p:nvSpPr>
        <p:spPr>
          <a:xfrm>
            <a:off x="255960" y="65844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7 — A distinction that trips students in interviews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1" name="Shape 4"/>
          <p:cNvSpPr/>
          <p:nvPr/>
        </p:nvSpPr>
        <p:spPr>
          <a:xfrm>
            <a:off x="320040" y="1143000"/>
            <a:ext cx="8503560" cy="1371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2" name="Shape 5"/>
          <p:cNvSpPr/>
          <p:nvPr/>
        </p:nvSpPr>
        <p:spPr>
          <a:xfrm>
            <a:off x="320040" y="1143000"/>
            <a:ext cx="8503560" cy="383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Text 6"/>
          <p:cNvSpPr/>
          <p:nvPr/>
        </p:nvSpPr>
        <p:spPr>
          <a:xfrm>
            <a:off x="457200" y="1143000"/>
            <a:ext cx="1828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Term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4" name="Text 7"/>
          <p:cNvSpPr/>
          <p:nvPr/>
        </p:nvSpPr>
        <p:spPr>
          <a:xfrm>
            <a:off x="2286000" y="1143000"/>
            <a:ext cx="3474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Definition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5" name="Text 8"/>
          <p:cNvSpPr/>
          <p:nvPr/>
        </p:nvSpPr>
        <p:spPr>
          <a:xfrm>
            <a:off x="5760720" y="1143000"/>
            <a:ext cx="2925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Example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6" name="Text 9"/>
          <p:cNvSpPr/>
          <p:nvPr/>
        </p:nvSpPr>
        <p:spPr>
          <a:xfrm>
            <a:off x="457200" y="1527120"/>
            <a:ext cx="18284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6d6a0"/>
                </a:solidFill>
                <a:latin typeface="Calibri"/>
                <a:ea typeface="Calibri"/>
              </a:rPr>
              <a:t>Method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7" name="Text 10"/>
          <p:cNvSpPr/>
          <p:nvPr/>
        </p:nvSpPr>
        <p:spPr>
          <a:xfrm>
            <a:off x="2286000" y="1527120"/>
            <a:ext cx="3474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A function defined INSIDE a class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8" name="Text 11"/>
          <p:cNvSpPr/>
          <p:nvPr/>
        </p:nvSpPr>
        <p:spPr>
          <a:xfrm>
            <a:off x="5760720" y="1527120"/>
            <a:ext cx="28342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data.append(4)  →  append is a METHOD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9" name="Shape 12"/>
          <p:cNvSpPr/>
          <p:nvPr/>
        </p:nvSpPr>
        <p:spPr>
          <a:xfrm>
            <a:off x="365760" y="2002680"/>
            <a:ext cx="8412120" cy="363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 13"/>
          <p:cNvSpPr/>
          <p:nvPr/>
        </p:nvSpPr>
        <p:spPr>
          <a:xfrm>
            <a:off x="457200" y="2039040"/>
            <a:ext cx="18284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6b6b"/>
                </a:solidFill>
                <a:latin typeface="Calibri"/>
                <a:ea typeface="Calibri"/>
              </a:rPr>
              <a:t>Function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1" name="Text 14"/>
          <p:cNvSpPr/>
          <p:nvPr/>
        </p:nvSpPr>
        <p:spPr>
          <a:xfrm>
            <a:off x="2286000" y="2039040"/>
            <a:ext cx="3474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A function defined OUTSIDE any class (independent)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2" name="Text 15"/>
          <p:cNvSpPr/>
          <p:nvPr/>
        </p:nvSpPr>
        <p:spPr>
          <a:xfrm>
            <a:off x="5760720" y="2039040"/>
            <a:ext cx="28342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len(data)  →  len is a FUNCTION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3" name="Shape 16"/>
          <p:cNvSpPr/>
          <p:nvPr/>
        </p:nvSpPr>
        <p:spPr>
          <a:xfrm>
            <a:off x="320040" y="2697480"/>
            <a:ext cx="4114440" cy="24228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Shape 17"/>
          <p:cNvSpPr/>
          <p:nvPr/>
        </p:nvSpPr>
        <p:spPr>
          <a:xfrm>
            <a:off x="320040" y="2697480"/>
            <a:ext cx="4114440" cy="3470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18"/>
          <p:cNvSpPr/>
          <p:nvPr/>
        </p:nvSpPr>
        <p:spPr>
          <a:xfrm>
            <a:off x="457200" y="269748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Calibri"/>
              </a:rPr>
              <a:t>Inside the list Class  →  Methods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6" name="Shape 19"/>
          <p:cNvSpPr/>
          <p:nvPr/>
        </p:nvSpPr>
        <p:spPr>
          <a:xfrm>
            <a:off x="365760" y="3090600"/>
            <a:ext cx="3977280" cy="1938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Shape 20"/>
          <p:cNvSpPr/>
          <p:nvPr/>
        </p:nvSpPr>
        <p:spPr>
          <a:xfrm>
            <a:off x="365760" y="3090600"/>
            <a:ext cx="566640" cy="200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21"/>
          <p:cNvSpPr/>
          <p:nvPr/>
        </p:nvSpPr>
        <p:spPr>
          <a:xfrm>
            <a:off x="365760" y="309060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09" name="Text 22"/>
          <p:cNvSpPr/>
          <p:nvPr/>
        </p:nvSpPr>
        <p:spPr>
          <a:xfrm>
            <a:off x="457200" y="3346560"/>
            <a:ext cx="3794400" cy="163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data = [10, 20, 30]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data.append(40)   # METHOD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data.insert(0,5)  # METHOD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data.pop()        # METHOD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All defined inside list class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0" name="Shape 23"/>
          <p:cNvSpPr/>
          <p:nvPr/>
        </p:nvSpPr>
        <p:spPr>
          <a:xfrm>
            <a:off x="4709160" y="2697480"/>
            <a:ext cx="4114440" cy="24228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1" name="Shape 24"/>
          <p:cNvSpPr/>
          <p:nvPr/>
        </p:nvSpPr>
        <p:spPr>
          <a:xfrm>
            <a:off x="4709160" y="2697480"/>
            <a:ext cx="4114440" cy="3470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25"/>
          <p:cNvSpPr/>
          <p:nvPr/>
        </p:nvSpPr>
        <p:spPr>
          <a:xfrm>
            <a:off x="4846320" y="269748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Calibri"/>
              </a:rPr>
              <a:t>Outside any Class  →  Functions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3" name="Shape 26"/>
          <p:cNvSpPr/>
          <p:nvPr/>
        </p:nvSpPr>
        <p:spPr>
          <a:xfrm>
            <a:off x="4754880" y="3090600"/>
            <a:ext cx="3977280" cy="1938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Shape 27"/>
          <p:cNvSpPr/>
          <p:nvPr/>
        </p:nvSpPr>
        <p:spPr>
          <a:xfrm>
            <a:off x="4754880" y="3090600"/>
            <a:ext cx="566640" cy="200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28"/>
          <p:cNvSpPr/>
          <p:nvPr/>
        </p:nvSpPr>
        <p:spPr>
          <a:xfrm>
            <a:off x="4754880" y="309060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16" name="Text 29"/>
          <p:cNvSpPr/>
          <p:nvPr/>
        </p:nvSpPr>
        <p:spPr>
          <a:xfrm>
            <a:off x="4846320" y="3346560"/>
            <a:ext cx="3794400" cy="163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data = [10, 20, 30]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len(data)         # FUNCTION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b703"/>
                </a:solidFill>
                <a:latin typeface="Consolas"/>
                <a:ea typeface="Consolas"/>
              </a:rPr>
              <a:t>print(data)       # FUNCTION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type(data)        # FUNCTION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NOT inside any class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7" name="Shape 30"/>
          <p:cNvSpPr/>
          <p:nvPr/>
        </p:nvSpPr>
        <p:spPr>
          <a:xfrm>
            <a:off x="320040" y="4773240"/>
            <a:ext cx="8503560" cy="2739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8" name="Shape 31"/>
          <p:cNvSpPr/>
          <p:nvPr/>
        </p:nvSpPr>
        <p:spPr>
          <a:xfrm>
            <a:off x="320040" y="4773240"/>
            <a:ext cx="91080" cy="273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32"/>
          <p:cNvSpPr/>
          <p:nvPr/>
        </p:nvSpPr>
        <p:spPr>
          <a:xfrm>
            <a:off x="502920" y="4773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Interview Tip: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Always say 'method' for code inside a class, and 'function' for code outside. Using the wrong term tells an interviewer you don't truly understand OOP.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Shape 1"/>
          <p:cNvSpPr/>
          <p:nvPr/>
        </p:nvSpPr>
        <p:spPr>
          <a:xfrm>
            <a:off x="0" y="0"/>
            <a:ext cx="109440" cy="1005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Text 2"/>
          <p:cNvSpPr/>
          <p:nvPr/>
        </p:nvSpPr>
        <p:spPr>
          <a:xfrm>
            <a:off x="255960" y="12816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Method or Function?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255960" y="65844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8.2 — The exact quiz the instructor gave the class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4" name="Shape 4"/>
          <p:cNvSpPr/>
          <p:nvPr/>
        </p:nvSpPr>
        <p:spPr>
          <a:xfrm>
            <a:off x="320040" y="1143000"/>
            <a:ext cx="8503560" cy="15724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5" name="Text 5"/>
          <p:cNvSpPr/>
          <p:nvPr/>
        </p:nvSpPr>
        <p:spPr>
          <a:xfrm>
            <a:off x="457200" y="123444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b703"/>
                </a:solidFill>
                <a:latin typeface="Calibri"/>
                <a:ea typeface="Calibri"/>
              </a:rPr>
              <a:t>Quiz Code: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6" name="Shape 6"/>
          <p:cNvSpPr/>
          <p:nvPr/>
        </p:nvSpPr>
        <p:spPr>
          <a:xfrm>
            <a:off x="365760" y="1536120"/>
            <a:ext cx="8412120" cy="1096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Shape 7"/>
          <p:cNvSpPr/>
          <p:nvPr/>
        </p:nvSpPr>
        <p:spPr>
          <a:xfrm>
            <a:off x="365760" y="1536120"/>
            <a:ext cx="566640" cy="200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 8"/>
          <p:cNvSpPr/>
          <p:nvPr/>
        </p:nvSpPr>
        <p:spPr>
          <a:xfrm>
            <a:off x="365760" y="153612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29" name="Text 9"/>
          <p:cNvSpPr/>
          <p:nvPr/>
        </p:nvSpPr>
        <p:spPr>
          <a:xfrm>
            <a:off x="457200" y="1792080"/>
            <a:ext cx="8229240" cy="7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0f4f8"/>
                </a:solidFill>
                <a:latin typeface="Consolas"/>
                <a:ea typeface="Consolas"/>
              </a:rPr>
              <a:t>items = [1, 2]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0f4f8"/>
                </a:solidFill>
                <a:latin typeface="Consolas"/>
                <a:ea typeface="Consolas"/>
              </a:rPr>
              <a:t>len(items)      # Question: function or method?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0f4f8"/>
                </a:solidFill>
                <a:latin typeface="Consolas"/>
                <a:ea typeface="Consolas"/>
              </a:rPr>
              <a:t>items.append(3) # Question: function or method?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0" name="Shape 10"/>
          <p:cNvSpPr/>
          <p:nvPr/>
        </p:nvSpPr>
        <p:spPr>
          <a:xfrm>
            <a:off x="320040" y="2834640"/>
            <a:ext cx="4114440" cy="19929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1" name="Shape 11"/>
          <p:cNvSpPr/>
          <p:nvPr/>
        </p:nvSpPr>
        <p:spPr>
          <a:xfrm>
            <a:off x="320040" y="2834640"/>
            <a:ext cx="4114440" cy="3654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Text 12"/>
          <p:cNvSpPr/>
          <p:nvPr/>
        </p:nvSpPr>
        <p:spPr>
          <a:xfrm>
            <a:off x="457200" y="283464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len( )  →  FUNCTION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3" name="Text 13"/>
          <p:cNvSpPr/>
          <p:nvPr/>
        </p:nvSpPr>
        <p:spPr>
          <a:xfrm>
            <a:off x="457200" y="3255120"/>
            <a:ext cx="38401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Exists independently, outside any class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NOT found inside Python's list class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When you type data. and wait, len doesn't appear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It's a standalone built-in function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4" name="Shape 14"/>
          <p:cNvSpPr/>
          <p:nvPr/>
        </p:nvSpPr>
        <p:spPr>
          <a:xfrm>
            <a:off x="4709160" y="2834640"/>
            <a:ext cx="4114440" cy="19929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5" name="Shape 15"/>
          <p:cNvSpPr/>
          <p:nvPr/>
        </p:nvSpPr>
        <p:spPr>
          <a:xfrm>
            <a:off x="4709160" y="2834640"/>
            <a:ext cx="4114440" cy="365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 16"/>
          <p:cNvSpPr/>
          <p:nvPr/>
        </p:nvSpPr>
        <p:spPr>
          <a:xfrm>
            <a:off x="4846320" y="283464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append( )  →  METHOD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7" name="Text 17"/>
          <p:cNvSpPr/>
          <p:nvPr/>
        </p:nvSpPr>
        <p:spPr>
          <a:xfrm>
            <a:off x="4846320" y="3255120"/>
            <a:ext cx="38401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Defined INSIDE Python's list class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When you type data. and wait, it appears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Belongs to list — only lists can call it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It's a method of the list class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8" name="Shape 18"/>
          <p:cNvSpPr/>
          <p:nvPr/>
        </p:nvSpPr>
        <p:spPr>
          <a:xfrm>
            <a:off x="320040" y="4773240"/>
            <a:ext cx="8503560" cy="2923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9" name="Shape 19"/>
          <p:cNvSpPr/>
          <p:nvPr/>
        </p:nvSpPr>
        <p:spPr>
          <a:xfrm>
            <a:off x="320040" y="4773240"/>
            <a:ext cx="91080" cy="2923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Text 20"/>
          <p:cNvSpPr/>
          <p:nvPr/>
        </p:nvSpPr>
        <p:spPr>
          <a:xfrm>
            <a:off x="502920" y="477324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Instructor's Note: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He admits sometimes accidentally saying 'function' instead of 'method' in class (due to coding in multiple languages). Don't pick up that habit — be precise especially in interviews.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Shape 1"/>
          <p:cNvSpPr/>
          <p:nvPr/>
        </p:nvSpPr>
        <p:spPr>
          <a:xfrm>
            <a:off x="0" y="0"/>
            <a:ext cx="109440" cy="1005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2"/>
          <p:cNvSpPr/>
          <p:nvPr/>
        </p:nvSpPr>
        <p:spPr>
          <a:xfrm>
            <a:off x="255960" y="12816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Class Diagram — Visual Representation of a Class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44" name="Text 3"/>
          <p:cNvSpPr/>
          <p:nvPr/>
        </p:nvSpPr>
        <p:spPr>
          <a:xfrm>
            <a:off x="255960" y="65844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10 — A format used in software design and interviews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5" name="Shape 4"/>
          <p:cNvSpPr/>
          <p:nvPr/>
        </p:nvSpPr>
        <p:spPr>
          <a:xfrm>
            <a:off x="320040" y="1143000"/>
            <a:ext cx="4023000" cy="36388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6" name="Text 5"/>
          <p:cNvSpPr/>
          <p:nvPr/>
        </p:nvSpPr>
        <p:spPr>
          <a:xfrm>
            <a:off x="457200" y="1261800"/>
            <a:ext cx="3748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Calibri"/>
                <a:ea typeface="Calibri"/>
              </a:rPr>
              <a:t>What is a Class Diagram?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7" name="Text 6"/>
          <p:cNvSpPr/>
          <p:nvPr/>
        </p:nvSpPr>
        <p:spPr>
          <a:xfrm>
            <a:off x="457200" y="1609200"/>
            <a:ext cx="37486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A standardized visual box showing a class's structure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Used in software design documents and system architecture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Interviewers sometimes show one and ask questions — know this format!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Divided into 3 horizontal sections: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8" name="Shape 7"/>
          <p:cNvSpPr/>
          <p:nvPr/>
        </p:nvSpPr>
        <p:spPr>
          <a:xfrm>
            <a:off x="751320" y="3780000"/>
            <a:ext cx="3748680" cy="4752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9" name="Shape 8"/>
          <p:cNvSpPr/>
          <p:nvPr/>
        </p:nvSpPr>
        <p:spPr>
          <a:xfrm>
            <a:off x="457200" y="2926080"/>
            <a:ext cx="72720" cy="475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9"/>
          <p:cNvSpPr/>
          <p:nvPr/>
        </p:nvSpPr>
        <p:spPr>
          <a:xfrm>
            <a:off x="621720" y="2926080"/>
            <a:ext cx="1508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0b4d8"/>
                </a:solidFill>
                <a:latin typeface="Calibri"/>
                <a:ea typeface="Calibri"/>
              </a:rPr>
              <a:t>Section 1 (Top)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1" name="Text 10"/>
          <p:cNvSpPr/>
          <p:nvPr/>
        </p:nvSpPr>
        <p:spPr>
          <a:xfrm>
            <a:off x="2148840" y="2926080"/>
            <a:ext cx="2011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Class name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2" name="Shape 11"/>
          <p:cNvSpPr/>
          <p:nvPr/>
        </p:nvSpPr>
        <p:spPr>
          <a:xfrm>
            <a:off x="457200" y="3493080"/>
            <a:ext cx="3748680" cy="4752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3" name="Shape 12"/>
          <p:cNvSpPr/>
          <p:nvPr/>
        </p:nvSpPr>
        <p:spPr>
          <a:xfrm>
            <a:off x="457200" y="3493080"/>
            <a:ext cx="72720" cy="475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13"/>
          <p:cNvSpPr/>
          <p:nvPr/>
        </p:nvSpPr>
        <p:spPr>
          <a:xfrm>
            <a:off x="621720" y="3493080"/>
            <a:ext cx="1508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fb703"/>
                </a:solidFill>
                <a:latin typeface="Calibri"/>
                <a:ea typeface="Calibri"/>
              </a:rPr>
              <a:t>Section 2 (Middle)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5" name="Text 14"/>
          <p:cNvSpPr/>
          <p:nvPr/>
        </p:nvSpPr>
        <p:spPr>
          <a:xfrm>
            <a:off x="2148840" y="3493080"/>
            <a:ext cx="2011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Attributes / data with ± symbols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6" name="Shape 15"/>
          <p:cNvSpPr/>
          <p:nvPr/>
        </p:nvSpPr>
        <p:spPr>
          <a:xfrm>
            <a:off x="457200" y="4060080"/>
            <a:ext cx="3748680" cy="4752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7" name="Shape 16"/>
          <p:cNvSpPr/>
          <p:nvPr/>
        </p:nvSpPr>
        <p:spPr>
          <a:xfrm>
            <a:off x="457200" y="4060080"/>
            <a:ext cx="72720" cy="475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Text 17"/>
          <p:cNvSpPr/>
          <p:nvPr/>
        </p:nvSpPr>
        <p:spPr>
          <a:xfrm>
            <a:off x="621720" y="4060080"/>
            <a:ext cx="1508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6d6a0"/>
                </a:solidFill>
                <a:latin typeface="Calibri"/>
                <a:ea typeface="Calibri"/>
              </a:rPr>
              <a:t>Section 3 (Bottom)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9" name="Text 18"/>
          <p:cNvSpPr/>
          <p:nvPr/>
        </p:nvSpPr>
        <p:spPr>
          <a:xfrm>
            <a:off x="2148840" y="4060080"/>
            <a:ext cx="2011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Methods with ± symbols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0" name="Shape 19"/>
          <p:cNvSpPr/>
          <p:nvPr/>
        </p:nvSpPr>
        <p:spPr>
          <a:xfrm>
            <a:off x="4617720" y="1143000"/>
            <a:ext cx="4205880" cy="36388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1" name="Text 20"/>
          <p:cNvSpPr/>
          <p:nvPr/>
        </p:nvSpPr>
        <p:spPr>
          <a:xfrm>
            <a:off x="4754880" y="126180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ATM Class Diagram Example: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2" name="Shape 21"/>
          <p:cNvSpPr/>
          <p:nvPr/>
        </p:nvSpPr>
        <p:spPr>
          <a:xfrm>
            <a:off x="5166360" y="1664280"/>
            <a:ext cx="3108600" cy="475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Text 22"/>
          <p:cNvSpPr/>
          <p:nvPr/>
        </p:nvSpPr>
        <p:spPr>
          <a:xfrm>
            <a:off x="5166360" y="1664280"/>
            <a:ext cx="3108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d1b2a"/>
                </a:solidFill>
                <a:latin typeface="Calibri"/>
                <a:ea typeface="Calibri"/>
              </a:rPr>
              <a:t>ATM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4" name="Shape 23"/>
          <p:cNvSpPr/>
          <p:nvPr/>
        </p:nvSpPr>
        <p:spPr>
          <a:xfrm>
            <a:off x="5166360" y="2139840"/>
            <a:ext cx="3108600" cy="54360"/>
          </a:xfrm>
          <a:prstGeom prst="rect">
            <a:avLst/>
          </a:prstGeom>
          <a:solidFill>
            <a:srgbClr val="8da9c4"/>
          </a:solidFill>
          <a:ln w="12700">
            <a:solidFill>
              <a:srgbClr val="8da9c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Shape 24"/>
          <p:cNvSpPr/>
          <p:nvPr/>
        </p:nvSpPr>
        <p:spPr>
          <a:xfrm>
            <a:off x="5166360" y="2194560"/>
            <a:ext cx="3108600" cy="8956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6" name="Text 25"/>
          <p:cNvSpPr/>
          <p:nvPr/>
        </p:nvSpPr>
        <p:spPr>
          <a:xfrm>
            <a:off x="5330880" y="224928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6b6b"/>
                </a:solidFill>
                <a:latin typeface="Consolas"/>
                <a:ea typeface="Consolas"/>
              </a:rPr>
              <a:t>− </a:t>
            </a:r>
            <a:r>
              <a:rPr b="1" lang="en-US" sz="1200" spc="-1" strike="noStrike">
                <a:solidFill>
                  <a:srgbClr val="ff6b6b"/>
                </a:solidFill>
                <a:latin typeface="Consolas"/>
                <a:ea typeface="Consolas"/>
              </a:rPr>
              <a:t>pin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7" name="Text 26"/>
          <p:cNvSpPr/>
          <p:nvPr/>
        </p:nvSpPr>
        <p:spPr>
          <a:xfrm>
            <a:off x="6556320" y="2249280"/>
            <a:ext cx="1599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Private — PIN code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68" name="Text 27"/>
          <p:cNvSpPr/>
          <p:nvPr/>
        </p:nvSpPr>
        <p:spPr>
          <a:xfrm>
            <a:off x="5330880" y="263340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6b6b"/>
                </a:solidFill>
                <a:latin typeface="Consolas"/>
                <a:ea typeface="Consolas"/>
              </a:rPr>
              <a:t>− </a:t>
            </a:r>
            <a:r>
              <a:rPr b="1" lang="en-US" sz="1200" spc="-1" strike="noStrike">
                <a:solidFill>
                  <a:srgbClr val="ff6b6b"/>
                </a:solidFill>
                <a:latin typeface="Consolas"/>
                <a:ea typeface="Consolas"/>
              </a:rPr>
              <a:t>balance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9" name="Text 28"/>
          <p:cNvSpPr/>
          <p:nvPr/>
        </p:nvSpPr>
        <p:spPr>
          <a:xfrm>
            <a:off x="6556320" y="2633400"/>
            <a:ext cx="1599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Private — account balance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70" name="Shape 29"/>
          <p:cNvSpPr/>
          <p:nvPr/>
        </p:nvSpPr>
        <p:spPr>
          <a:xfrm>
            <a:off x="5166360" y="3090600"/>
            <a:ext cx="3108600" cy="54360"/>
          </a:xfrm>
          <a:prstGeom prst="rect">
            <a:avLst/>
          </a:prstGeom>
          <a:solidFill>
            <a:srgbClr val="8da9c4"/>
          </a:solidFill>
          <a:ln w="12700">
            <a:solidFill>
              <a:srgbClr val="8da9c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Shape 30"/>
          <p:cNvSpPr/>
          <p:nvPr/>
        </p:nvSpPr>
        <p:spPr>
          <a:xfrm>
            <a:off x="5166360" y="3145680"/>
            <a:ext cx="3108600" cy="14626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2" name="Text 31"/>
          <p:cNvSpPr/>
          <p:nvPr/>
        </p:nvSpPr>
        <p:spPr>
          <a:xfrm>
            <a:off x="5330880" y="3200400"/>
            <a:ext cx="2880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d6a0"/>
                </a:solidFill>
                <a:latin typeface="Consolas"/>
                <a:ea typeface="Consolas"/>
              </a:rPr>
              <a:t>+ menu()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3" name="Text 32"/>
          <p:cNvSpPr/>
          <p:nvPr/>
        </p:nvSpPr>
        <p:spPr>
          <a:xfrm>
            <a:off x="5330880" y="3465720"/>
            <a:ext cx="2880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d6a0"/>
                </a:solidFill>
                <a:latin typeface="Consolas"/>
                <a:ea typeface="Consolas"/>
              </a:rPr>
              <a:t>+ create_pin()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4" name="Text 33"/>
          <p:cNvSpPr/>
          <p:nvPr/>
        </p:nvSpPr>
        <p:spPr>
          <a:xfrm>
            <a:off x="5330880" y="3730680"/>
            <a:ext cx="2880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d6a0"/>
                </a:solidFill>
                <a:latin typeface="Consolas"/>
                <a:ea typeface="Consolas"/>
              </a:rPr>
              <a:t>+ change_pin()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5" name="Text 34"/>
          <p:cNvSpPr/>
          <p:nvPr/>
        </p:nvSpPr>
        <p:spPr>
          <a:xfrm>
            <a:off x="5330880" y="3996000"/>
            <a:ext cx="2880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d6a0"/>
                </a:solidFill>
                <a:latin typeface="Consolas"/>
                <a:ea typeface="Consolas"/>
              </a:rPr>
              <a:t>+ check_balance()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6" name="Text 35"/>
          <p:cNvSpPr/>
          <p:nvPr/>
        </p:nvSpPr>
        <p:spPr>
          <a:xfrm>
            <a:off x="5330880" y="4260960"/>
            <a:ext cx="2880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d6a0"/>
                </a:solidFill>
                <a:latin typeface="Consolas"/>
                <a:ea typeface="Consolas"/>
              </a:rPr>
              <a:t>+ withdraw()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7" name="Shape 36"/>
          <p:cNvSpPr/>
          <p:nvPr/>
        </p:nvSpPr>
        <p:spPr>
          <a:xfrm>
            <a:off x="320040" y="4773240"/>
            <a:ext cx="8503560" cy="2739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8" name="Shape 37"/>
          <p:cNvSpPr/>
          <p:nvPr/>
        </p:nvSpPr>
        <p:spPr>
          <a:xfrm>
            <a:off x="320040" y="4773240"/>
            <a:ext cx="91080" cy="273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38"/>
          <p:cNvSpPr/>
          <p:nvPr/>
        </p:nvSpPr>
        <p:spPr>
          <a:xfrm>
            <a:off x="502920" y="4773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Coming Soon: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The + / − symbols represent Encapsulation (public vs private). Full details covered in Tuesday's session.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Shape 1"/>
          <p:cNvSpPr/>
          <p:nvPr/>
        </p:nvSpPr>
        <p:spPr>
          <a:xfrm>
            <a:off x="0" y="0"/>
            <a:ext cx="109440" cy="1005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Text 2"/>
          <p:cNvSpPr/>
          <p:nvPr/>
        </p:nvSpPr>
        <p:spPr>
          <a:xfrm>
            <a:off x="255960" y="12816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Access Modifiers in Class Diagrams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83" name="Text 3"/>
          <p:cNvSpPr/>
          <p:nvPr/>
        </p:nvSpPr>
        <p:spPr>
          <a:xfrm>
            <a:off x="255960" y="65844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10.3 — What + and − mean in a class diagram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4" name="Shape 4"/>
          <p:cNvSpPr/>
          <p:nvPr/>
        </p:nvSpPr>
        <p:spPr>
          <a:xfrm>
            <a:off x="320040" y="1143000"/>
            <a:ext cx="4114440" cy="34286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5" name="Shape 5"/>
          <p:cNvSpPr/>
          <p:nvPr/>
        </p:nvSpPr>
        <p:spPr>
          <a:xfrm>
            <a:off x="320040" y="1143000"/>
            <a:ext cx="4114440" cy="4111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 6"/>
          <p:cNvSpPr/>
          <p:nvPr/>
        </p:nvSpPr>
        <p:spPr>
          <a:xfrm>
            <a:off x="502920" y="114300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d1b2a"/>
                </a:solidFill>
                <a:latin typeface="Calibri"/>
                <a:ea typeface="Calibri"/>
              </a:rPr>
              <a:t>+   Public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87" name="Text 7"/>
          <p:cNvSpPr/>
          <p:nvPr/>
        </p:nvSpPr>
        <p:spPr>
          <a:xfrm>
            <a:off x="475560" y="1609200"/>
            <a:ext cx="384012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Accessible from OUTSIDE the class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Any code can read or call it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Example: +menu() — anyone can trigger the menu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Most methods are public by default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Written with a + prefix in diagrams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8" name="Shape 8"/>
          <p:cNvSpPr/>
          <p:nvPr/>
        </p:nvSpPr>
        <p:spPr>
          <a:xfrm>
            <a:off x="365760" y="3420000"/>
            <a:ext cx="4004640" cy="1005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Shape 9"/>
          <p:cNvSpPr/>
          <p:nvPr/>
        </p:nvSpPr>
        <p:spPr>
          <a:xfrm>
            <a:off x="365760" y="3420000"/>
            <a:ext cx="566640" cy="200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10"/>
          <p:cNvSpPr/>
          <p:nvPr/>
        </p:nvSpPr>
        <p:spPr>
          <a:xfrm>
            <a:off x="365760" y="342000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91" name="Text 11"/>
          <p:cNvSpPr/>
          <p:nvPr/>
        </p:nvSpPr>
        <p:spPr>
          <a:xfrm>
            <a:off x="457200" y="3675960"/>
            <a:ext cx="382176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onsolas"/>
                <a:ea typeface="Consolas"/>
              </a:rPr>
              <a:t>machine = ATM()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onsolas"/>
                <a:ea typeface="Consolas"/>
              </a:rPr>
              <a:t>machine.menu()    # ✔ public — works fine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2" name="Shape 12"/>
          <p:cNvSpPr/>
          <p:nvPr/>
        </p:nvSpPr>
        <p:spPr>
          <a:xfrm>
            <a:off x="4709160" y="1143000"/>
            <a:ext cx="4114440" cy="34286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3" name="Shape 13"/>
          <p:cNvSpPr/>
          <p:nvPr/>
        </p:nvSpPr>
        <p:spPr>
          <a:xfrm>
            <a:off x="4709160" y="1143000"/>
            <a:ext cx="4114440" cy="4111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Text 14"/>
          <p:cNvSpPr/>
          <p:nvPr/>
        </p:nvSpPr>
        <p:spPr>
          <a:xfrm>
            <a:off x="4864680" y="114300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d1b2a"/>
                </a:solidFill>
                <a:latin typeface="Calibri"/>
                <a:ea typeface="Calibri"/>
              </a:rPr>
              <a:t>−   </a:t>
            </a:r>
            <a:r>
              <a:rPr b="1" lang="en-US" sz="1600" spc="-1" strike="noStrike">
                <a:solidFill>
                  <a:srgbClr val="0d1b2a"/>
                </a:solidFill>
                <a:latin typeface="Calibri"/>
                <a:ea typeface="Calibri"/>
              </a:rPr>
              <a:t>Private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95" name="Text 15"/>
          <p:cNvSpPr/>
          <p:nvPr/>
        </p:nvSpPr>
        <p:spPr>
          <a:xfrm>
            <a:off x="4864680" y="1609200"/>
            <a:ext cx="384012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NOT accessible from outside the class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Only the class itself can use it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Example: −pin — external code can't read it directly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Used to protect sensitive data (Encapsulation)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Written with a − prefix in diagrams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6" name="Shape 16"/>
          <p:cNvSpPr/>
          <p:nvPr/>
        </p:nvSpPr>
        <p:spPr>
          <a:xfrm>
            <a:off x="4754880" y="3420000"/>
            <a:ext cx="4004640" cy="1005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Shape 17"/>
          <p:cNvSpPr/>
          <p:nvPr/>
        </p:nvSpPr>
        <p:spPr>
          <a:xfrm>
            <a:off x="4754880" y="3420000"/>
            <a:ext cx="566640" cy="200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Text 18"/>
          <p:cNvSpPr/>
          <p:nvPr/>
        </p:nvSpPr>
        <p:spPr>
          <a:xfrm>
            <a:off x="4754880" y="342000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99" name="Text 19"/>
          <p:cNvSpPr/>
          <p:nvPr/>
        </p:nvSpPr>
        <p:spPr>
          <a:xfrm>
            <a:off x="4846320" y="3675960"/>
            <a:ext cx="382176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onsolas"/>
                <a:ea typeface="Consolas"/>
              </a:rPr>
              <a:t>machine = ATM()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onsolas"/>
                <a:ea typeface="Consolas"/>
              </a:rPr>
              <a:t>machine.pin       # ✘ private — should fail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8da9c4"/>
                </a:solidFill>
                <a:latin typeface="Consolas"/>
                <a:ea typeface="Consolas"/>
              </a:rPr>
              <a:t># (Enforcement covered Tuesday)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0" name="Shape 20"/>
          <p:cNvSpPr/>
          <p:nvPr/>
        </p:nvSpPr>
        <p:spPr>
          <a:xfrm>
            <a:off x="320040" y="4663440"/>
            <a:ext cx="8503560" cy="383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1" name="Shape 21"/>
          <p:cNvSpPr/>
          <p:nvPr/>
        </p:nvSpPr>
        <p:spPr>
          <a:xfrm>
            <a:off x="320040" y="4663440"/>
            <a:ext cx="91080" cy="383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22"/>
          <p:cNvSpPr/>
          <p:nvPr/>
        </p:nvSpPr>
        <p:spPr>
          <a:xfrm>
            <a:off x="502920" y="4663440"/>
            <a:ext cx="8229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Quick Reference:  + = public (accessible outside)     − = private (internal only)     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Shape 1"/>
          <p:cNvSpPr/>
          <p:nvPr/>
        </p:nvSpPr>
        <p:spPr>
          <a:xfrm>
            <a:off x="0" y="0"/>
            <a:ext cx="109440" cy="1005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Text 2"/>
          <p:cNvSpPr/>
          <p:nvPr/>
        </p:nvSpPr>
        <p:spPr>
          <a:xfrm>
            <a:off x="255960" y="12816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The Constructor __init__ — Deep Dive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06" name="Text 3"/>
          <p:cNvSpPr/>
          <p:nvPr/>
        </p:nvSpPr>
        <p:spPr>
          <a:xfrm>
            <a:off x="255960" y="65844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7 — Why __init__ is unlike any other method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7" name="Shape 4"/>
          <p:cNvSpPr/>
          <p:nvPr/>
        </p:nvSpPr>
        <p:spPr>
          <a:xfrm>
            <a:off x="320040" y="1143000"/>
            <a:ext cx="8503560" cy="959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8" name="Shape 5"/>
          <p:cNvSpPr/>
          <p:nvPr/>
        </p:nvSpPr>
        <p:spPr>
          <a:xfrm>
            <a:off x="320040" y="1143000"/>
            <a:ext cx="8503560" cy="727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Text 6"/>
          <p:cNvSpPr/>
          <p:nvPr/>
        </p:nvSpPr>
        <p:spPr>
          <a:xfrm>
            <a:off x="457200" y="126180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b703"/>
                </a:solidFill>
                <a:latin typeface="Calibri"/>
                <a:ea typeface="Calibri"/>
              </a:rPr>
              <a:t>⚡ </a:t>
            </a:r>
            <a:r>
              <a:rPr b="1" lang="en-US" sz="1400" spc="-1" strike="noStrike">
                <a:solidFill>
                  <a:srgbClr val="ffb703"/>
                </a:solidFill>
                <a:latin typeface="Calibri"/>
                <a:ea typeface="Calibri"/>
              </a:rPr>
              <a:t>SUPERPOWER: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10" name="Text 7"/>
          <p:cNvSpPr/>
          <p:nvPr/>
        </p:nvSpPr>
        <p:spPr>
          <a:xfrm>
            <a:off x="2468880" y="1261800"/>
            <a:ext cx="6171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The constructor's code runs AUTOMATICALLY — you never need to call it — the instant an object is created.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1" name="Text 8"/>
          <p:cNvSpPr/>
          <p:nvPr/>
        </p:nvSpPr>
        <p:spPr>
          <a:xfrm>
            <a:off x="457200" y="1938600"/>
            <a:ext cx="832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ALL other methods execute only when explicitly called. __init__ is the only exception.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2" name="Shape 9"/>
          <p:cNvSpPr/>
          <p:nvPr/>
        </p:nvSpPr>
        <p:spPr>
          <a:xfrm>
            <a:off x="320040" y="2304360"/>
            <a:ext cx="4114440" cy="27244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3" name="Text 10"/>
          <p:cNvSpPr/>
          <p:nvPr/>
        </p:nvSpPr>
        <p:spPr>
          <a:xfrm>
            <a:off x="457200" y="241416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Proof — Auto-execution: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4" name="Shape 11"/>
          <p:cNvSpPr/>
          <p:nvPr/>
        </p:nvSpPr>
        <p:spPr>
          <a:xfrm>
            <a:off x="365760" y="2724840"/>
            <a:ext cx="4004640" cy="2194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Shape 12"/>
          <p:cNvSpPr/>
          <p:nvPr/>
        </p:nvSpPr>
        <p:spPr>
          <a:xfrm>
            <a:off x="365760" y="2724840"/>
            <a:ext cx="566640" cy="200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13"/>
          <p:cNvSpPr/>
          <p:nvPr/>
        </p:nvSpPr>
        <p:spPr>
          <a:xfrm>
            <a:off x="365760" y="272484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17" name="Text 14"/>
          <p:cNvSpPr/>
          <p:nvPr/>
        </p:nvSpPr>
        <p:spPr>
          <a:xfrm>
            <a:off x="457200" y="2980800"/>
            <a:ext cx="3821760" cy="189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class BankATM: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def __init__(self):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print('System ready!')  # auto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self.secret_code = ''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self.account_bal  = 0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m1 = BankATM()  # prints 'System ready!'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m2 = BankATM()  # prints 'System ready!' again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onsolas"/>
                <a:ea typeface="Consolas"/>
              </a:rPr>
              <a:t># Constructor ran TWICE — once per object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8" name="Shape 15"/>
          <p:cNvSpPr/>
          <p:nvPr/>
        </p:nvSpPr>
        <p:spPr>
          <a:xfrm>
            <a:off x="4709160" y="2304360"/>
            <a:ext cx="4114440" cy="27244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9" name="Text 16"/>
          <p:cNvSpPr/>
          <p:nvPr/>
        </p:nvSpPr>
        <p:spPr>
          <a:xfrm>
            <a:off x="4846320" y="241416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b703"/>
                </a:solidFill>
                <a:latin typeface="Calibri"/>
                <a:ea typeface="Calibri"/>
              </a:rPr>
              <a:t>Normal vs Constructor: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0" name="Shape 17"/>
          <p:cNvSpPr/>
          <p:nvPr/>
        </p:nvSpPr>
        <p:spPr>
          <a:xfrm>
            <a:off x="4846320" y="2779920"/>
            <a:ext cx="3821760" cy="6213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1" name="Shape 18"/>
          <p:cNvSpPr/>
          <p:nvPr/>
        </p:nvSpPr>
        <p:spPr>
          <a:xfrm>
            <a:off x="4846320" y="2779920"/>
            <a:ext cx="72720" cy="621360"/>
          </a:xfrm>
          <a:prstGeom prst="rect">
            <a:avLst/>
          </a:prstGeom>
          <a:solidFill>
            <a:srgbClr val="8da9c4"/>
          </a:solidFill>
          <a:ln w="12700">
            <a:solidFill>
              <a:srgbClr val="8da9c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19"/>
          <p:cNvSpPr/>
          <p:nvPr/>
        </p:nvSpPr>
        <p:spPr>
          <a:xfrm>
            <a:off x="5010840" y="2779920"/>
            <a:ext cx="16912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8da9c4"/>
                </a:solidFill>
                <a:latin typeface="Consolas"/>
                <a:ea typeface="Consolas"/>
              </a:rPr>
              <a:t>Normal Method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3" name="Text 20"/>
          <p:cNvSpPr/>
          <p:nvPr/>
        </p:nvSpPr>
        <p:spPr>
          <a:xfrm>
            <a:off x="6720840" y="2779920"/>
            <a:ext cx="18741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Must be called explicitly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4" name="Shape 21"/>
          <p:cNvSpPr/>
          <p:nvPr/>
        </p:nvSpPr>
        <p:spPr>
          <a:xfrm>
            <a:off x="4846320" y="3529440"/>
            <a:ext cx="3821760" cy="6213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5" name="Shape 22"/>
          <p:cNvSpPr/>
          <p:nvPr/>
        </p:nvSpPr>
        <p:spPr>
          <a:xfrm>
            <a:off x="4846320" y="3529440"/>
            <a:ext cx="72720" cy="6213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Text 23"/>
          <p:cNvSpPr/>
          <p:nvPr/>
        </p:nvSpPr>
        <p:spPr>
          <a:xfrm>
            <a:off x="5010840" y="3529440"/>
            <a:ext cx="16912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b703"/>
                </a:solidFill>
                <a:latin typeface="Consolas"/>
                <a:ea typeface="Consolas"/>
              </a:rPr>
              <a:t>__init__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7" name="Text 24"/>
          <p:cNvSpPr/>
          <p:nvPr/>
        </p:nvSpPr>
        <p:spPr>
          <a:xfrm>
            <a:off x="6720840" y="3529440"/>
            <a:ext cx="18741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Called automatically on creation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8" name="Text 25"/>
          <p:cNvSpPr/>
          <p:nvPr/>
        </p:nvSpPr>
        <p:spPr>
          <a:xfrm>
            <a:off x="4846320" y="4334400"/>
            <a:ext cx="38401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Every time a new object is created, constructor runs again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Create 3 objects → constructor runs 3 times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Each object gets its own fresh copy of attributes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9" name="Shape 26"/>
          <p:cNvSpPr/>
          <p:nvPr/>
        </p:nvSpPr>
        <p:spPr>
          <a:xfrm>
            <a:off x="320040" y="4773240"/>
            <a:ext cx="8503560" cy="2739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0" name="Shape 27"/>
          <p:cNvSpPr/>
          <p:nvPr/>
        </p:nvSpPr>
        <p:spPr>
          <a:xfrm>
            <a:off x="320040" y="4773240"/>
            <a:ext cx="91080" cy="273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Text 28"/>
          <p:cNvSpPr/>
          <p:nvPr/>
        </p:nvSpPr>
        <p:spPr>
          <a:xfrm>
            <a:off x="502920" y="4773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Multiple Objects: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Each object creation fires __init__ independently. m1 and m2 both got their own secret_code and account_bal — they don't share data.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Shape 1"/>
          <p:cNvSpPr/>
          <p:nvPr/>
        </p:nvSpPr>
        <p:spPr>
          <a:xfrm>
            <a:off x="0" y="0"/>
            <a:ext cx="109440" cy="1005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2"/>
          <p:cNvSpPr/>
          <p:nvPr/>
        </p:nvSpPr>
        <p:spPr>
          <a:xfrm>
            <a:off x="255960" y="12816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What Belongs Inside the Constructor?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35" name="Text 3"/>
          <p:cNvSpPr/>
          <p:nvPr/>
        </p:nvSpPr>
        <p:spPr>
          <a:xfrm>
            <a:off x="255960" y="65844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7.2 — The interview answer that separates textbook learners from practitioners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6" name="Shape 4"/>
          <p:cNvSpPr/>
          <p:nvPr/>
        </p:nvSpPr>
        <p:spPr>
          <a:xfrm>
            <a:off x="320040" y="1143000"/>
            <a:ext cx="4068720" cy="1938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7" name="Shape 5"/>
          <p:cNvSpPr/>
          <p:nvPr/>
        </p:nvSpPr>
        <p:spPr>
          <a:xfrm>
            <a:off x="320040" y="1143000"/>
            <a:ext cx="4068720" cy="3654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Text 6"/>
          <p:cNvSpPr/>
          <p:nvPr/>
        </p:nvSpPr>
        <p:spPr>
          <a:xfrm>
            <a:off x="457200" y="1143000"/>
            <a:ext cx="3821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Calibri"/>
              </a:rPr>
              <a:t>✗  </a:t>
            </a: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Calibri"/>
              </a:rPr>
              <a:t>Wrong (Textbook) Answer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9" name="Text 7"/>
          <p:cNvSpPr/>
          <p:nvPr/>
        </p:nvSpPr>
        <p:spPr>
          <a:xfrm>
            <a:off x="457200" y="1572840"/>
            <a:ext cx="3821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ff6b6b"/>
                </a:solidFill>
                <a:latin typeface="Calibri"/>
                <a:ea typeface="Calibri"/>
              </a:rPr>
              <a:t>"Constructor is used to initialize variables."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0" name="Text 8"/>
          <p:cNvSpPr/>
          <p:nvPr/>
        </p:nvSpPr>
        <p:spPr>
          <a:xfrm>
            <a:off x="457200" y="2066400"/>
            <a:ext cx="382176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Technically true — but this answer shows you only read a book, not built real apps.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1" name="Shape 9"/>
          <p:cNvSpPr/>
          <p:nvPr/>
        </p:nvSpPr>
        <p:spPr>
          <a:xfrm>
            <a:off x="4754880" y="1143000"/>
            <a:ext cx="4068720" cy="1938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2" name="Shape 10"/>
          <p:cNvSpPr/>
          <p:nvPr/>
        </p:nvSpPr>
        <p:spPr>
          <a:xfrm>
            <a:off x="4754880" y="1143000"/>
            <a:ext cx="4068720" cy="365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Text 11"/>
          <p:cNvSpPr/>
          <p:nvPr/>
        </p:nvSpPr>
        <p:spPr>
          <a:xfrm>
            <a:off x="4892040" y="1143000"/>
            <a:ext cx="3821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Calibri"/>
              </a:rPr>
              <a:t>✔  </a:t>
            </a: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Calibri"/>
              </a:rPr>
              <a:t>Correct (Practical) Answer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4" name="Text 12"/>
          <p:cNvSpPr/>
          <p:nvPr/>
        </p:nvSpPr>
        <p:spPr>
          <a:xfrm>
            <a:off x="4892040" y="1572840"/>
            <a:ext cx="382176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6d6a0"/>
                </a:solidFill>
                <a:latin typeface="Calibri"/>
                <a:ea typeface="Calibri"/>
              </a:rPr>
              <a:t>"Configuration-related code that must run automatically — without any user action — when the app starts."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5" name="Text 13"/>
          <p:cNvSpPr/>
          <p:nvPr/>
        </p:nvSpPr>
        <p:spPr>
          <a:xfrm>
            <a:off x="4892040" y="2487240"/>
            <a:ext cx="3821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The constructor is the ONLY method not under the user's control.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6" name="Shape 14"/>
          <p:cNvSpPr/>
          <p:nvPr/>
        </p:nvSpPr>
        <p:spPr>
          <a:xfrm>
            <a:off x="320040" y="3218760"/>
            <a:ext cx="4068720" cy="17827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7" name="Shape 15"/>
          <p:cNvSpPr/>
          <p:nvPr/>
        </p:nvSpPr>
        <p:spPr>
          <a:xfrm>
            <a:off x="320040" y="3218760"/>
            <a:ext cx="4068720" cy="347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Text 16"/>
          <p:cNvSpPr/>
          <p:nvPr/>
        </p:nvSpPr>
        <p:spPr>
          <a:xfrm>
            <a:off x="457200" y="3218760"/>
            <a:ext cx="3821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Calibri"/>
              </a:rPr>
              <a:t>✔  </a:t>
            </a: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Calibri"/>
              </a:rPr>
              <a:t>Belongs in Constructor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9" name="Text 17"/>
          <p:cNvSpPr/>
          <p:nvPr/>
        </p:nvSpPr>
        <p:spPr>
          <a:xfrm>
            <a:off x="457200" y="3620880"/>
            <a:ext cx="382176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Database connection code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Internet / API connection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Essential variable initialization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Any setup that MUST happen before app runs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0" name="Shape 18"/>
          <p:cNvSpPr/>
          <p:nvPr/>
        </p:nvSpPr>
        <p:spPr>
          <a:xfrm>
            <a:off x="4754880" y="3218760"/>
            <a:ext cx="4068720" cy="17827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1" name="Shape 19"/>
          <p:cNvSpPr/>
          <p:nvPr/>
        </p:nvSpPr>
        <p:spPr>
          <a:xfrm>
            <a:off x="4754880" y="3218760"/>
            <a:ext cx="4068720" cy="3470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2" name="Text 20"/>
          <p:cNvSpPr/>
          <p:nvPr/>
        </p:nvSpPr>
        <p:spPr>
          <a:xfrm>
            <a:off x="4892040" y="3218760"/>
            <a:ext cx="3821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Calibri"/>
              </a:rPr>
              <a:t>✗  </a:t>
            </a: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Calibri"/>
              </a:rPr>
              <a:t>Does NOT belong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3" name="Text 21"/>
          <p:cNvSpPr/>
          <p:nvPr/>
        </p:nvSpPr>
        <p:spPr>
          <a:xfrm>
            <a:off x="4892040" y="3620880"/>
            <a:ext cx="382176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Withdrawal / payment processing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Booking / ordering features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Anything the user triggers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Any action that needs user input first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4" name="Shape 22"/>
          <p:cNvSpPr/>
          <p:nvPr/>
        </p:nvSpPr>
        <p:spPr>
          <a:xfrm>
            <a:off x="320040" y="4773240"/>
            <a:ext cx="8503560" cy="2739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5" name="Shape 23"/>
          <p:cNvSpPr/>
          <p:nvPr/>
        </p:nvSpPr>
        <p:spPr>
          <a:xfrm>
            <a:off x="320040" y="4773240"/>
            <a:ext cx="91080" cy="273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Text 24"/>
          <p:cNvSpPr/>
          <p:nvPr/>
        </p:nvSpPr>
        <p:spPr>
          <a:xfrm>
            <a:off x="502920" y="4773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Ola App Example: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Connecting to the internet when the app opens? Constructor. Booking a cab? User-triggered method. Giving feedback? User-triggered method.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Shape 1"/>
          <p:cNvSpPr/>
          <p:nvPr/>
        </p:nvSpPr>
        <p:spPr>
          <a:xfrm>
            <a:off x="0" y="0"/>
            <a:ext cx="109440" cy="1005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Text 2"/>
          <p:cNvSpPr/>
          <p:nvPr/>
        </p:nvSpPr>
        <p:spPr>
          <a:xfrm>
            <a:off x="255960" y="12816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Philosophical Analogy + One Constructor Rule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60" name="Text 3"/>
          <p:cNvSpPr/>
          <p:nvPr/>
        </p:nvSpPr>
        <p:spPr>
          <a:xfrm>
            <a:off x="255960" y="65844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Sections 7.3 &amp; 7.5 — An analogy you'll never forget + Python's key restriction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1" name="Shape 4"/>
          <p:cNvSpPr/>
          <p:nvPr/>
        </p:nvSpPr>
        <p:spPr>
          <a:xfrm>
            <a:off x="320040" y="1143000"/>
            <a:ext cx="8503560" cy="22125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2" name="Shape 5"/>
          <p:cNvSpPr/>
          <p:nvPr/>
        </p:nvSpPr>
        <p:spPr>
          <a:xfrm>
            <a:off x="320040" y="1143000"/>
            <a:ext cx="109440" cy="22125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Text 6"/>
          <p:cNvSpPr/>
          <p:nvPr/>
        </p:nvSpPr>
        <p:spPr>
          <a:xfrm>
            <a:off x="567000" y="123444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b703"/>
                </a:solidFill>
                <a:latin typeface="Calibri"/>
                <a:ea typeface="Calibri"/>
              </a:rPr>
              <a:t>The Unforgettable Constructor Analogy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64" name="Shape 7"/>
          <p:cNvSpPr/>
          <p:nvPr/>
        </p:nvSpPr>
        <p:spPr>
          <a:xfrm>
            <a:off x="457200" y="1664280"/>
            <a:ext cx="1901520" cy="14626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5" name="Shape 8"/>
          <p:cNvSpPr/>
          <p:nvPr/>
        </p:nvSpPr>
        <p:spPr>
          <a:xfrm>
            <a:off x="457200" y="1664280"/>
            <a:ext cx="1901520" cy="3470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Text 9"/>
          <p:cNvSpPr/>
          <p:nvPr/>
        </p:nvSpPr>
        <p:spPr>
          <a:xfrm>
            <a:off x="457200" y="1664280"/>
            <a:ext cx="1901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0d1b2a"/>
                </a:solidFill>
                <a:latin typeface="Calibri"/>
                <a:ea typeface="Calibri"/>
              </a:rPr>
              <a:t>God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67" name="Text 10"/>
          <p:cNvSpPr/>
          <p:nvPr/>
        </p:nvSpPr>
        <p:spPr>
          <a:xfrm>
            <a:off x="457200" y="2048400"/>
            <a:ext cx="1901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8da9c4"/>
                </a:solidFill>
                <a:latin typeface="Calibri"/>
                <a:ea typeface="Calibri"/>
              </a:rPr>
              <a:t>↔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68" name="Text 11"/>
          <p:cNvSpPr/>
          <p:nvPr/>
        </p:nvSpPr>
        <p:spPr>
          <a:xfrm>
            <a:off x="457200" y="2377440"/>
            <a:ext cx="19015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The Programmer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9" name="Shape 12"/>
          <p:cNvSpPr/>
          <p:nvPr/>
        </p:nvSpPr>
        <p:spPr>
          <a:xfrm>
            <a:off x="2541960" y="1664280"/>
            <a:ext cx="1901520" cy="14626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0" name="Shape 13"/>
          <p:cNvSpPr/>
          <p:nvPr/>
        </p:nvSpPr>
        <p:spPr>
          <a:xfrm>
            <a:off x="2541960" y="1664280"/>
            <a:ext cx="1901520" cy="3470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Text 14"/>
          <p:cNvSpPr/>
          <p:nvPr/>
        </p:nvSpPr>
        <p:spPr>
          <a:xfrm>
            <a:off x="2541960" y="1664280"/>
            <a:ext cx="1901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0d1b2a"/>
                </a:solidFill>
                <a:latin typeface="Calibri"/>
                <a:ea typeface="Calibri"/>
              </a:rPr>
              <a:t>Earth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72" name="Text 15"/>
          <p:cNvSpPr/>
          <p:nvPr/>
        </p:nvSpPr>
        <p:spPr>
          <a:xfrm>
            <a:off x="2541960" y="2048400"/>
            <a:ext cx="1901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8da9c4"/>
                </a:solidFill>
                <a:latin typeface="Calibri"/>
                <a:ea typeface="Calibri"/>
              </a:rPr>
              <a:t>↔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73" name="Text 16"/>
          <p:cNvSpPr/>
          <p:nvPr/>
        </p:nvSpPr>
        <p:spPr>
          <a:xfrm>
            <a:off x="2541960" y="2377440"/>
            <a:ext cx="19015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The Class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4" name="Shape 17"/>
          <p:cNvSpPr/>
          <p:nvPr/>
        </p:nvSpPr>
        <p:spPr>
          <a:xfrm>
            <a:off x="4626720" y="1664280"/>
            <a:ext cx="1901520" cy="14626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5" name="Shape 18"/>
          <p:cNvSpPr/>
          <p:nvPr/>
        </p:nvSpPr>
        <p:spPr>
          <a:xfrm>
            <a:off x="4626720" y="1664280"/>
            <a:ext cx="1901520" cy="3470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Text 19"/>
          <p:cNvSpPr/>
          <p:nvPr/>
        </p:nvSpPr>
        <p:spPr>
          <a:xfrm>
            <a:off x="4626720" y="1664280"/>
            <a:ext cx="1901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0d1b2a"/>
                </a:solidFill>
                <a:latin typeface="Calibri"/>
                <a:ea typeface="Calibri"/>
              </a:rPr>
              <a:t>Human Beings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77" name="Text 20"/>
          <p:cNvSpPr/>
          <p:nvPr/>
        </p:nvSpPr>
        <p:spPr>
          <a:xfrm>
            <a:off x="4626720" y="2048400"/>
            <a:ext cx="1901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8da9c4"/>
                </a:solidFill>
                <a:latin typeface="Calibri"/>
                <a:ea typeface="Calibri"/>
              </a:rPr>
              <a:t>↔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78" name="Text 21"/>
          <p:cNvSpPr/>
          <p:nvPr/>
        </p:nvSpPr>
        <p:spPr>
          <a:xfrm>
            <a:off x="4626720" y="2377440"/>
            <a:ext cx="19015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The Objects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9" name="Shape 22"/>
          <p:cNvSpPr/>
          <p:nvPr/>
        </p:nvSpPr>
        <p:spPr>
          <a:xfrm>
            <a:off x="6711840" y="1664280"/>
            <a:ext cx="1901520" cy="14626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0" name="Shape 23"/>
          <p:cNvSpPr/>
          <p:nvPr/>
        </p:nvSpPr>
        <p:spPr>
          <a:xfrm>
            <a:off x="6711840" y="1664280"/>
            <a:ext cx="1901520" cy="3470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Text 24"/>
          <p:cNvSpPr/>
          <p:nvPr/>
        </p:nvSpPr>
        <p:spPr>
          <a:xfrm>
            <a:off x="6711840" y="1664280"/>
            <a:ext cx="1901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0d1b2a"/>
                </a:solidFill>
                <a:latin typeface="Calibri"/>
                <a:ea typeface="Calibri"/>
              </a:rPr>
              <a:t>Death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82" name="Text 25"/>
          <p:cNvSpPr/>
          <p:nvPr/>
        </p:nvSpPr>
        <p:spPr>
          <a:xfrm>
            <a:off x="6711840" y="2048400"/>
            <a:ext cx="1901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8da9c4"/>
                </a:solidFill>
                <a:latin typeface="Calibri"/>
                <a:ea typeface="Calibri"/>
              </a:rPr>
              <a:t>↔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83" name="Text 26"/>
          <p:cNvSpPr/>
          <p:nvPr/>
        </p:nvSpPr>
        <p:spPr>
          <a:xfrm>
            <a:off x="6711840" y="2377440"/>
            <a:ext cx="19015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The Constructor Code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4" name="Text 27"/>
          <p:cNvSpPr/>
          <p:nvPr/>
        </p:nvSpPr>
        <p:spPr>
          <a:xfrm>
            <a:off x="567000" y="3127320"/>
            <a:ext cx="8046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Why? Because death is GUARANTEED for every human (object) — and it's NOT under human control.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Just like constructor code is guaranteed to run and is NOT under the user's control.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5" name="Shape 28"/>
          <p:cNvSpPr/>
          <p:nvPr/>
        </p:nvSpPr>
        <p:spPr>
          <a:xfrm>
            <a:off x="320040" y="3858840"/>
            <a:ext cx="8503560" cy="9324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6" name="Shape 29"/>
          <p:cNvSpPr/>
          <p:nvPr/>
        </p:nvSpPr>
        <p:spPr>
          <a:xfrm>
            <a:off x="320040" y="3858840"/>
            <a:ext cx="8503560" cy="72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Text 30"/>
          <p:cNvSpPr/>
          <p:nvPr/>
        </p:nvSpPr>
        <p:spPr>
          <a:xfrm>
            <a:off x="457200" y="396864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6b6b"/>
                </a:solidFill>
                <a:latin typeface="Calibri"/>
                <a:ea typeface="Calibri"/>
              </a:rPr>
              <a:t>Python Rule: Only ONE Constructor Per Class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8" name="Text 31"/>
          <p:cNvSpPr/>
          <p:nvPr/>
        </p:nvSpPr>
        <p:spPr>
          <a:xfrm>
            <a:off x="457200" y="4316040"/>
            <a:ext cx="8229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Python </a:t>
            </a: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→  only one __init__ allowed     </a:t>
            </a: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Java  </a:t>
            </a:r>
            <a:r>
              <a:rPr b="1" lang="en-US" sz="1100" spc="-1" strike="noStrike">
                <a:solidFill>
                  <a:srgbClr val="ffb703"/>
                </a:solidFill>
                <a:latin typeface="Calibri"/>
                <a:ea typeface="Calibri"/>
              </a:rPr>
              <a:t>→  multiple constructors (overloading)     </a:t>
            </a: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C++  </a:t>
            </a:r>
            <a:r>
              <a:rPr b="1" lang="en-US" sz="1100" spc="-1" strike="noStrike">
                <a:solidFill>
                  <a:srgbClr val="ffb703"/>
                </a:solidFill>
                <a:latin typeface="Calibri"/>
                <a:ea typeface="Calibri"/>
              </a:rPr>
              <a:t>→  same as Java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9" name="Shape 32"/>
          <p:cNvSpPr/>
          <p:nvPr/>
        </p:nvSpPr>
        <p:spPr>
          <a:xfrm>
            <a:off x="320040" y="4773240"/>
            <a:ext cx="8503560" cy="2739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0" name="Shape 33"/>
          <p:cNvSpPr/>
          <p:nvPr/>
        </p:nvSpPr>
        <p:spPr>
          <a:xfrm>
            <a:off x="320040" y="4773240"/>
            <a:ext cx="91080" cy="273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Text 34"/>
          <p:cNvSpPr/>
          <p:nvPr/>
        </p:nvSpPr>
        <p:spPr>
          <a:xfrm>
            <a:off x="502920" y="4773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Also: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In Python the constructor name is always __init__ and cannot be renamed. In Java the constructor name equals the class name. In C++ the same.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Shape 1"/>
          <p:cNvSpPr/>
          <p:nvPr/>
        </p:nvSpPr>
        <p:spPr>
          <a:xfrm>
            <a:off x="0" y="0"/>
            <a:ext cx="109440" cy="1005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Text 2"/>
          <p:cNvSpPr/>
          <p:nvPr/>
        </p:nvSpPr>
        <p:spPr>
          <a:xfrm>
            <a:off x="255960" y="12816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Understanding 'self' — The Most Confusing Topic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95" name="Text 3"/>
          <p:cNvSpPr/>
          <p:nvPr/>
        </p:nvSpPr>
        <p:spPr>
          <a:xfrm>
            <a:off x="255960" y="65844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9 — 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6" name="Shape 4"/>
          <p:cNvSpPr/>
          <p:nvPr/>
        </p:nvSpPr>
        <p:spPr>
          <a:xfrm>
            <a:off x="320040" y="1143000"/>
            <a:ext cx="8503560" cy="7495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7" name="Shape 5"/>
          <p:cNvSpPr/>
          <p:nvPr/>
        </p:nvSpPr>
        <p:spPr>
          <a:xfrm>
            <a:off x="320040" y="1143000"/>
            <a:ext cx="8503560" cy="637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Text 6"/>
          <p:cNvSpPr/>
          <p:nvPr/>
        </p:nvSpPr>
        <p:spPr>
          <a:xfrm>
            <a:off x="457200" y="1234440"/>
            <a:ext cx="8229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self appears in THREE places in every class — and each serves a different purpose.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9" name="Shape 7"/>
          <p:cNvSpPr/>
          <p:nvPr/>
        </p:nvSpPr>
        <p:spPr>
          <a:xfrm>
            <a:off x="320040" y="2011680"/>
            <a:ext cx="8503560" cy="8683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0" name="Shape 8"/>
          <p:cNvSpPr/>
          <p:nvPr/>
        </p:nvSpPr>
        <p:spPr>
          <a:xfrm>
            <a:off x="320040" y="2011680"/>
            <a:ext cx="91080" cy="868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1" name="Shape 9"/>
          <p:cNvSpPr/>
          <p:nvPr/>
        </p:nvSpPr>
        <p:spPr>
          <a:xfrm>
            <a:off x="502920" y="2212920"/>
            <a:ext cx="383760" cy="383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Text 10"/>
          <p:cNvSpPr/>
          <p:nvPr/>
        </p:nvSpPr>
        <p:spPr>
          <a:xfrm>
            <a:off x="502920" y="22129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03" name="Text 11"/>
          <p:cNvSpPr/>
          <p:nvPr/>
        </p:nvSpPr>
        <p:spPr>
          <a:xfrm>
            <a:off x="1005840" y="206640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Method Definitions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04" name="Text 12"/>
          <p:cNvSpPr/>
          <p:nvPr/>
        </p:nvSpPr>
        <p:spPr>
          <a:xfrm>
            <a:off x="1005840" y="2487240"/>
            <a:ext cx="2651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First parameter in EVERY method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5" name="Shape 13"/>
          <p:cNvSpPr/>
          <p:nvPr/>
        </p:nvSpPr>
        <p:spPr>
          <a:xfrm>
            <a:off x="3794760" y="2084760"/>
            <a:ext cx="4754520" cy="731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Text 14"/>
          <p:cNvSpPr/>
          <p:nvPr/>
        </p:nvSpPr>
        <p:spPr>
          <a:xfrm>
            <a:off x="3886200" y="2139840"/>
            <a:ext cx="45716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00b4d8"/>
                </a:solidFill>
                <a:latin typeface="Consolas"/>
                <a:ea typeface="Consolas"/>
              </a:rPr>
              <a:t>def __init__(self):     # ← here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00b4d8"/>
                </a:solidFill>
                <a:latin typeface="Consolas"/>
                <a:ea typeface="Consolas"/>
              </a:rPr>
              <a:t>def show_menu(self):    # ← here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00b4d8"/>
                </a:solidFill>
                <a:latin typeface="Consolas"/>
                <a:ea typeface="Consolas"/>
              </a:rPr>
              <a:t>def do_withdraw(self):  # ← here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07" name="Shape 15"/>
          <p:cNvSpPr/>
          <p:nvPr/>
        </p:nvSpPr>
        <p:spPr>
          <a:xfrm>
            <a:off x="320040" y="2999160"/>
            <a:ext cx="8503560" cy="8683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8" name="Shape 16"/>
          <p:cNvSpPr/>
          <p:nvPr/>
        </p:nvSpPr>
        <p:spPr>
          <a:xfrm>
            <a:off x="320040" y="2999160"/>
            <a:ext cx="91080" cy="868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Shape 17"/>
          <p:cNvSpPr/>
          <p:nvPr/>
        </p:nvSpPr>
        <p:spPr>
          <a:xfrm>
            <a:off x="502920" y="3200400"/>
            <a:ext cx="383760" cy="38376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Text 18"/>
          <p:cNvSpPr/>
          <p:nvPr/>
        </p:nvSpPr>
        <p:spPr>
          <a:xfrm>
            <a:off x="502920" y="3200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11" name="Text 19"/>
          <p:cNvSpPr/>
          <p:nvPr/>
        </p:nvSpPr>
        <p:spPr>
          <a:xfrm>
            <a:off x="1005840" y="305424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d6a0"/>
                </a:solidFill>
                <a:latin typeface="Calibri"/>
                <a:ea typeface="Calibri"/>
              </a:rPr>
              <a:t>Attribute Names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12" name="Text 20"/>
          <p:cNvSpPr/>
          <p:nvPr/>
        </p:nvSpPr>
        <p:spPr>
          <a:xfrm>
            <a:off x="1005840" y="3474720"/>
            <a:ext cx="2651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Prefix on every class variable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3" name="Shape 21"/>
          <p:cNvSpPr/>
          <p:nvPr/>
        </p:nvSpPr>
        <p:spPr>
          <a:xfrm>
            <a:off x="3794760" y="3072240"/>
            <a:ext cx="4754520" cy="731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Text 22"/>
          <p:cNvSpPr/>
          <p:nvPr/>
        </p:nvSpPr>
        <p:spPr>
          <a:xfrm>
            <a:off x="3886200" y="3127320"/>
            <a:ext cx="45716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00b4d8"/>
                </a:solidFill>
                <a:latin typeface="Consolas"/>
                <a:ea typeface="Consolas"/>
              </a:rPr>
              <a:t>def __init__(self):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06d6a0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06d6a0"/>
                </a:solidFill>
                <a:latin typeface="Consolas"/>
                <a:ea typeface="Consolas"/>
              </a:rPr>
              <a:t>self.secret_code = '' # ← here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06d6a0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06d6a0"/>
                </a:solidFill>
                <a:latin typeface="Consolas"/>
                <a:ea typeface="Consolas"/>
              </a:rPr>
              <a:t>self.account_bal  = 0  # ← here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15" name="Shape 23"/>
          <p:cNvSpPr/>
          <p:nvPr/>
        </p:nvSpPr>
        <p:spPr>
          <a:xfrm>
            <a:off x="320040" y="3986640"/>
            <a:ext cx="8503560" cy="8683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6" name="Shape 24"/>
          <p:cNvSpPr/>
          <p:nvPr/>
        </p:nvSpPr>
        <p:spPr>
          <a:xfrm>
            <a:off x="320040" y="3986640"/>
            <a:ext cx="91080" cy="8683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Shape 25"/>
          <p:cNvSpPr/>
          <p:nvPr/>
        </p:nvSpPr>
        <p:spPr>
          <a:xfrm>
            <a:off x="502920" y="4187880"/>
            <a:ext cx="383760" cy="38376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Text 26"/>
          <p:cNvSpPr/>
          <p:nvPr/>
        </p:nvSpPr>
        <p:spPr>
          <a:xfrm>
            <a:off x="502920" y="4187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19" name="Text 27"/>
          <p:cNvSpPr/>
          <p:nvPr/>
        </p:nvSpPr>
        <p:spPr>
          <a:xfrm>
            <a:off x="1005840" y="404172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b703"/>
                </a:solidFill>
                <a:latin typeface="Calibri"/>
                <a:ea typeface="Calibri"/>
              </a:rPr>
              <a:t>Method Calls Inside Class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20" name="Text 28"/>
          <p:cNvSpPr/>
          <p:nvPr/>
        </p:nvSpPr>
        <p:spPr>
          <a:xfrm>
            <a:off x="1005840" y="4462200"/>
            <a:ext cx="2651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When one method calls another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1" name="Shape 29"/>
          <p:cNvSpPr/>
          <p:nvPr/>
        </p:nvSpPr>
        <p:spPr>
          <a:xfrm>
            <a:off x="3794760" y="4060080"/>
            <a:ext cx="4754520" cy="731160"/>
          </a:xfrm>
          <a:prstGeom prst="rect">
            <a:avLst/>
          </a:prstGeom>
          <a:solidFill>
            <a:srgbClr val="0a1628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Text 30"/>
          <p:cNvSpPr/>
          <p:nvPr/>
        </p:nvSpPr>
        <p:spPr>
          <a:xfrm>
            <a:off x="3886200" y="4114800"/>
            <a:ext cx="45716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00b4d8"/>
                </a:solidFill>
                <a:latin typeface="Consolas"/>
                <a:ea typeface="Consolas"/>
              </a:rPr>
              <a:t>def __init__(self):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b703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b703"/>
                </a:solidFill>
                <a:latin typeface="Consolas"/>
                <a:ea typeface="Consolas"/>
              </a:rPr>
              <a:t>self.show_menu()   # ← here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0f4f8"/>
                </a:solidFill>
                <a:latin typeface="Consolas"/>
                <a:ea typeface="Consolas"/>
              </a:rPr>
              <a:t># (can't call directly without self)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23" name="Shape 31"/>
          <p:cNvSpPr/>
          <p:nvPr/>
        </p:nvSpPr>
        <p:spPr>
          <a:xfrm>
            <a:off x="320040" y="4773240"/>
            <a:ext cx="8503560" cy="2739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4" name="Shape 32"/>
          <p:cNvSpPr/>
          <p:nvPr/>
        </p:nvSpPr>
        <p:spPr>
          <a:xfrm>
            <a:off x="320040" y="4773240"/>
            <a:ext cx="91080" cy="273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Text 33"/>
          <p:cNvSpPr/>
          <p:nvPr/>
        </p:nvSpPr>
        <p:spPr>
          <a:xfrm>
            <a:off x="502920" y="4773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Instructor's Warning: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'If you miss how self works, you'll be troubled by it forever. Give me your full focus for the next 10 minutes.'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7" name="Shape 1"/>
          <p:cNvSpPr/>
          <p:nvPr/>
        </p:nvSpPr>
        <p:spPr>
          <a:xfrm>
            <a:off x="0" y="0"/>
            <a:ext cx="109440" cy="1005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Text 2"/>
          <p:cNvSpPr/>
          <p:nvPr/>
        </p:nvSpPr>
        <p:spPr>
          <a:xfrm>
            <a:off x="255960" y="12816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The Golden Rule of OOP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29" name="Text 3"/>
          <p:cNvSpPr/>
          <p:nvPr/>
        </p:nvSpPr>
        <p:spPr>
          <a:xfrm>
            <a:off x="255960" y="65844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9.2 — The foundation that explains WHY self must exist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0" name="Shape 4"/>
          <p:cNvSpPr/>
          <p:nvPr/>
        </p:nvSpPr>
        <p:spPr>
          <a:xfrm>
            <a:off x="320040" y="1143000"/>
            <a:ext cx="8503560" cy="10238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1" name="Shape 5"/>
          <p:cNvSpPr/>
          <p:nvPr/>
        </p:nvSpPr>
        <p:spPr>
          <a:xfrm>
            <a:off x="320040" y="1143000"/>
            <a:ext cx="8503560" cy="727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2" name="Text 6"/>
          <p:cNvSpPr/>
          <p:nvPr/>
        </p:nvSpPr>
        <p:spPr>
          <a:xfrm>
            <a:off x="457200" y="1261800"/>
            <a:ext cx="1828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b703"/>
                </a:solidFill>
                <a:latin typeface="Calibri"/>
                <a:ea typeface="Calibri"/>
              </a:rPr>
              <a:t>Golden Rule: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33" name="Text 7"/>
          <p:cNvSpPr/>
          <p:nvPr/>
        </p:nvSpPr>
        <p:spPr>
          <a:xfrm>
            <a:off x="2286000" y="1261800"/>
            <a:ext cx="6354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Inside a class, the data (attributes) and methods can ONLY be accessed by the OBJECT of that class.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34" name="Text 8"/>
          <p:cNvSpPr/>
          <p:nvPr/>
        </p:nvSpPr>
        <p:spPr>
          <a:xfrm>
            <a:off x="2286000" y="1810440"/>
            <a:ext cx="6354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Nobody else — not even other methods within the same class — can directly access them.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5" name="Shape 9"/>
          <p:cNvSpPr/>
          <p:nvPr/>
        </p:nvSpPr>
        <p:spPr>
          <a:xfrm>
            <a:off x="320040" y="2286000"/>
            <a:ext cx="4114440" cy="27244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6" name="Text 10"/>
          <p:cNvSpPr/>
          <p:nvPr/>
        </p:nvSpPr>
        <p:spPr>
          <a:xfrm>
            <a:off x="457200" y="239580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Proof — Object has full access: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7" name="Shape 11"/>
          <p:cNvSpPr/>
          <p:nvPr/>
        </p:nvSpPr>
        <p:spPr>
          <a:xfrm>
            <a:off x="365760" y="2724840"/>
            <a:ext cx="4004640" cy="217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8" name="Shape 12"/>
          <p:cNvSpPr/>
          <p:nvPr/>
        </p:nvSpPr>
        <p:spPr>
          <a:xfrm>
            <a:off x="365760" y="2724840"/>
            <a:ext cx="566640" cy="200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Text 13"/>
          <p:cNvSpPr/>
          <p:nvPr/>
        </p:nvSpPr>
        <p:spPr>
          <a:xfrm>
            <a:off x="365760" y="272484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40" name="Text 14"/>
          <p:cNvSpPr/>
          <p:nvPr/>
        </p:nvSpPr>
        <p:spPr>
          <a:xfrm>
            <a:off x="457200" y="2980800"/>
            <a:ext cx="3821760" cy="18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machine = ATM()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machine.  # type dot — see ALL members: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  secret_code, account_bal,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  show_menu, set_pin,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  update_pin, do_withdraw ...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The OBJECT (machine) can reach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everything inside the class.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41" name="Shape 15"/>
          <p:cNvSpPr/>
          <p:nvPr/>
        </p:nvSpPr>
        <p:spPr>
          <a:xfrm>
            <a:off x="4709160" y="2286000"/>
            <a:ext cx="4114440" cy="27244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2" name="Text 16"/>
          <p:cNvSpPr/>
          <p:nvPr/>
        </p:nvSpPr>
        <p:spPr>
          <a:xfrm>
            <a:off x="4846320" y="239580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6b6b"/>
                </a:solidFill>
                <a:latin typeface="Calibri"/>
                <a:ea typeface="Calibri"/>
              </a:rPr>
              <a:t>Critical Quiz: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3" name="Text 17"/>
          <p:cNvSpPr/>
          <p:nvPr/>
        </p:nvSpPr>
        <p:spPr>
          <a:xfrm>
            <a:off x="4846320" y="2724840"/>
            <a:ext cx="3821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Q: Can check_balance() directly call withdraw() inside the ATM class?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44" name="Shape 18"/>
          <p:cNvSpPr/>
          <p:nvPr/>
        </p:nvSpPr>
        <p:spPr>
          <a:xfrm>
            <a:off x="4846320" y="3438000"/>
            <a:ext cx="3821760" cy="5666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5" name="Shape 19"/>
          <p:cNvSpPr/>
          <p:nvPr/>
        </p:nvSpPr>
        <p:spPr>
          <a:xfrm>
            <a:off x="4846320" y="3438000"/>
            <a:ext cx="3821760" cy="72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6" name="Text 20"/>
          <p:cNvSpPr/>
          <p:nvPr/>
        </p:nvSpPr>
        <p:spPr>
          <a:xfrm>
            <a:off x="4983480" y="354780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6b6b"/>
                </a:solidFill>
                <a:latin typeface="Calibri"/>
                <a:ea typeface="Calibri"/>
              </a:rPr>
              <a:t>A:  NO!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47" name="Text 21"/>
          <p:cNvSpPr/>
          <p:nvPr/>
        </p:nvSpPr>
        <p:spPr>
          <a:xfrm>
            <a:off x="6035040" y="3547800"/>
            <a:ext cx="2541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Methods cannot talk to each other directly.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48" name="Text 22"/>
          <p:cNvSpPr/>
          <p:nvPr/>
        </p:nvSpPr>
        <p:spPr>
          <a:xfrm>
            <a:off x="4846320" y="4060080"/>
            <a:ext cx="3821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They MUST communicate through an object of the class.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49" name="Text 23"/>
          <p:cNvSpPr/>
          <p:nvPr/>
        </p:nvSpPr>
        <p:spPr>
          <a:xfrm>
            <a:off x="4846320" y="4443840"/>
            <a:ext cx="3821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b703"/>
                </a:solidFill>
                <a:latin typeface="Calibri"/>
                <a:ea typeface="Calibri"/>
              </a:rPr>
              <a:t>That object is self.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50" name="Shape 24"/>
          <p:cNvSpPr/>
          <p:nvPr/>
        </p:nvSpPr>
        <p:spPr>
          <a:xfrm>
            <a:off x="320040" y="4773240"/>
            <a:ext cx="8503560" cy="2739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1" name="Shape 25"/>
          <p:cNvSpPr/>
          <p:nvPr/>
        </p:nvSpPr>
        <p:spPr>
          <a:xfrm>
            <a:off x="320040" y="4773240"/>
            <a:ext cx="91080" cy="273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2" name="Text 26"/>
          <p:cNvSpPr/>
          <p:nvPr/>
        </p:nvSpPr>
        <p:spPr>
          <a:xfrm>
            <a:off x="502920" y="4773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Key Concept: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The Golden Rule is the REASON self exists. Without an object to relay calls through, methods would be isolated — unable to use attributes or call each other.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4" name="Shape 1"/>
          <p:cNvSpPr/>
          <p:nvPr/>
        </p:nvSpPr>
        <p:spPr>
          <a:xfrm>
            <a:off x="0" y="0"/>
            <a:ext cx="109440" cy="1005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5" name="Text 2"/>
          <p:cNvSpPr/>
          <p:nvPr/>
        </p:nvSpPr>
        <p:spPr>
          <a:xfrm>
            <a:off x="255960" y="12816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What IS 'self'? — The Big Reveal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56" name="Text 3"/>
          <p:cNvSpPr/>
          <p:nvPr/>
        </p:nvSpPr>
        <p:spPr>
          <a:xfrm>
            <a:off x="255960" y="65844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9.3 — Proved with memory addresses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57" name="Shape 4"/>
          <p:cNvSpPr/>
          <p:nvPr/>
        </p:nvSpPr>
        <p:spPr>
          <a:xfrm>
            <a:off x="320040" y="1143000"/>
            <a:ext cx="8503560" cy="8956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8" name="Shape 5"/>
          <p:cNvSpPr/>
          <p:nvPr/>
        </p:nvSpPr>
        <p:spPr>
          <a:xfrm>
            <a:off x="320040" y="1143000"/>
            <a:ext cx="8503560" cy="72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9" name="Text 6"/>
          <p:cNvSpPr/>
          <p:nvPr/>
        </p:nvSpPr>
        <p:spPr>
          <a:xfrm>
            <a:off x="457200" y="126180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6d6a0"/>
                </a:solidFill>
                <a:latin typeface="Calibri"/>
                <a:ea typeface="Calibri"/>
              </a:rPr>
              <a:t>CONCLUSION: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60" name="Text 7"/>
          <p:cNvSpPr/>
          <p:nvPr/>
        </p:nvSpPr>
        <p:spPr>
          <a:xfrm>
            <a:off x="2194560" y="1261800"/>
            <a:ext cx="6491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self IS the current object of the class — nothing more, nothing less.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61" name="Text 8"/>
          <p:cNvSpPr/>
          <p:nvPr/>
        </p:nvSpPr>
        <p:spPr>
          <a:xfrm>
            <a:off x="457200" y="187452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self and obj point to the exact same memory address. They are the same thing.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62" name="Shape 9"/>
          <p:cNvSpPr/>
          <p:nvPr/>
        </p:nvSpPr>
        <p:spPr>
          <a:xfrm>
            <a:off x="320040" y="2267640"/>
            <a:ext cx="5028840" cy="24868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3" name="Text 10"/>
          <p:cNvSpPr/>
          <p:nvPr/>
        </p:nvSpPr>
        <p:spPr>
          <a:xfrm>
            <a:off x="457200" y="2377440"/>
            <a:ext cx="4663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Memory Address Proof: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64" name="Shape 11"/>
          <p:cNvSpPr/>
          <p:nvPr/>
        </p:nvSpPr>
        <p:spPr>
          <a:xfrm>
            <a:off x="365760" y="2688480"/>
            <a:ext cx="4854240" cy="2084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5" name="Shape 12"/>
          <p:cNvSpPr/>
          <p:nvPr/>
        </p:nvSpPr>
        <p:spPr>
          <a:xfrm>
            <a:off x="365760" y="2688480"/>
            <a:ext cx="566640" cy="200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6" name="Text 13"/>
          <p:cNvSpPr/>
          <p:nvPr/>
        </p:nvSpPr>
        <p:spPr>
          <a:xfrm>
            <a:off x="365760" y="268848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67" name="Text 14"/>
          <p:cNvSpPr/>
          <p:nvPr/>
        </p:nvSpPr>
        <p:spPr>
          <a:xfrm>
            <a:off x="457200" y="2944440"/>
            <a:ext cx="4736160" cy="165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class BankATM: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def __init__(self):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b703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ffb703"/>
                </a:solidFill>
                <a:latin typeface="Consolas"/>
                <a:ea typeface="Consolas"/>
              </a:rPr>
              <a:t>print(id(self))   # address of self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self.secret_code = ''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kiosk = BankATM()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b703"/>
                </a:solidFill>
                <a:latin typeface="Consolas"/>
                <a:ea typeface="Consolas"/>
              </a:rPr>
              <a:t>print(id(kiosk))          # address of kiosk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OUTPUT: BOTH lines print THE SAME address!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e.g.  140456789012  (inside __init__)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       140456789012  (outside, via kiosk)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68" name="Shape 15"/>
          <p:cNvSpPr/>
          <p:nvPr/>
        </p:nvSpPr>
        <p:spPr>
          <a:xfrm>
            <a:off x="5577840" y="2267640"/>
            <a:ext cx="3245760" cy="11516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9" name="Shape 16"/>
          <p:cNvSpPr/>
          <p:nvPr/>
        </p:nvSpPr>
        <p:spPr>
          <a:xfrm>
            <a:off x="5577840" y="2267640"/>
            <a:ext cx="3245760" cy="347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0" name="Text 17"/>
          <p:cNvSpPr/>
          <p:nvPr/>
        </p:nvSpPr>
        <p:spPr>
          <a:xfrm>
            <a:off x="5715000" y="2267640"/>
            <a:ext cx="2971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  <a:ea typeface="Calibri"/>
              </a:rPr>
              <a:t>How Python actually works: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71" name="Shape 18"/>
          <p:cNvSpPr/>
          <p:nvPr/>
        </p:nvSpPr>
        <p:spPr>
          <a:xfrm>
            <a:off x="5623560" y="2651760"/>
            <a:ext cx="3200040" cy="948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2" name="Shape 19"/>
          <p:cNvSpPr/>
          <p:nvPr/>
        </p:nvSpPr>
        <p:spPr>
          <a:xfrm>
            <a:off x="5623560" y="2651760"/>
            <a:ext cx="566640" cy="200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3" name="Text 20"/>
          <p:cNvSpPr/>
          <p:nvPr/>
        </p:nvSpPr>
        <p:spPr>
          <a:xfrm>
            <a:off x="5623560" y="265176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74" name="Text 21"/>
          <p:cNvSpPr/>
          <p:nvPr/>
        </p:nvSpPr>
        <p:spPr>
          <a:xfrm>
            <a:off x="5715000" y="2907720"/>
            <a:ext cx="292572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onsolas"/>
                <a:ea typeface="Consolas"/>
              </a:rPr>
              <a:t># You write: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0f4f8"/>
                </a:solidFill>
                <a:latin typeface="Consolas"/>
                <a:ea typeface="Consolas"/>
              </a:rPr>
              <a:t>kiosk.update_pin()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onsolas"/>
                <a:ea typeface="Consolas"/>
              </a:rPr>
              <a:t># Python does internally: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0f4f8"/>
                </a:solidFill>
                <a:latin typeface="Consolas"/>
                <a:ea typeface="Consolas"/>
              </a:rPr>
              <a:t>BankATM.update_pin(kiosk)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75" name="Shape 22"/>
          <p:cNvSpPr/>
          <p:nvPr/>
        </p:nvSpPr>
        <p:spPr>
          <a:xfrm>
            <a:off x="5577840" y="3600000"/>
            <a:ext cx="3245760" cy="11545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76" name="Shape 23"/>
          <p:cNvSpPr/>
          <p:nvPr/>
        </p:nvSpPr>
        <p:spPr>
          <a:xfrm>
            <a:off x="5577840" y="3600000"/>
            <a:ext cx="3245760" cy="3470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7" name="Text 24"/>
          <p:cNvSpPr/>
          <p:nvPr/>
        </p:nvSpPr>
        <p:spPr>
          <a:xfrm>
            <a:off x="5715000" y="3493080"/>
            <a:ext cx="2971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  <a:ea typeface="Calibri"/>
              </a:rPr>
              <a:t>What this means for you: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78" name="Text 25"/>
          <p:cNvSpPr/>
          <p:nvPr/>
        </p:nvSpPr>
        <p:spPr>
          <a:xfrm>
            <a:off x="5715000" y="3895200"/>
            <a:ext cx="301716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endParaRPr b="0" lang="en-IN" sz="10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Python auto-passes the object as 1st arg, </a:t>
            </a: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That argument is received as 'self'</a:t>
            </a:r>
            <a:endParaRPr b="0" lang="en-IN" sz="10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b703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ffb703"/>
                </a:solidFill>
                <a:latin typeface="Calibri"/>
                <a:ea typeface="Calibri"/>
              </a:rPr>
              <a:t>So every method MUST have self as 1st param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79" name="Shape 26"/>
          <p:cNvSpPr/>
          <p:nvPr/>
        </p:nvSpPr>
        <p:spPr>
          <a:xfrm>
            <a:off x="320040" y="4773240"/>
            <a:ext cx="8503560" cy="2739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80" name="Shape 27"/>
          <p:cNvSpPr/>
          <p:nvPr/>
        </p:nvSpPr>
        <p:spPr>
          <a:xfrm>
            <a:off x="320040" y="4773240"/>
            <a:ext cx="91080" cy="273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1" name="Text 28"/>
          <p:cNvSpPr/>
          <p:nvPr/>
        </p:nvSpPr>
        <p:spPr>
          <a:xfrm>
            <a:off x="502920" y="4773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self and the object are two names for the same thing.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3" name="Shape 1"/>
          <p:cNvSpPr/>
          <p:nvPr/>
        </p:nvSpPr>
        <p:spPr>
          <a:xfrm>
            <a:off x="0" y="0"/>
            <a:ext cx="109440" cy="1005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4" name="Text 2"/>
          <p:cNvSpPr/>
          <p:nvPr/>
        </p:nvSpPr>
        <p:spPr>
          <a:xfrm>
            <a:off x="255960" y="12816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Why Does self Exist? — The Full Picture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85" name="Text 3"/>
          <p:cNvSpPr/>
          <p:nvPr/>
        </p:nvSpPr>
        <p:spPr>
          <a:xfrm>
            <a:off x="255960" y="65844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9.4 — Without self, methods are isolated islands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86" name="Shape 4"/>
          <p:cNvSpPr/>
          <p:nvPr/>
        </p:nvSpPr>
        <p:spPr>
          <a:xfrm>
            <a:off x="320040" y="1143000"/>
            <a:ext cx="4114440" cy="23313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87" name="Shape 5"/>
          <p:cNvSpPr/>
          <p:nvPr/>
        </p:nvSpPr>
        <p:spPr>
          <a:xfrm>
            <a:off x="320040" y="1143000"/>
            <a:ext cx="4114440" cy="3470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8" name="Text 6"/>
          <p:cNvSpPr/>
          <p:nvPr/>
        </p:nvSpPr>
        <p:spPr>
          <a:xfrm>
            <a:off x="457200" y="114300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Calibri"/>
              </a:rPr>
              <a:t>✗  </a:t>
            </a: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Calibri"/>
              </a:rPr>
              <a:t>WRONG — won't work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89" name="Shape 7"/>
          <p:cNvSpPr/>
          <p:nvPr/>
        </p:nvSpPr>
        <p:spPr>
          <a:xfrm>
            <a:off x="365760" y="1536120"/>
            <a:ext cx="4004640" cy="18284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0" name="Shape 8"/>
          <p:cNvSpPr/>
          <p:nvPr/>
        </p:nvSpPr>
        <p:spPr>
          <a:xfrm>
            <a:off x="365760" y="1536120"/>
            <a:ext cx="566640" cy="200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1" name="Text 9"/>
          <p:cNvSpPr/>
          <p:nvPr/>
        </p:nvSpPr>
        <p:spPr>
          <a:xfrm>
            <a:off x="365760" y="153612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92" name="Text 10"/>
          <p:cNvSpPr/>
          <p:nvPr/>
        </p:nvSpPr>
        <p:spPr>
          <a:xfrm>
            <a:off x="457200" y="1792080"/>
            <a:ext cx="3821760" cy="152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class BankATM: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def __init__(self):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self.secret_code = ''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6b6b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ff6b6b"/>
                </a:solidFill>
                <a:latin typeface="Consolas"/>
                <a:ea typeface="Consolas"/>
              </a:rPr>
              <a:t>show_menu()  # ERROR!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Cannot call directly —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violates Golden Rule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93" name="Shape 11"/>
          <p:cNvSpPr/>
          <p:nvPr/>
        </p:nvSpPr>
        <p:spPr>
          <a:xfrm>
            <a:off x="4709160" y="1143000"/>
            <a:ext cx="4114440" cy="23313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4" name="Shape 12"/>
          <p:cNvSpPr/>
          <p:nvPr/>
        </p:nvSpPr>
        <p:spPr>
          <a:xfrm>
            <a:off x="4709160" y="1143000"/>
            <a:ext cx="4114440" cy="3470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5" name="Text 13"/>
          <p:cNvSpPr/>
          <p:nvPr/>
        </p:nvSpPr>
        <p:spPr>
          <a:xfrm>
            <a:off x="4846320" y="114300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Calibri"/>
              </a:rPr>
              <a:t>✔  </a:t>
            </a: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Calibri"/>
              </a:rPr>
              <a:t>CORRECT — must use self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96" name="Shape 14"/>
          <p:cNvSpPr/>
          <p:nvPr/>
        </p:nvSpPr>
        <p:spPr>
          <a:xfrm>
            <a:off x="4754880" y="1536120"/>
            <a:ext cx="4004640" cy="18284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7" name="Shape 15"/>
          <p:cNvSpPr/>
          <p:nvPr/>
        </p:nvSpPr>
        <p:spPr>
          <a:xfrm>
            <a:off x="4754880" y="1536120"/>
            <a:ext cx="566640" cy="200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8" name="Text 16"/>
          <p:cNvSpPr/>
          <p:nvPr/>
        </p:nvSpPr>
        <p:spPr>
          <a:xfrm>
            <a:off x="4754880" y="153612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99" name="Text 17"/>
          <p:cNvSpPr/>
          <p:nvPr/>
        </p:nvSpPr>
        <p:spPr>
          <a:xfrm>
            <a:off x="4846320" y="1792080"/>
            <a:ext cx="3821760" cy="152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class BankATM: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def __init__(self):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self.secret_code = ''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self.show_menu()  # ✔ works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self IS the object —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communicates through it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00" name="Shape 18"/>
          <p:cNvSpPr/>
          <p:nvPr/>
        </p:nvSpPr>
        <p:spPr>
          <a:xfrm>
            <a:off x="320040" y="3611880"/>
            <a:ext cx="8503560" cy="13896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1" name="Text 19"/>
          <p:cNvSpPr/>
          <p:nvPr/>
        </p:nvSpPr>
        <p:spPr>
          <a:xfrm>
            <a:off x="457200" y="371232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Communication Flow Inside a Class: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02" name="Shape 20"/>
          <p:cNvSpPr/>
          <p:nvPr/>
        </p:nvSpPr>
        <p:spPr>
          <a:xfrm>
            <a:off x="548640" y="4041720"/>
            <a:ext cx="2285640" cy="8042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3" name="Shape 21"/>
          <p:cNvSpPr/>
          <p:nvPr/>
        </p:nvSpPr>
        <p:spPr>
          <a:xfrm>
            <a:off x="548640" y="4041720"/>
            <a:ext cx="2285640" cy="72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4" name="Text 22"/>
          <p:cNvSpPr/>
          <p:nvPr/>
        </p:nvSpPr>
        <p:spPr>
          <a:xfrm>
            <a:off x="548640" y="4114800"/>
            <a:ext cx="22856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onsolas"/>
                <a:ea typeface="Consolas"/>
              </a:rPr>
              <a:t>__init__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05" name="Text 23"/>
          <p:cNvSpPr/>
          <p:nvPr/>
        </p:nvSpPr>
        <p:spPr>
          <a:xfrm>
            <a:off x="2853000" y="429768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8da9c4"/>
                </a:solidFill>
                <a:latin typeface="Calibri"/>
                <a:ea typeface="Calibri"/>
              </a:rPr>
              <a:t>→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6" name="Shape 24"/>
          <p:cNvSpPr/>
          <p:nvPr/>
        </p:nvSpPr>
        <p:spPr>
          <a:xfrm>
            <a:off x="3291840" y="4041720"/>
            <a:ext cx="2285640" cy="8042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7" name="Shape 25"/>
          <p:cNvSpPr/>
          <p:nvPr/>
        </p:nvSpPr>
        <p:spPr>
          <a:xfrm>
            <a:off x="3291840" y="4041720"/>
            <a:ext cx="2285640" cy="727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8" name="Text 26"/>
          <p:cNvSpPr/>
          <p:nvPr/>
        </p:nvSpPr>
        <p:spPr>
          <a:xfrm>
            <a:off x="3291840" y="4114800"/>
            <a:ext cx="22856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b703"/>
                </a:solidFill>
                <a:latin typeface="Consolas"/>
                <a:ea typeface="Consolas"/>
              </a:rPr>
              <a:t>self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b703"/>
                </a:solidFill>
                <a:latin typeface="Consolas"/>
                <a:ea typeface="Consolas"/>
              </a:rPr>
              <a:t>(object)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09" name="Text 27"/>
          <p:cNvSpPr/>
          <p:nvPr/>
        </p:nvSpPr>
        <p:spPr>
          <a:xfrm>
            <a:off x="5596200" y="429768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8da9c4"/>
                </a:solidFill>
                <a:latin typeface="Calibri"/>
                <a:ea typeface="Calibri"/>
              </a:rPr>
              <a:t>→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10" name="Shape 28"/>
          <p:cNvSpPr/>
          <p:nvPr/>
        </p:nvSpPr>
        <p:spPr>
          <a:xfrm>
            <a:off x="6035040" y="4041720"/>
            <a:ext cx="2285640" cy="8042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11" name="Shape 29"/>
          <p:cNvSpPr/>
          <p:nvPr/>
        </p:nvSpPr>
        <p:spPr>
          <a:xfrm>
            <a:off x="6035040" y="4041720"/>
            <a:ext cx="2285640" cy="72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2" name="Text 30"/>
          <p:cNvSpPr/>
          <p:nvPr/>
        </p:nvSpPr>
        <p:spPr>
          <a:xfrm>
            <a:off x="6035040" y="4114800"/>
            <a:ext cx="22856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d6a0"/>
                </a:solidFill>
                <a:latin typeface="Consolas"/>
                <a:ea typeface="Consolas"/>
              </a:rPr>
              <a:t>show_menu()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13" name="Text 31"/>
          <p:cNvSpPr/>
          <p:nvPr/>
        </p:nvSpPr>
        <p:spPr>
          <a:xfrm>
            <a:off x="457200" y="4901040"/>
            <a:ext cx="832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Method must use self to relay call → self IS the object → object can call any method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14" name="Shape 32"/>
          <p:cNvSpPr/>
          <p:nvPr/>
        </p:nvSpPr>
        <p:spPr>
          <a:xfrm>
            <a:off x="320040" y="4773240"/>
            <a:ext cx="8503560" cy="2739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15" name="Shape 33"/>
          <p:cNvSpPr/>
          <p:nvPr/>
        </p:nvSpPr>
        <p:spPr>
          <a:xfrm>
            <a:off x="320040" y="4773240"/>
            <a:ext cx="91080" cy="273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6" name="Text 34"/>
          <p:cNvSpPr/>
          <p:nvPr/>
        </p:nvSpPr>
        <p:spPr>
          <a:xfrm>
            <a:off x="502920" y="4773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Key Takeaway: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self solves the Golden Rule restriction. By going through self (the object), one method can trigger any other method or access any attribute.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8" name="Shape 1"/>
          <p:cNvSpPr/>
          <p:nvPr/>
        </p:nvSpPr>
        <p:spPr>
          <a:xfrm>
            <a:off x="0" y="0"/>
            <a:ext cx="109440" cy="1005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9" name="Text 2"/>
          <p:cNvSpPr/>
          <p:nvPr/>
        </p:nvSpPr>
        <p:spPr>
          <a:xfrm>
            <a:off x="255960" y="12816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Proof: Removing 'self' Breaks Everything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20" name="Text 3"/>
          <p:cNvSpPr/>
          <p:nvPr/>
        </p:nvSpPr>
        <p:spPr>
          <a:xfrm>
            <a:off x="255960" y="65844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9.5 — Live error demonstration from the lecture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21" name="Shape 4"/>
          <p:cNvSpPr/>
          <p:nvPr/>
        </p:nvSpPr>
        <p:spPr>
          <a:xfrm>
            <a:off x="320040" y="1143000"/>
            <a:ext cx="5120280" cy="365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22" name="Text 5"/>
          <p:cNvSpPr/>
          <p:nvPr/>
        </p:nvSpPr>
        <p:spPr>
          <a:xfrm>
            <a:off x="457200" y="126180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6b6b"/>
                </a:solidFill>
                <a:latin typeface="Calibri"/>
                <a:ea typeface="Calibri"/>
              </a:rPr>
              <a:t>Code Without self (Broken):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23" name="Shape 6"/>
          <p:cNvSpPr/>
          <p:nvPr/>
        </p:nvSpPr>
        <p:spPr>
          <a:xfrm>
            <a:off x="365760" y="1591200"/>
            <a:ext cx="4983120" cy="190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4" name="Shape 7"/>
          <p:cNvSpPr/>
          <p:nvPr/>
        </p:nvSpPr>
        <p:spPr>
          <a:xfrm>
            <a:off x="365760" y="1591200"/>
            <a:ext cx="566640" cy="200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5" name="Text 8"/>
          <p:cNvSpPr/>
          <p:nvPr/>
        </p:nvSpPr>
        <p:spPr>
          <a:xfrm>
            <a:off x="365760" y="159120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426" name="Text 9"/>
          <p:cNvSpPr/>
          <p:nvPr/>
        </p:nvSpPr>
        <p:spPr>
          <a:xfrm>
            <a:off x="457200" y="1847160"/>
            <a:ext cx="480024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b4d8"/>
                </a:solidFill>
                <a:latin typeface="Consolas"/>
                <a:ea typeface="Consolas"/>
              </a:rPr>
              <a:t>class BankATM: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00b4d8"/>
                </a:solidFill>
                <a:latin typeface="Consolas"/>
                <a:ea typeface="Consolas"/>
              </a:rPr>
              <a:t>def update_pin():  # MISSING self!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f0f4f8"/>
                </a:solidFill>
                <a:latin typeface="Consolas"/>
                <a:ea typeface="Consolas"/>
              </a:rPr>
              <a:t>pass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onsolas"/>
                <a:ea typeface="Consolas"/>
              </a:rPr>
              <a:t>kiosk = BankATM()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6b6b"/>
                </a:solidFill>
                <a:latin typeface="Consolas"/>
                <a:ea typeface="Consolas"/>
              </a:rPr>
              <a:t>kiosk.update_pin()    # ← triggers error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27" name="Shape 10"/>
          <p:cNvSpPr/>
          <p:nvPr/>
        </p:nvSpPr>
        <p:spPr>
          <a:xfrm>
            <a:off x="365760" y="3547800"/>
            <a:ext cx="4983120" cy="10512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28" name="Shape 11"/>
          <p:cNvSpPr/>
          <p:nvPr/>
        </p:nvSpPr>
        <p:spPr>
          <a:xfrm>
            <a:off x="365760" y="3547800"/>
            <a:ext cx="4983120" cy="63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9" name="Text 12"/>
          <p:cNvSpPr/>
          <p:nvPr/>
        </p:nvSpPr>
        <p:spPr>
          <a:xfrm>
            <a:off x="502920" y="36302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Error Message: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30" name="Shape 13"/>
          <p:cNvSpPr/>
          <p:nvPr/>
        </p:nvSpPr>
        <p:spPr>
          <a:xfrm>
            <a:off x="402480" y="3931920"/>
            <a:ext cx="4919040" cy="621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1" name="Shape 14"/>
          <p:cNvSpPr/>
          <p:nvPr/>
        </p:nvSpPr>
        <p:spPr>
          <a:xfrm>
            <a:off x="402480" y="3931920"/>
            <a:ext cx="566640" cy="200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2" name="Text 15"/>
          <p:cNvSpPr/>
          <p:nvPr/>
        </p:nvSpPr>
        <p:spPr>
          <a:xfrm>
            <a:off x="402480" y="393192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433" name="Text 16"/>
          <p:cNvSpPr/>
          <p:nvPr/>
        </p:nvSpPr>
        <p:spPr>
          <a:xfrm>
            <a:off x="493920" y="4187880"/>
            <a:ext cx="4736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onsolas"/>
                <a:ea typeface="Consolas"/>
              </a:rPr>
              <a:t>TypeError: update_pin() takes 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onsolas"/>
                <a:ea typeface="Consolas"/>
              </a:rPr>
              <a:t>positional arguments but 1 was given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34" name="Shape 17"/>
          <p:cNvSpPr/>
          <p:nvPr/>
        </p:nvSpPr>
        <p:spPr>
          <a:xfrm>
            <a:off x="5623560" y="1143000"/>
            <a:ext cx="3200040" cy="34560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5" name="Text 18"/>
          <p:cNvSpPr/>
          <p:nvPr/>
        </p:nvSpPr>
        <p:spPr>
          <a:xfrm>
            <a:off x="5760720" y="126180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b703"/>
                </a:solidFill>
                <a:latin typeface="Calibri"/>
                <a:ea typeface="Calibri"/>
              </a:rPr>
              <a:t>Why This Error Happens: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36" name="Text 19"/>
          <p:cNvSpPr/>
          <p:nvPr/>
        </p:nvSpPr>
        <p:spPr>
          <a:xfrm>
            <a:off x="5760720" y="1591200"/>
            <a:ext cx="2925720" cy="230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When you call kiosk.update_pin()…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Python automatically passes kiosk as the first argument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update_pin() has no self parameter — it expected 0 args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Python gave 1 arg (kiosk) → mismatch → error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Adding self fixes it: def update_pin(self)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37" name="Shape 20"/>
          <p:cNvSpPr/>
          <p:nvPr/>
        </p:nvSpPr>
        <p:spPr>
          <a:xfrm>
            <a:off x="5623560" y="3913560"/>
            <a:ext cx="3200040" cy="6854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8" name="Shape 21"/>
          <p:cNvSpPr/>
          <p:nvPr/>
        </p:nvSpPr>
        <p:spPr>
          <a:xfrm>
            <a:off x="5623560" y="3913560"/>
            <a:ext cx="3200040" cy="727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9" name="Text 22"/>
          <p:cNvSpPr/>
          <p:nvPr/>
        </p:nvSpPr>
        <p:spPr>
          <a:xfrm>
            <a:off x="5760720" y="398664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b703"/>
                </a:solidFill>
                <a:latin typeface="Calibri"/>
                <a:ea typeface="Calibri"/>
              </a:rPr>
              <a:t>Hidden Translation: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40" name="Shape 23"/>
          <p:cNvSpPr/>
          <p:nvPr/>
        </p:nvSpPr>
        <p:spPr>
          <a:xfrm>
            <a:off x="5650920" y="4224600"/>
            <a:ext cx="3145320" cy="566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1" name="Shape 24"/>
          <p:cNvSpPr/>
          <p:nvPr/>
        </p:nvSpPr>
        <p:spPr>
          <a:xfrm>
            <a:off x="5650920" y="4224600"/>
            <a:ext cx="566640" cy="200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2" name="Text 25"/>
          <p:cNvSpPr/>
          <p:nvPr/>
        </p:nvSpPr>
        <p:spPr>
          <a:xfrm>
            <a:off x="5650920" y="422460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443" name="Text 26"/>
          <p:cNvSpPr/>
          <p:nvPr/>
        </p:nvSpPr>
        <p:spPr>
          <a:xfrm>
            <a:off x="5742360" y="4480560"/>
            <a:ext cx="29624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onsolas"/>
                <a:ea typeface="Consolas"/>
              </a:rPr>
              <a:t># Python converts: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0f4f8"/>
                </a:solidFill>
                <a:latin typeface="Consolas"/>
                <a:ea typeface="Consolas"/>
              </a:rPr>
              <a:t>kiosk.update_pin()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onsolas"/>
                <a:ea typeface="Consolas"/>
              </a:rPr>
              <a:t># Into this internally: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0f4f8"/>
                </a:solidFill>
                <a:latin typeface="Consolas"/>
                <a:ea typeface="Consolas"/>
              </a:rPr>
              <a:t>BankATM.update_pin(kiosk)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444" name="Shape 27"/>
          <p:cNvSpPr/>
          <p:nvPr/>
        </p:nvSpPr>
        <p:spPr>
          <a:xfrm>
            <a:off x="320040" y="4773240"/>
            <a:ext cx="8503560" cy="2739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45" name="Shape 28"/>
          <p:cNvSpPr/>
          <p:nvPr/>
        </p:nvSpPr>
        <p:spPr>
          <a:xfrm>
            <a:off x="320040" y="4773240"/>
            <a:ext cx="91080" cy="2739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6" name="Text 29"/>
          <p:cNvSpPr/>
          <p:nvPr/>
        </p:nvSpPr>
        <p:spPr>
          <a:xfrm>
            <a:off x="502920" y="477324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6b6b"/>
                </a:solidFill>
                <a:latin typeface="Calibri"/>
                <a:ea typeface="Calibri"/>
              </a:rPr>
              <a:t>Classic Rule: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47" name="Text 30"/>
          <p:cNvSpPr/>
          <p:nvPr/>
        </p:nvSpPr>
        <p:spPr>
          <a:xfrm>
            <a:off x="1810440" y="4773240"/>
            <a:ext cx="6674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The error 'takes 0 positional arguments but 1 was given' almost always means you forgot self as the first parameter.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9" name="Shape 1"/>
          <p:cNvSpPr/>
          <p:nvPr/>
        </p:nvSpPr>
        <p:spPr>
          <a:xfrm>
            <a:off x="0" y="0"/>
            <a:ext cx="109440" cy="1005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0" name="Text 2"/>
          <p:cNvSpPr/>
          <p:nvPr/>
        </p:nvSpPr>
        <p:spPr>
          <a:xfrm>
            <a:off x="255960" y="12816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Multiple Objects — self Always Points to Current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51" name="Text 3"/>
          <p:cNvSpPr/>
          <p:nvPr/>
        </p:nvSpPr>
        <p:spPr>
          <a:xfrm>
            <a:off x="255960" y="65844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9.6 — self is dynamic, not fixed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52" name="Shape 4"/>
          <p:cNvSpPr/>
          <p:nvPr/>
        </p:nvSpPr>
        <p:spPr>
          <a:xfrm>
            <a:off x="320040" y="1143000"/>
            <a:ext cx="8503560" cy="15724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53" name="Text 5"/>
          <p:cNvSpPr/>
          <p:nvPr/>
        </p:nvSpPr>
        <p:spPr>
          <a:xfrm>
            <a:off x="360000" y="9604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Proof With Two Objects: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54" name="Shape 6"/>
          <p:cNvSpPr/>
          <p:nvPr/>
        </p:nvSpPr>
        <p:spPr>
          <a:xfrm>
            <a:off x="365760" y="1143000"/>
            <a:ext cx="8454240" cy="149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5" name="Text 8"/>
          <p:cNvSpPr/>
          <p:nvPr/>
        </p:nvSpPr>
        <p:spPr>
          <a:xfrm>
            <a:off x="365760" y="148140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456" name="Text 9"/>
          <p:cNvSpPr/>
          <p:nvPr/>
        </p:nvSpPr>
        <p:spPr>
          <a:xfrm>
            <a:off x="457200" y="1737360"/>
            <a:ext cx="822924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b4d8"/>
                </a:solidFill>
                <a:latin typeface="Consolas"/>
                <a:ea typeface="Consolas"/>
              </a:rPr>
              <a:t>class BankATM: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00b4d8"/>
                </a:solidFill>
                <a:latin typeface="Consolas"/>
                <a:ea typeface="Consolas"/>
              </a:rPr>
              <a:t>def __init__(self):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b703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ffb703"/>
                </a:solidFill>
                <a:latin typeface="Consolas"/>
                <a:ea typeface="Consolas"/>
              </a:rPr>
              <a:t>print(id(self))     # prints THIS object's address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90e0ef"/>
                </a:solidFill>
                <a:latin typeface="Consolas"/>
                <a:ea typeface="Consolas"/>
              </a:rPr>
              <a:t>self.secret_code = ''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</p:txBody>
      </p:sp>
      <p:sp>
        <p:nvSpPr>
          <p:cNvPr id="457" name="Shape 10"/>
          <p:cNvSpPr/>
          <p:nvPr/>
        </p:nvSpPr>
        <p:spPr>
          <a:xfrm>
            <a:off x="320040" y="2816280"/>
            <a:ext cx="2742840" cy="20296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58" name="Shape 11"/>
          <p:cNvSpPr/>
          <p:nvPr/>
        </p:nvSpPr>
        <p:spPr>
          <a:xfrm>
            <a:off x="320040" y="2816280"/>
            <a:ext cx="2742840" cy="347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9" name="Text 12"/>
          <p:cNvSpPr/>
          <p:nvPr/>
        </p:nvSpPr>
        <p:spPr>
          <a:xfrm>
            <a:off x="457200" y="2816280"/>
            <a:ext cx="2468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0d1b2a"/>
                </a:solidFill>
                <a:latin typeface="Calibri"/>
                <a:ea typeface="Calibri"/>
              </a:rPr>
              <a:t>machine1 created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460" name="Text 13"/>
          <p:cNvSpPr/>
          <p:nvPr/>
        </p:nvSpPr>
        <p:spPr>
          <a:xfrm>
            <a:off x="457200" y="3218760"/>
            <a:ext cx="2486880" cy="15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self inside __init__ dynamically points to machine1.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machine1.secret_code = '' is stored in machine1's memory.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61" name="Shape 14"/>
          <p:cNvSpPr/>
          <p:nvPr/>
        </p:nvSpPr>
        <p:spPr>
          <a:xfrm>
            <a:off x="3227760" y="2816280"/>
            <a:ext cx="2742840" cy="20296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62" name="Shape 15"/>
          <p:cNvSpPr/>
          <p:nvPr/>
        </p:nvSpPr>
        <p:spPr>
          <a:xfrm>
            <a:off x="3227760" y="2816280"/>
            <a:ext cx="2742840" cy="3470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3" name="Text 16"/>
          <p:cNvSpPr/>
          <p:nvPr/>
        </p:nvSpPr>
        <p:spPr>
          <a:xfrm>
            <a:off x="3364920" y="2816280"/>
            <a:ext cx="2468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0d1b2a"/>
                </a:solidFill>
                <a:latin typeface="Calibri"/>
                <a:ea typeface="Calibri"/>
              </a:rPr>
              <a:t>machine2 created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464" name="Text 17"/>
          <p:cNvSpPr/>
          <p:nvPr/>
        </p:nvSpPr>
        <p:spPr>
          <a:xfrm>
            <a:off x="3364920" y="3218760"/>
            <a:ext cx="2486880" cy="15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self now points to machine2.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machine2.secret_code = '' is stored in machine2's memory.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65" name="Shape 18"/>
          <p:cNvSpPr/>
          <p:nvPr/>
        </p:nvSpPr>
        <p:spPr>
          <a:xfrm>
            <a:off x="6135480" y="2816280"/>
            <a:ext cx="2742840" cy="20296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66" name="Shape 19"/>
          <p:cNvSpPr/>
          <p:nvPr/>
        </p:nvSpPr>
        <p:spPr>
          <a:xfrm>
            <a:off x="6135480" y="2816280"/>
            <a:ext cx="2742840" cy="3470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7" name="Text 20"/>
          <p:cNvSpPr/>
          <p:nvPr/>
        </p:nvSpPr>
        <p:spPr>
          <a:xfrm>
            <a:off x="6272640" y="2816280"/>
            <a:ext cx="2468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0d1b2a"/>
                </a:solidFill>
                <a:latin typeface="Calibri"/>
                <a:ea typeface="Calibri"/>
              </a:rPr>
              <a:t>They don't share data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468" name="Text 21"/>
          <p:cNvSpPr/>
          <p:nvPr/>
        </p:nvSpPr>
        <p:spPr>
          <a:xfrm>
            <a:off x="6272640" y="3218760"/>
            <a:ext cx="2486880" cy="15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machine1.secret_code and machine2.secret_code are completely independent. Changing one never affects the other.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69" name="Shape 22"/>
          <p:cNvSpPr/>
          <p:nvPr/>
        </p:nvSpPr>
        <p:spPr>
          <a:xfrm>
            <a:off x="320040" y="4773240"/>
            <a:ext cx="8503560" cy="2739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70" name="Shape 23"/>
          <p:cNvSpPr/>
          <p:nvPr/>
        </p:nvSpPr>
        <p:spPr>
          <a:xfrm>
            <a:off x="320040" y="4773240"/>
            <a:ext cx="91080" cy="273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1" name="Text 24"/>
          <p:cNvSpPr/>
          <p:nvPr/>
        </p:nvSpPr>
        <p:spPr>
          <a:xfrm>
            <a:off x="502920" y="4773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Summary: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self is not a fixed reference — it dynamically refers to whichever object triggered the method call. Two objects of the same class never share their attributes.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3082320" y="1400040"/>
            <a:ext cx="5377680" cy="57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f0f4f8"/>
                </a:solidFill>
                <a:latin typeface="Consolas"/>
                <a:ea typeface="Consolas"/>
              </a:rPr>
              <a:t>machine1 = BankATM()  # self = machine1's </a:t>
            </a:r>
            <a:r>
              <a:rPr b="0" lang="en-US" sz="1100" spc="-1" strike="noStrike">
                <a:solidFill>
                  <a:srgbClr val="f0f4f8"/>
                </a:solidFill>
                <a:latin typeface="Consolas"/>
                <a:ea typeface="Consolas"/>
              </a:rPr>
              <a:t>address  e.g. 140001</a:t>
            </a:r>
            <a:endParaRPr b="0" lang="en-IN" sz="1100" spc="-1" strike="noStrike">
              <a:latin typeface="Arial"/>
            </a:endParaRPr>
          </a:p>
          <a:p>
            <a:r>
              <a:rPr b="0" lang="en-US" sz="1100" spc="-1" strike="noStrike">
                <a:solidFill>
                  <a:srgbClr val="f0f4f8"/>
                </a:solidFill>
                <a:latin typeface="Consolas"/>
                <a:ea typeface="Consolas"/>
              </a:rPr>
              <a:t>machine2 = BankATM()  # self = machine2's </a:t>
            </a:r>
            <a:r>
              <a:rPr b="0" lang="en-US" sz="1100" spc="-1" strike="noStrike">
                <a:solidFill>
                  <a:srgbClr val="f0f4f8"/>
                </a:solidFill>
                <a:latin typeface="Consolas"/>
                <a:ea typeface="Consolas"/>
              </a:rPr>
              <a:t>address  e.g. 140002</a:t>
            </a:r>
            <a:endParaRPr b="0" lang="en-IN" sz="1100" spc="-1" strike="noStrike">
              <a:latin typeface="Arial"/>
            </a:endParaRPr>
          </a:p>
          <a:p>
            <a:r>
              <a:rPr b="0" lang="en-US" sz="1100" spc="-1" strike="noStrike">
                <a:solidFill>
                  <a:srgbClr val="8da9c4"/>
                </a:solidFill>
                <a:latin typeface="Consolas"/>
                <a:ea typeface="Consolas"/>
              </a:rPr>
              <a:t># Both are DIFFERENT — each object gets </a:t>
            </a:r>
            <a:r>
              <a:rPr b="0" lang="en-US" sz="1100" spc="-1" strike="noStrike">
                <a:solidFill>
                  <a:srgbClr val="8da9c4"/>
                </a:solidFill>
                <a:latin typeface="Consolas"/>
                <a:ea typeface="Consolas"/>
              </a:rPr>
              <a:t>its own self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4" name="Shape 1"/>
          <p:cNvSpPr/>
          <p:nvPr/>
        </p:nvSpPr>
        <p:spPr>
          <a:xfrm>
            <a:off x="0" y="0"/>
            <a:ext cx="109440" cy="1005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5" name="Text 2"/>
          <p:cNvSpPr/>
          <p:nvPr/>
        </p:nvSpPr>
        <p:spPr>
          <a:xfrm>
            <a:off x="255960" y="12816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Can 'self' Be Renamed? + self for Variables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76" name="Text 3"/>
          <p:cNvSpPr/>
          <p:nvPr/>
        </p:nvSpPr>
        <p:spPr>
          <a:xfrm>
            <a:off x="255960" y="65844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Sections 9.7 &amp; 9.8 — Flexibility vs convention, and why variables need self too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77" name="Shape 4"/>
          <p:cNvSpPr/>
          <p:nvPr/>
        </p:nvSpPr>
        <p:spPr>
          <a:xfrm>
            <a:off x="320040" y="1143000"/>
            <a:ext cx="4114440" cy="36388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78" name="Text 5"/>
          <p:cNvSpPr/>
          <p:nvPr/>
        </p:nvSpPr>
        <p:spPr>
          <a:xfrm>
            <a:off x="457200" y="126180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Calibri"/>
                <a:ea typeface="Calibri"/>
              </a:rPr>
              <a:t>Can You Rename self?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79" name="Text 6"/>
          <p:cNvSpPr/>
          <p:nvPr/>
        </p:nvSpPr>
        <p:spPr>
          <a:xfrm>
            <a:off x="457200" y="1627560"/>
            <a:ext cx="3840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YES — technically self is just a convention, not a Python keyword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You could write def __init__(anything): and it would work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80" name="Shape 7"/>
          <p:cNvSpPr/>
          <p:nvPr/>
        </p:nvSpPr>
        <p:spPr>
          <a:xfrm>
            <a:off x="365760" y="2450520"/>
            <a:ext cx="4004640" cy="13528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1" name="Shape 8"/>
          <p:cNvSpPr/>
          <p:nvPr/>
        </p:nvSpPr>
        <p:spPr>
          <a:xfrm>
            <a:off x="365760" y="2450520"/>
            <a:ext cx="566640" cy="200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2" name="Text 9"/>
          <p:cNvSpPr/>
          <p:nvPr/>
        </p:nvSpPr>
        <p:spPr>
          <a:xfrm>
            <a:off x="365760" y="245052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483" name="Text 10"/>
          <p:cNvSpPr/>
          <p:nvPr/>
        </p:nvSpPr>
        <p:spPr>
          <a:xfrm>
            <a:off x="457200" y="2706480"/>
            <a:ext cx="38217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class BankATM: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Technically legal: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def __init__(current_obj):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current_obj.secret_code = ''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Works — but terrible practice!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84" name="Text 11"/>
          <p:cNvSpPr/>
          <p:nvPr/>
        </p:nvSpPr>
        <p:spPr>
          <a:xfrm>
            <a:off x="457200" y="3858840"/>
            <a:ext cx="384012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fb703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b703"/>
                </a:solidFill>
                <a:latin typeface="Calibri"/>
                <a:ea typeface="Calibri"/>
              </a:rPr>
              <a:t>BUT — universally all Python devs use self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b703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b703"/>
                </a:solidFill>
                <a:latin typeface="Calibri"/>
                <a:ea typeface="Calibri"/>
              </a:rPr>
              <a:t>Renaming confuses every reader of your code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b703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b703"/>
                </a:solidFill>
                <a:latin typeface="Calibri"/>
                <a:ea typeface="Calibri"/>
              </a:rPr>
              <a:t>Convention beats technical flexibility here — always use self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85" name="Shape 12"/>
          <p:cNvSpPr/>
          <p:nvPr/>
        </p:nvSpPr>
        <p:spPr>
          <a:xfrm>
            <a:off x="4709160" y="1143000"/>
            <a:ext cx="4114440" cy="36388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86" name="Text 13"/>
          <p:cNvSpPr/>
          <p:nvPr/>
        </p:nvSpPr>
        <p:spPr>
          <a:xfrm>
            <a:off x="4846320" y="126180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6d6a0"/>
                </a:solidFill>
                <a:latin typeface="Calibri"/>
                <a:ea typeface="Calibri"/>
              </a:rPr>
              <a:t>self for Variables (Not Just Methods)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87" name="Text 14"/>
          <p:cNvSpPr/>
          <p:nvPr/>
        </p:nvSpPr>
        <p:spPr>
          <a:xfrm>
            <a:off x="4846320" y="1627560"/>
            <a:ext cx="3840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The Golden Rule applies to attributes too. A method can't read or write class variables directly: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88" name="Shape 15"/>
          <p:cNvSpPr/>
          <p:nvPr/>
        </p:nvSpPr>
        <p:spPr>
          <a:xfrm>
            <a:off x="4754880" y="2157840"/>
            <a:ext cx="4004640" cy="2468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9" name="Shape 16"/>
          <p:cNvSpPr/>
          <p:nvPr/>
        </p:nvSpPr>
        <p:spPr>
          <a:xfrm>
            <a:off x="4754880" y="2157840"/>
            <a:ext cx="566640" cy="200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0" name="Text 17"/>
          <p:cNvSpPr/>
          <p:nvPr/>
        </p:nvSpPr>
        <p:spPr>
          <a:xfrm>
            <a:off x="4754880" y="215784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491" name="Text 18"/>
          <p:cNvSpPr/>
          <p:nvPr/>
        </p:nvSpPr>
        <p:spPr>
          <a:xfrm>
            <a:off x="4846320" y="2414160"/>
            <a:ext cx="3821760" cy="21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class BankATM: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def __init__(self):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self.secret_code = '' # ✔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def set_pin(self):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entered = input('PIN: 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8da9c4"/>
                </a:solidFill>
                <a:latin typeface="Consolas"/>
                <a:ea typeface="Consolas"/>
              </a:rPr>
              <a:t># WRONG — can't access directly: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8da9c4"/>
                </a:solidFill>
                <a:latin typeface="Consolas"/>
                <a:ea typeface="Consolas"/>
              </a:rPr>
              <a:t># secret_code = entered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8da9c4"/>
                </a:solidFill>
                <a:latin typeface="Consolas"/>
                <a:ea typeface="Consolas"/>
              </a:rPr>
              <a:t># CORRECT — must go via self: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self.secret_code = entered # ✔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92" name="Shape 19"/>
          <p:cNvSpPr/>
          <p:nvPr/>
        </p:nvSpPr>
        <p:spPr>
          <a:xfrm>
            <a:off x="320040" y="4773240"/>
            <a:ext cx="8503560" cy="2739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93" name="Shape 20"/>
          <p:cNvSpPr/>
          <p:nvPr/>
        </p:nvSpPr>
        <p:spPr>
          <a:xfrm>
            <a:off x="320040" y="4773240"/>
            <a:ext cx="91080" cy="273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4" name="Text 21"/>
          <p:cNvSpPr/>
          <p:nvPr/>
        </p:nvSpPr>
        <p:spPr>
          <a:xfrm>
            <a:off x="502920" y="47732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b4d8"/>
                </a:solidFill>
                <a:latin typeface="Calibri"/>
                <a:ea typeface="Calibri"/>
              </a:rPr>
              <a:t>Cross-Language: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95" name="Text 22"/>
          <p:cNvSpPr/>
          <p:nvPr/>
        </p:nvSpPr>
        <p:spPr>
          <a:xfrm>
            <a:off x="2331720" y="4773240"/>
            <a:ext cx="6491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In Java and C++ the equivalent keyword is 'this' — same concept, different name. Python chose the more descriptive word 'self'.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7" name="Shape 1"/>
          <p:cNvSpPr/>
          <p:nvPr/>
        </p:nvSpPr>
        <p:spPr>
          <a:xfrm>
            <a:off x="0" y="0"/>
            <a:ext cx="109440" cy="1005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8" name="Text 2"/>
          <p:cNvSpPr/>
          <p:nvPr/>
        </p:nvSpPr>
        <p:spPr>
          <a:xfrm>
            <a:off x="255960" y="12816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Part 3 — Complete Summary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99" name="Text 3"/>
          <p:cNvSpPr/>
          <p:nvPr/>
        </p:nvSpPr>
        <p:spPr>
          <a:xfrm>
            <a:off x="255960" y="65844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Everything covered in this file at a glance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00" name="Shape 4"/>
          <p:cNvSpPr/>
          <p:nvPr/>
        </p:nvSpPr>
        <p:spPr>
          <a:xfrm>
            <a:off x="320040" y="1170360"/>
            <a:ext cx="4205880" cy="11152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01" name="Shape 5"/>
          <p:cNvSpPr/>
          <p:nvPr/>
        </p:nvSpPr>
        <p:spPr>
          <a:xfrm>
            <a:off x="320040" y="1170360"/>
            <a:ext cx="72720" cy="1115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2" name="Shape 6"/>
          <p:cNvSpPr/>
          <p:nvPr/>
        </p:nvSpPr>
        <p:spPr>
          <a:xfrm>
            <a:off x="484560" y="1243440"/>
            <a:ext cx="411120" cy="4111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3" name="Text 7"/>
          <p:cNvSpPr/>
          <p:nvPr/>
        </p:nvSpPr>
        <p:spPr>
          <a:xfrm>
            <a:off x="484560" y="124344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①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04" name="Text 8"/>
          <p:cNvSpPr/>
          <p:nvPr/>
        </p:nvSpPr>
        <p:spPr>
          <a:xfrm>
            <a:off x="978480" y="1261800"/>
            <a:ext cx="3428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Method vs Function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05" name="Text 9"/>
          <p:cNvSpPr/>
          <p:nvPr/>
        </p:nvSpPr>
        <p:spPr>
          <a:xfrm>
            <a:off x="978480" y="1645920"/>
            <a:ext cx="3428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Inside class = method. Outside = function. append is a method; len is a function.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06" name="Shape 10"/>
          <p:cNvSpPr/>
          <p:nvPr/>
        </p:nvSpPr>
        <p:spPr>
          <a:xfrm>
            <a:off x="4800600" y="1170360"/>
            <a:ext cx="4205880" cy="11152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07" name="Shape 11"/>
          <p:cNvSpPr/>
          <p:nvPr/>
        </p:nvSpPr>
        <p:spPr>
          <a:xfrm>
            <a:off x="4800600" y="1170360"/>
            <a:ext cx="72720" cy="11152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8" name="Shape 12"/>
          <p:cNvSpPr/>
          <p:nvPr/>
        </p:nvSpPr>
        <p:spPr>
          <a:xfrm>
            <a:off x="4965120" y="1243440"/>
            <a:ext cx="411120" cy="41112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9" name="Text 13"/>
          <p:cNvSpPr/>
          <p:nvPr/>
        </p:nvSpPr>
        <p:spPr>
          <a:xfrm>
            <a:off x="4965120" y="124344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②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10" name="Text 14"/>
          <p:cNvSpPr/>
          <p:nvPr/>
        </p:nvSpPr>
        <p:spPr>
          <a:xfrm>
            <a:off x="5459040" y="1261800"/>
            <a:ext cx="3428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Class Diagram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11" name="Text 15"/>
          <p:cNvSpPr/>
          <p:nvPr/>
        </p:nvSpPr>
        <p:spPr>
          <a:xfrm>
            <a:off x="5459040" y="1645920"/>
            <a:ext cx="3428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3-section box: name / attributes (±) / methods (±). + = public, − = private.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12" name="Shape 16"/>
          <p:cNvSpPr/>
          <p:nvPr/>
        </p:nvSpPr>
        <p:spPr>
          <a:xfrm>
            <a:off x="320040" y="2432160"/>
            <a:ext cx="4205880" cy="11152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13" name="Shape 17"/>
          <p:cNvSpPr/>
          <p:nvPr/>
        </p:nvSpPr>
        <p:spPr>
          <a:xfrm>
            <a:off x="320040" y="2432160"/>
            <a:ext cx="72720" cy="11152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4" name="Shape 18"/>
          <p:cNvSpPr/>
          <p:nvPr/>
        </p:nvSpPr>
        <p:spPr>
          <a:xfrm>
            <a:off x="484560" y="2505600"/>
            <a:ext cx="411120" cy="4111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5" name="Text 19"/>
          <p:cNvSpPr/>
          <p:nvPr/>
        </p:nvSpPr>
        <p:spPr>
          <a:xfrm>
            <a:off x="484560" y="250560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③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16" name="Text 20"/>
          <p:cNvSpPr/>
          <p:nvPr/>
        </p:nvSpPr>
        <p:spPr>
          <a:xfrm>
            <a:off x="978480" y="2523600"/>
            <a:ext cx="3428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Constructor Superpower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17" name="Text 21"/>
          <p:cNvSpPr/>
          <p:nvPr/>
        </p:nvSpPr>
        <p:spPr>
          <a:xfrm>
            <a:off x="978480" y="2907720"/>
            <a:ext cx="3428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__init__ runs AUTOMATICALLY on object creation. No explicit call needed.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18" name="Shape 22"/>
          <p:cNvSpPr/>
          <p:nvPr/>
        </p:nvSpPr>
        <p:spPr>
          <a:xfrm>
            <a:off x="4800600" y="2432160"/>
            <a:ext cx="4205880" cy="11152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19" name="Shape 23"/>
          <p:cNvSpPr/>
          <p:nvPr/>
        </p:nvSpPr>
        <p:spPr>
          <a:xfrm>
            <a:off x="4800600" y="2432160"/>
            <a:ext cx="72720" cy="11152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0" name="Shape 24"/>
          <p:cNvSpPr/>
          <p:nvPr/>
        </p:nvSpPr>
        <p:spPr>
          <a:xfrm>
            <a:off x="4965120" y="2505600"/>
            <a:ext cx="411120" cy="4111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1" name="Text 25"/>
          <p:cNvSpPr/>
          <p:nvPr/>
        </p:nvSpPr>
        <p:spPr>
          <a:xfrm>
            <a:off x="4965120" y="250560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④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22" name="Text 26"/>
          <p:cNvSpPr/>
          <p:nvPr/>
        </p:nvSpPr>
        <p:spPr>
          <a:xfrm>
            <a:off x="5459040" y="2523600"/>
            <a:ext cx="3428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Constructor's True Job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23" name="Text 27"/>
          <p:cNvSpPr/>
          <p:nvPr/>
        </p:nvSpPr>
        <p:spPr>
          <a:xfrm>
            <a:off x="5459040" y="2907720"/>
            <a:ext cx="3428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Configuration code that must run before the user does anything — DB connections, setup, etc.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24" name="Shape 28"/>
          <p:cNvSpPr/>
          <p:nvPr/>
        </p:nvSpPr>
        <p:spPr>
          <a:xfrm>
            <a:off x="320040" y="3694320"/>
            <a:ext cx="4205880" cy="11152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25" name="Shape 29"/>
          <p:cNvSpPr/>
          <p:nvPr/>
        </p:nvSpPr>
        <p:spPr>
          <a:xfrm>
            <a:off x="320040" y="3694320"/>
            <a:ext cx="72720" cy="111528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6" name="Shape 30"/>
          <p:cNvSpPr/>
          <p:nvPr/>
        </p:nvSpPr>
        <p:spPr>
          <a:xfrm>
            <a:off x="484560" y="3767400"/>
            <a:ext cx="411120" cy="411120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7" name="Text 31"/>
          <p:cNvSpPr/>
          <p:nvPr/>
        </p:nvSpPr>
        <p:spPr>
          <a:xfrm>
            <a:off x="484560" y="376740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⑤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28" name="Text 32"/>
          <p:cNvSpPr/>
          <p:nvPr/>
        </p:nvSpPr>
        <p:spPr>
          <a:xfrm>
            <a:off x="978480" y="3785760"/>
            <a:ext cx="3428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Golden Rule of OOP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29" name="Text 33"/>
          <p:cNvSpPr/>
          <p:nvPr/>
        </p:nvSpPr>
        <p:spPr>
          <a:xfrm>
            <a:off x="978480" y="4169520"/>
            <a:ext cx="3428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Class members accessible only via the object. Methods can't talk to each other directly.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30" name="Shape 34"/>
          <p:cNvSpPr/>
          <p:nvPr/>
        </p:nvSpPr>
        <p:spPr>
          <a:xfrm>
            <a:off x="4800600" y="3694320"/>
            <a:ext cx="4205880" cy="11152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31" name="Shape 35"/>
          <p:cNvSpPr/>
          <p:nvPr/>
        </p:nvSpPr>
        <p:spPr>
          <a:xfrm>
            <a:off x="4800600" y="3694320"/>
            <a:ext cx="72720" cy="1115280"/>
          </a:xfrm>
          <a:prstGeom prst="rect">
            <a:avLst/>
          </a:prstGeom>
          <a:solidFill>
            <a:srgbClr val="8da9c4"/>
          </a:solidFill>
          <a:ln w="12700">
            <a:solidFill>
              <a:srgbClr val="8da9c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2" name="Shape 36"/>
          <p:cNvSpPr/>
          <p:nvPr/>
        </p:nvSpPr>
        <p:spPr>
          <a:xfrm>
            <a:off x="4965120" y="3767400"/>
            <a:ext cx="411120" cy="411120"/>
          </a:xfrm>
          <a:prstGeom prst="ellipse">
            <a:avLst/>
          </a:prstGeom>
          <a:solidFill>
            <a:srgbClr val="8da9c4"/>
          </a:solidFill>
          <a:ln w="12700">
            <a:solidFill>
              <a:srgbClr val="8da9c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3" name="Text 37"/>
          <p:cNvSpPr/>
          <p:nvPr/>
        </p:nvSpPr>
        <p:spPr>
          <a:xfrm>
            <a:off x="4965120" y="376740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⑥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34" name="Text 38"/>
          <p:cNvSpPr/>
          <p:nvPr/>
        </p:nvSpPr>
        <p:spPr>
          <a:xfrm>
            <a:off x="5459040" y="3785760"/>
            <a:ext cx="3428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self = Current Object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35" name="Text 39"/>
          <p:cNvSpPr/>
          <p:nvPr/>
        </p:nvSpPr>
        <p:spPr>
          <a:xfrm>
            <a:off x="5459040" y="4169520"/>
            <a:ext cx="3428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Memory-proven. self IS the object. Python auto-passes it as 1st arg to every method call.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36" name="Shape 40"/>
          <p:cNvSpPr/>
          <p:nvPr/>
        </p:nvSpPr>
        <p:spPr>
          <a:xfrm>
            <a:off x="320040" y="4773240"/>
            <a:ext cx="8503560" cy="2739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37" name="Shape 41"/>
          <p:cNvSpPr/>
          <p:nvPr/>
        </p:nvSpPr>
        <p:spPr>
          <a:xfrm>
            <a:off x="320040" y="4773240"/>
            <a:ext cx="91080" cy="273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8" name="Text 42"/>
          <p:cNvSpPr/>
          <p:nvPr/>
        </p:nvSpPr>
        <p:spPr>
          <a:xfrm>
            <a:off x="502920" y="4773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00b4d8"/>
                </a:solidFill>
                <a:latin typeface="Calibri"/>
                <a:ea typeface="Calibri"/>
              </a:rPr>
              <a:t>Next → Part 4: Magic Methods (__str__, __add__, __sub__, __mul__, __truediv__) + Fraction Custom Data Type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2026-02-20T10:31:19Z</dcterms:created>
  <dc:creator>PptxGenJS</dc:creator>
  <dc:description/>
  <dc:language>en-IN</dc:language>
  <cp:lastModifiedBy/>
  <dcterms:modified xsi:type="dcterms:W3CDTF">2026-02-20T21:06:36Z</dcterms:modified>
  <cp:revision>8</cp:revision>
  <dc:subject>PptxGenJS Presentation</dc:subject>
  <dc:title>OOP in Python – Part 3: Constructor, self &amp; Class Diagram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