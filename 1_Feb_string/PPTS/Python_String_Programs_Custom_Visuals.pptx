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1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2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ck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to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mo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ve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th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e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sli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de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</a:t>
            </a:r>
            <a:r>
              <a:rPr b="0" lang="en-IN" sz="2000" spc="-1" strike="noStrike">
                <a:latin typeface="Arial"/>
              </a:rPr>
              <a:t>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21FEC9F4-96CC-44F8-8E6E-2F2F165238D0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394D1F5-DBF5-438C-BF95-8A526E0594C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17DD5B8-834D-47D7-A0AA-8CE080AA909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F684F6D-727B-494F-A57B-5D3A2DCC7F4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79EB7BA-E937-4B03-9FBA-CAE39C69836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09853A7-3CF5-4780-9875-02E4607872D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F6A2D78-624F-476D-AADE-AC90D91BBCB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D983929-1037-4678-BD05-347F9065D11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4980DA4-26C3-4B0E-9928-BFA04AA8516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26F9CE4-A4F6-42CA-8BA7-C7EEFADC786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212CBC0-C683-472E-A5C1-4FDEF431738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2248D94-7A43-4B77-96AD-5FC68731720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1D7481C-53C1-440F-8A74-4856297C266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41F8BEA-2248-4BFA-9CFC-47379820519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CAF2F09-3BDE-4C25-A5C8-5B54D54907C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06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697D39A-3457-4222-83BB-F2428F254E8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0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FA20D96-0E54-49C9-B752-4827CB53DAA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4950474-6A42-480A-A964-665D7EFDB89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32DCE43-D16B-4ACE-8B6C-E45708E989E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932EA77-D40B-4669-B612-EE4287BC75D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21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A2D2ED6-7EE5-45B2-AE78-DEC81B8319C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24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3A079F0-61D7-48DB-B9C5-91617860DEF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27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F07E9E4-370B-4178-9EDF-057C0505082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ck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to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edi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t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th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e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titl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e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tex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t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for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ma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t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IN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/>
          <p:nvPr/>
        </p:nvSpPr>
        <p:spPr>
          <a:xfrm>
            <a:off x="457200" y="182880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Arial"/>
                <a:ea typeface="Arial"/>
              </a:rPr>
              <a:t>Python String Programs</a:t>
            </a:r>
            <a:endParaRPr b="0" lang="en-IN" sz="4800" spc="-1" strike="noStrike">
              <a:latin typeface="Arial"/>
            </a:endParaRPr>
          </a:p>
        </p:txBody>
      </p:sp>
      <p:sp>
        <p:nvSpPr>
          <p:cNvPr id="45" name="Text 1"/>
          <p:cNvSpPr/>
          <p:nvPr/>
        </p:nvSpPr>
        <p:spPr>
          <a:xfrm>
            <a:off x="457200" y="274320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2c39a"/>
                </a:solidFill>
                <a:latin typeface="Arial"/>
                <a:ea typeface="Arial"/>
              </a:rPr>
              <a:t>5 Essential String Manipulation Programs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46" name="Text 2"/>
          <p:cNvSpPr/>
          <p:nvPr/>
        </p:nvSpPr>
        <p:spPr>
          <a:xfrm>
            <a:off x="457200" y="384048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cccccc"/>
                </a:solidFill>
                <a:latin typeface="Arial"/>
                <a:ea typeface="Arial"/>
              </a:rPr>
              <a:t>Learn | Practice | Master</a:t>
            </a:r>
            <a:endParaRPr b="0" lang="en-IN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0"/>
          <p:cNvSpPr/>
          <p:nvPr/>
        </p:nvSpPr>
        <p:spPr>
          <a:xfrm>
            <a:off x="457200" y="2743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28090"/>
                </a:solidFill>
                <a:latin typeface="Arial"/>
                <a:ea typeface="Arial"/>
              </a:rPr>
              <a:t>Program 1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48" name="Shape 1"/>
          <p:cNvSpPr/>
          <p:nvPr/>
        </p:nvSpPr>
        <p:spPr>
          <a:xfrm>
            <a:off x="457200" y="914400"/>
            <a:ext cx="8229240" cy="13680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" name="Text 2"/>
          <p:cNvSpPr/>
          <p:nvPr/>
        </p:nvSpPr>
        <p:spPr>
          <a:xfrm>
            <a:off x="457200" y="12801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2c3e50"/>
                </a:solidFill>
                <a:latin typeface="Arial"/>
                <a:ea typeface="Arial"/>
              </a:rPr>
              <a:t>Calculate the Length of a String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50" name="Shape 3"/>
          <p:cNvSpPr/>
          <p:nvPr/>
        </p:nvSpPr>
        <p:spPr>
          <a:xfrm>
            <a:off x="914400" y="2103120"/>
            <a:ext cx="7314840" cy="1645560"/>
          </a:xfrm>
          <a:prstGeom prst="rect">
            <a:avLst/>
          </a:prstGeom>
          <a:solidFill>
            <a:srgbClr val="f5f5f5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" name="Text 4"/>
          <p:cNvSpPr/>
          <p:nvPr/>
        </p:nvSpPr>
        <p:spPr>
          <a:xfrm>
            <a:off x="1188720" y="2286000"/>
            <a:ext cx="6766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28090"/>
                </a:solidFill>
                <a:latin typeface="Arial"/>
                <a:ea typeface="Arial"/>
              </a:rPr>
              <a:t>Problem Statement: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2" name="Text 5"/>
          <p:cNvSpPr/>
          <p:nvPr/>
        </p:nvSpPr>
        <p:spPr>
          <a:xfrm>
            <a:off x="1188720" y="2651760"/>
            <a:ext cx="67662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2c3e50"/>
                </a:solidFill>
                <a:latin typeface="Arial"/>
                <a:ea typeface="Arial"/>
              </a:rPr>
              <a:t>Write a Python function that calculates the length of a given string without using the built-in len() function. The function should iterate through each character and count them.</a:t>
            </a:r>
            <a:endParaRPr b="0" lang="en-IN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0"/>
          <p:cNvSpPr/>
          <p:nvPr/>
        </p:nvSpPr>
        <p:spPr>
          <a:xfrm>
            <a:off x="457200" y="2743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28090"/>
                </a:solidFill>
                <a:latin typeface="Arial"/>
                <a:ea typeface="Arial"/>
              </a:rPr>
              <a:t>Program 1 - How It Works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54" name="Text 1"/>
          <p:cNvSpPr/>
          <p:nvPr/>
        </p:nvSpPr>
        <p:spPr>
          <a:xfrm>
            <a:off x="914400" y="10972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2c3e50"/>
                </a:solidFill>
                <a:latin typeface="Arial"/>
                <a:ea typeface="Arial"/>
              </a:rPr>
              <a:t>Input String: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5" name="Shape 2"/>
          <p:cNvSpPr/>
          <p:nvPr/>
        </p:nvSpPr>
        <p:spPr>
          <a:xfrm>
            <a:off x="914400" y="1463040"/>
            <a:ext cx="7314840" cy="548280"/>
          </a:xfrm>
          <a:prstGeom prst="rect">
            <a:avLst/>
          </a:prstGeom>
          <a:solidFill>
            <a:srgbClr val="f5f5f5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Text 3"/>
          <p:cNvSpPr/>
          <p:nvPr/>
        </p:nvSpPr>
        <p:spPr>
          <a:xfrm>
            <a:off x="1097280" y="1600200"/>
            <a:ext cx="6949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028090"/>
                </a:solidFill>
                <a:latin typeface="Courier New"/>
                <a:ea typeface="Courier New"/>
              </a:rPr>
              <a:t>"pythonlearning.org"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57" name="Text 4"/>
          <p:cNvSpPr/>
          <p:nvPr/>
        </p:nvSpPr>
        <p:spPr>
          <a:xfrm>
            <a:off x="914400" y="22860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c3e50"/>
                </a:solidFill>
                <a:latin typeface="Arial"/>
                <a:ea typeface="Arial"/>
              </a:rPr>
              <a:t>Character-by-Character Count: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58" name="Shape 5"/>
          <p:cNvSpPr/>
          <p:nvPr/>
        </p:nvSpPr>
        <p:spPr>
          <a:xfrm>
            <a:off x="914400" y="2651760"/>
            <a:ext cx="383760" cy="456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Text 6"/>
          <p:cNvSpPr/>
          <p:nvPr/>
        </p:nvSpPr>
        <p:spPr>
          <a:xfrm>
            <a:off x="914400" y="2697480"/>
            <a:ext cx="383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urier New"/>
                <a:ea typeface="Courier New"/>
              </a:rPr>
              <a:t>p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0" name="Shape 7"/>
          <p:cNvSpPr/>
          <p:nvPr/>
        </p:nvSpPr>
        <p:spPr>
          <a:xfrm>
            <a:off x="1316880" y="2651760"/>
            <a:ext cx="383760" cy="456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Text 8"/>
          <p:cNvSpPr/>
          <p:nvPr/>
        </p:nvSpPr>
        <p:spPr>
          <a:xfrm>
            <a:off x="1316880" y="2697480"/>
            <a:ext cx="383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urier New"/>
                <a:ea typeface="Courier New"/>
              </a:rPr>
              <a:t>y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2" name="Shape 9"/>
          <p:cNvSpPr/>
          <p:nvPr/>
        </p:nvSpPr>
        <p:spPr>
          <a:xfrm>
            <a:off x="1719000" y="2651760"/>
            <a:ext cx="383760" cy="456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" name="Text 10"/>
          <p:cNvSpPr/>
          <p:nvPr/>
        </p:nvSpPr>
        <p:spPr>
          <a:xfrm>
            <a:off x="1719000" y="2697480"/>
            <a:ext cx="383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urier New"/>
                <a:ea typeface="Courier New"/>
              </a:rPr>
              <a:t>t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4" name="Shape 11"/>
          <p:cNvSpPr/>
          <p:nvPr/>
        </p:nvSpPr>
        <p:spPr>
          <a:xfrm>
            <a:off x="2121480" y="2651760"/>
            <a:ext cx="383760" cy="456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5" name="Text 12"/>
          <p:cNvSpPr/>
          <p:nvPr/>
        </p:nvSpPr>
        <p:spPr>
          <a:xfrm>
            <a:off x="2121480" y="2697480"/>
            <a:ext cx="383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urier New"/>
                <a:ea typeface="Courier New"/>
              </a:rPr>
              <a:t>h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6" name="Shape 13"/>
          <p:cNvSpPr/>
          <p:nvPr/>
        </p:nvSpPr>
        <p:spPr>
          <a:xfrm>
            <a:off x="2523600" y="2651760"/>
            <a:ext cx="383760" cy="456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Text 14"/>
          <p:cNvSpPr/>
          <p:nvPr/>
        </p:nvSpPr>
        <p:spPr>
          <a:xfrm>
            <a:off x="2523600" y="2697480"/>
            <a:ext cx="383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urier New"/>
                <a:ea typeface="Courier New"/>
              </a:rPr>
              <a:t>o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8" name="Shape 15"/>
          <p:cNvSpPr/>
          <p:nvPr/>
        </p:nvSpPr>
        <p:spPr>
          <a:xfrm>
            <a:off x="2926080" y="2651760"/>
            <a:ext cx="383760" cy="456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9" name="Text 16"/>
          <p:cNvSpPr/>
          <p:nvPr/>
        </p:nvSpPr>
        <p:spPr>
          <a:xfrm>
            <a:off x="2926080" y="2697480"/>
            <a:ext cx="383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urier New"/>
                <a:ea typeface="Courier New"/>
              </a:rPr>
              <a:t>n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0" name="Shape 17"/>
          <p:cNvSpPr/>
          <p:nvPr/>
        </p:nvSpPr>
        <p:spPr>
          <a:xfrm>
            <a:off x="3328560" y="2651760"/>
            <a:ext cx="383760" cy="456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1" name="Text 18"/>
          <p:cNvSpPr/>
          <p:nvPr/>
        </p:nvSpPr>
        <p:spPr>
          <a:xfrm>
            <a:off x="3328560" y="2697480"/>
            <a:ext cx="383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urier New"/>
                <a:ea typeface="Courier New"/>
              </a:rPr>
              <a:t>l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2" name="Shape 19"/>
          <p:cNvSpPr/>
          <p:nvPr/>
        </p:nvSpPr>
        <p:spPr>
          <a:xfrm>
            <a:off x="3730680" y="2651760"/>
            <a:ext cx="383760" cy="456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3" name="Text 20"/>
          <p:cNvSpPr/>
          <p:nvPr/>
        </p:nvSpPr>
        <p:spPr>
          <a:xfrm>
            <a:off x="3730680" y="2697480"/>
            <a:ext cx="383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urier New"/>
                <a:ea typeface="Courier New"/>
              </a:rPr>
              <a:t>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4" name="Shape 21"/>
          <p:cNvSpPr/>
          <p:nvPr/>
        </p:nvSpPr>
        <p:spPr>
          <a:xfrm>
            <a:off x="4133160" y="2651760"/>
            <a:ext cx="383760" cy="456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5" name="Text 22"/>
          <p:cNvSpPr/>
          <p:nvPr/>
        </p:nvSpPr>
        <p:spPr>
          <a:xfrm>
            <a:off x="4133160" y="2697480"/>
            <a:ext cx="383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urier New"/>
                <a:ea typeface="Courier New"/>
              </a:rPr>
              <a:t>a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6" name="Shape 23"/>
          <p:cNvSpPr/>
          <p:nvPr/>
        </p:nvSpPr>
        <p:spPr>
          <a:xfrm>
            <a:off x="4535280" y="2651760"/>
            <a:ext cx="383760" cy="456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7" name="Text 24"/>
          <p:cNvSpPr/>
          <p:nvPr/>
        </p:nvSpPr>
        <p:spPr>
          <a:xfrm>
            <a:off x="4535280" y="2697480"/>
            <a:ext cx="383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urier New"/>
                <a:ea typeface="Courier New"/>
              </a:rPr>
              <a:t>r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8" name="Shape 25"/>
          <p:cNvSpPr/>
          <p:nvPr/>
        </p:nvSpPr>
        <p:spPr>
          <a:xfrm>
            <a:off x="4937760" y="2651760"/>
            <a:ext cx="383760" cy="456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9" name="Text 26"/>
          <p:cNvSpPr/>
          <p:nvPr/>
        </p:nvSpPr>
        <p:spPr>
          <a:xfrm>
            <a:off x="4937760" y="2697480"/>
            <a:ext cx="383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urier New"/>
                <a:ea typeface="Courier New"/>
              </a:rPr>
              <a:t>n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0" name="Shape 27"/>
          <p:cNvSpPr/>
          <p:nvPr/>
        </p:nvSpPr>
        <p:spPr>
          <a:xfrm>
            <a:off x="5340240" y="2651760"/>
            <a:ext cx="383760" cy="456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1" name="Text 28"/>
          <p:cNvSpPr/>
          <p:nvPr/>
        </p:nvSpPr>
        <p:spPr>
          <a:xfrm>
            <a:off x="5340240" y="2697480"/>
            <a:ext cx="383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urier New"/>
                <a:ea typeface="Courier New"/>
              </a:rPr>
              <a:t>i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2" name="Shape 29"/>
          <p:cNvSpPr/>
          <p:nvPr/>
        </p:nvSpPr>
        <p:spPr>
          <a:xfrm>
            <a:off x="5742360" y="2651760"/>
            <a:ext cx="383760" cy="456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3" name="Text 30"/>
          <p:cNvSpPr/>
          <p:nvPr/>
        </p:nvSpPr>
        <p:spPr>
          <a:xfrm>
            <a:off x="5742360" y="2697480"/>
            <a:ext cx="383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urier New"/>
                <a:ea typeface="Courier New"/>
              </a:rPr>
              <a:t>n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4" name="Shape 31"/>
          <p:cNvSpPr/>
          <p:nvPr/>
        </p:nvSpPr>
        <p:spPr>
          <a:xfrm>
            <a:off x="6144840" y="2651760"/>
            <a:ext cx="383760" cy="456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Text 32"/>
          <p:cNvSpPr/>
          <p:nvPr/>
        </p:nvSpPr>
        <p:spPr>
          <a:xfrm>
            <a:off x="6144840" y="2697480"/>
            <a:ext cx="383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urier New"/>
                <a:ea typeface="Courier New"/>
              </a:rPr>
              <a:t>g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6" name="Shape 33"/>
          <p:cNvSpPr/>
          <p:nvPr/>
        </p:nvSpPr>
        <p:spPr>
          <a:xfrm>
            <a:off x="6546960" y="2651760"/>
            <a:ext cx="383760" cy="456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Text 34"/>
          <p:cNvSpPr/>
          <p:nvPr/>
        </p:nvSpPr>
        <p:spPr>
          <a:xfrm>
            <a:off x="6546960" y="2697480"/>
            <a:ext cx="383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urier New"/>
                <a:ea typeface="Courier New"/>
              </a:rPr>
              <a:t>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8" name="Shape 35"/>
          <p:cNvSpPr/>
          <p:nvPr/>
        </p:nvSpPr>
        <p:spPr>
          <a:xfrm>
            <a:off x="6949440" y="2651760"/>
            <a:ext cx="383760" cy="456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Text 36"/>
          <p:cNvSpPr/>
          <p:nvPr/>
        </p:nvSpPr>
        <p:spPr>
          <a:xfrm>
            <a:off x="6949440" y="2697480"/>
            <a:ext cx="383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urier New"/>
                <a:ea typeface="Courier New"/>
              </a:rPr>
              <a:t>o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90" name="Shape 37"/>
          <p:cNvSpPr/>
          <p:nvPr/>
        </p:nvSpPr>
        <p:spPr>
          <a:xfrm>
            <a:off x="7351920" y="2651760"/>
            <a:ext cx="383760" cy="456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Text 38"/>
          <p:cNvSpPr/>
          <p:nvPr/>
        </p:nvSpPr>
        <p:spPr>
          <a:xfrm>
            <a:off x="7351920" y="2697480"/>
            <a:ext cx="383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urier New"/>
                <a:ea typeface="Courier New"/>
              </a:rPr>
              <a:t>r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92" name="Shape 39"/>
          <p:cNvSpPr/>
          <p:nvPr/>
        </p:nvSpPr>
        <p:spPr>
          <a:xfrm>
            <a:off x="7754040" y="2651760"/>
            <a:ext cx="383760" cy="456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3" name="Text 40"/>
          <p:cNvSpPr/>
          <p:nvPr/>
        </p:nvSpPr>
        <p:spPr>
          <a:xfrm>
            <a:off x="7754040" y="2697480"/>
            <a:ext cx="383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urier New"/>
                <a:ea typeface="Courier New"/>
              </a:rPr>
              <a:t>g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94" name="Shape 41"/>
          <p:cNvSpPr/>
          <p:nvPr/>
        </p:nvSpPr>
        <p:spPr>
          <a:xfrm>
            <a:off x="2743200" y="3383280"/>
            <a:ext cx="3657240" cy="914040"/>
          </a:xfrm>
          <a:prstGeom prst="rect">
            <a:avLst/>
          </a:prstGeom>
          <a:solidFill>
            <a:srgbClr val="e67e22"/>
          </a:solidFill>
          <a:ln w="381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Text 42"/>
          <p:cNvSpPr/>
          <p:nvPr/>
        </p:nvSpPr>
        <p:spPr>
          <a:xfrm>
            <a:off x="2743200" y="3520440"/>
            <a:ext cx="3657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Arial"/>
                <a:ea typeface="Arial"/>
              </a:rPr>
              <a:t>Counter = 18</a:t>
            </a: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 0"/>
          <p:cNvSpPr/>
          <p:nvPr/>
        </p:nvSpPr>
        <p:spPr>
          <a:xfrm>
            <a:off x="457200" y="2743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28090"/>
                </a:solidFill>
                <a:latin typeface="Arial"/>
                <a:ea typeface="Arial"/>
              </a:rPr>
              <a:t>Program 1 - Python Code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97" name="Shape 1"/>
          <p:cNvSpPr/>
          <p:nvPr/>
        </p:nvSpPr>
        <p:spPr>
          <a:xfrm>
            <a:off x="731520" y="1005840"/>
            <a:ext cx="7680600" cy="310860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Text 2"/>
          <p:cNvSpPr/>
          <p:nvPr/>
        </p:nvSpPr>
        <p:spPr>
          <a:xfrm>
            <a:off x="914400" y="1143000"/>
            <a:ext cx="731484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bb2bf"/>
                </a:solidFill>
                <a:latin typeface="Courier New"/>
                <a:ea typeface="Courier New"/>
              </a:rPr>
              <a:t># Function to calculate string length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bb2bf"/>
                </a:solidFill>
                <a:latin typeface="Courier New"/>
                <a:ea typeface="Courier New"/>
              </a:rPr>
              <a:t>def calculate_length(text):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300" spc="-1" strike="noStrike">
                <a:solidFill>
                  <a:srgbClr val="abb2bf"/>
                </a:solidFill>
                <a:latin typeface="Courier New"/>
                <a:ea typeface="Courier New"/>
              </a:rPr>
              <a:t># Initialize counter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300" spc="-1" strike="noStrike">
                <a:solidFill>
                  <a:srgbClr val="abb2bf"/>
                </a:solidFill>
                <a:latin typeface="Courier New"/>
                <a:ea typeface="Courier New"/>
              </a:rPr>
              <a:t>counter = 0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300" spc="-1" strike="noStrike">
                <a:solidFill>
                  <a:srgbClr val="abb2bf"/>
                </a:solidFill>
                <a:latin typeface="Courier New"/>
                <a:ea typeface="Courier New"/>
              </a:rPr>
              <a:t># Iterate through each character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300" spc="-1" strike="noStrike">
                <a:solidFill>
                  <a:srgbClr val="abb2bf"/>
                </a:solidFill>
                <a:latin typeface="Courier New"/>
                <a:ea typeface="Courier New"/>
              </a:rPr>
              <a:t>for character in text: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    </a:t>
            </a:r>
            <a:r>
              <a:rPr b="0" lang="en-US" sz="1300" spc="-1" strike="noStrike">
                <a:solidFill>
                  <a:srgbClr val="abb2bf"/>
                </a:solidFill>
                <a:latin typeface="Courier New"/>
                <a:ea typeface="Courier New"/>
              </a:rPr>
              <a:t>counter += 1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300" spc="-1" strike="noStrike">
                <a:solidFill>
                  <a:srgbClr val="abb2bf"/>
                </a:solidFill>
                <a:latin typeface="Courier New"/>
                <a:ea typeface="Courier New"/>
              </a:rPr>
              <a:t># Return the count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300" spc="-1" strike="noStrike">
                <a:solidFill>
                  <a:srgbClr val="abb2bf"/>
                </a:solidFill>
                <a:latin typeface="Courier New"/>
                <a:ea typeface="Courier New"/>
              </a:rPr>
              <a:t>return counter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bb2bf"/>
                </a:solidFill>
                <a:latin typeface="Courier New"/>
                <a:ea typeface="Courier New"/>
              </a:rPr>
              <a:t># Test the function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bb2bf"/>
                </a:solidFill>
                <a:latin typeface="Courier New"/>
                <a:ea typeface="Courier New"/>
              </a:rPr>
              <a:t>result = calculate_length('pythonlearning.org')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print(result)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 0"/>
          <p:cNvSpPr/>
          <p:nvPr/>
        </p:nvSpPr>
        <p:spPr>
          <a:xfrm>
            <a:off x="457200" y="2743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28090"/>
                </a:solidFill>
                <a:latin typeface="Arial"/>
                <a:ea typeface="Arial"/>
              </a:rPr>
              <a:t>Program 1 - Output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00" name="Shape 1"/>
          <p:cNvSpPr/>
          <p:nvPr/>
        </p:nvSpPr>
        <p:spPr>
          <a:xfrm>
            <a:off x="1828800" y="1645920"/>
            <a:ext cx="5486040" cy="1828440"/>
          </a:xfrm>
          <a:prstGeom prst="rect">
            <a:avLst/>
          </a:prstGeom>
          <a:solidFill>
            <a:srgbClr val="f5f5f5"/>
          </a:solidFill>
          <a:ln w="381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Text 2"/>
          <p:cNvSpPr/>
          <p:nvPr/>
        </p:nvSpPr>
        <p:spPr>
          <a:xfrm>
            <a:off x="2286000" y="192024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028090"/>
                </a:solidFill>
                <a:latin typeface="Arial"/>
                <a:ea typeface="Arial"/>
              </a:rPr>
              <a:t>Sample Output: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02" name="Text 3"/>
          <p:cNvSpPr/>
          <p:nvPr/>
        </p:nvSpPr>
        <p:spPr>
          <a:xfrm>
            <a:off x="2286000" y="256032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800" spc="-1" strike="noStrike">
                <a:solidFill>
                  <a:srgbClr val="02c39a"/>
                </a:solidFill>
                <a:latin typeface="Courier New"/>
                <a:ea typeface="Courier New"/>
              </a:rPr>
              <a:t>18</a:t>
            </a:r>
            <a:endParaRPr b="0" lang="en-IN" sz="4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 0"/>
          <p:cNvSpPr/>
          <p:nvPr/>
        </p:nvSpPr>
        <p:spPr>
          <a:xfrm>
            <a:off x="457200" y="2743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28090"/>
                </a:solidFill>
                <a:latin typeface="Arial"/>
                <a:ea typeface="Arial"/>
              </a:rPr>
              <a:t>Program 2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04" name="Shape 1"/>
          <p:cNvSpPr/>
          <p:nvPr/>
        </p:nvSpPr>
        <p:spPr>
          <a:xfrm>
            <a:off x="457200" y="914400"/>
            <a:ext cx="8229240" cy="13680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Text 2"/>
          <p:cNvSpPr/>
          <p:nvPr/>
        </p:nvSpPr>
        <p:spPr>
          <a:xfrm>
            <a:off x="457200" y="12801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2c3e50"/>
                </a:solidFill>
                <a:latin typeface="Arial"/>
                <a:ea typeface="Arial"/>
              </a:rPr>
              <a:t>Count Character Frequency in a String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106" name="Shape 3"/>
          <p:cNvSpPr/>
          <p:nvPr/>
        </p:nvSpPr>
        <p:spPr>
          <a:xfrm>
            <a:off x="914400" y="2103120"/>
            <a:ext cx="7314840" cy="1645560"/>
          </a:xfrm>
          <a:prstGeom prst="rect">
            <a:avLst/>
          </a:prstGeom>
          <a:solidFill>
            <a:srgbClr val="f5f5f5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Text 4"/>
          <p:cNvSpPr/>
          <p:nvPr/>
        </p:nvSpPr>
        <p:spPr>
          <a:xfrm>
            <a:off x="1188720" y="2286000"/>
            <a:ext cx="6766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28090"/>
                </a:solidFill>
                <a:latin typeface="Arial"/>
                <a:ea typeface="Arial"/>
              </a:rPr>
              <a:t>Problem Statement: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8" name="Text 5"/>
          <p:cNvSpPr/>
          <p:nvPr/>
        </p:nvSpPr>
        <p:spPr>
          <a:xfrm>
            <a:off x="1188720" y="2651760"/>
            <a:ext cx="67662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2c3e50"/>
                </a:solidFill>
                <a:latin typeface="Arial"/>
                <a:ea typeface="Arial"/>
              </a:rPr>
              <a:t>Write a Python function to count the number of occurrences of each character in a string. The function should return a dictionary with characters as keys and their frequencies as values.</a:t>
            </a:r>
            <a:endParaRPr b="0" lang="en-IN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 0"/>
          <p:cNvSpPr/>
          <p:nvPr/>
        </p:nvSpPr>
        <p:spPr>
          <a:xfrm>
            <a:off x="457200" y="2743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28090"/>
                </a:solidFill>
                <a:latin typeface="Arial"/>
                <a:ea typeface="Arial"/>
              </a:rPr>
              <a:t>Program 2 - How It Works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10" name="Shape 1"/>
          <p:cNvSpPr/>
          <p:nvPr/>
        </p:nvSpPr>
        <p:spPr>
          <a:xfrm>
            <a:off x="1371600" y="1097280"/>
            <a:ext cx="6400440" cy="456840"/>
          </a:xfrm>
          <a:prstGeom prst="rect">
            <a:avLst/>
          </a:prstGeom>
          <a:solidFill>
            <a:srgbClr val="f5f5f5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1" name="Text 2"/>
          <p:cNvSpPr/>
          <p:nvPr/>
        </p:nvSpPr>
        <p:spPr>
          <a:xfrm>
            <a:off x="1554480" y="1188720"/>
            <a:ext cx="6034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28090"/>
                </a:solidFill>
                <a:latin typeface="Courier New"/>
                <a:ea typeface="Courier New"/>
              </a:rPr>
              <a:t>Input: "example.com"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2" name="Shape 3"/>
          <p:cNvSpPr/>
          <p:nvPr/>
        </p:nvSpPr>
        <p:spPr>
          <a:xfrm>
            <a:off x="3840480" y="1691640"/>
            <a:ext cx="1462680" cy="365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Text 4"/>
          <p:cNvSpPr/>
          <p:nvPr/>
        </p:nvSpPr>
        <p:spPr>
          <a:xfrm>
            <a:off x="1371600" y="228600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c3e50"/>
                </a:solidFill>
                <a:latin typeface="Arial"/>
                <a:ea typeface="Arial"/>
              </a:rPr>
              <a:t>Character Frequency Dictionary: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14" name="Shape 5"/>
          <p:cNvSpPr/>
          <p:nvPr/>
        </p:nvSpPr>
        <p:spPr>
          <a:xfrm>
            <a:off x="1371600" y="2743200"/>
            <a:ext cx="1188360" cy="548280"/>
          </a:xfrm>
          <a:prstGeom prst="rect">
            <a:avLst/>
          </a:prstGeom>
          <a:solidFill>
            <a:srgbClr val="02c39a"/>
          </a:solidFill>
          <a:ln w="254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Text 6"/>
          <p:cNvSpPr/>
          <p:nvPr/>
        </p:nvSpPr>
        <p:spPr>
          <a:xfrm>
            <a:off x="1371600" y="2834640"/>
            <a:ext cx="1188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urier New"/>
                <a:ea typeface="Courier New"/>
              </a:rPr>
              <a:t>'e': 2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16" name="Shape 7"/>
          <p:cNvSpPr/>
          <p:nvPr/>
        </p:nvSpPr>
        <p:spPr>
          <a:xfrm>
            <a:off x="2651760" y="2743200"/>
            <a:ext cx="1188360" cy="548280"/>
          </a:xfrm>
          <a:prstGeom prst="rect">
            <a:avLst/>
          </a:prstGeom>
          <a:solidFill>
            <a:srgbClr val="00a896"/>
          </a:solidFill>
          <a:ln w="254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Text 8"/>
          <p:cNvSpPr/>
          <p:nvPr/>
        </p:nvSpPr>
        <p:spPr>
          <a:xfrm>
            <a:off x="2651760" y="2834640"/>
            <a:ext cx="1188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urier New"/>
                <a:ea typeface="Courier New"/>
              </a:rPr>
              <a:t>'x': 1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18" name="Shape 9"/>
          <p:cNvSpPr/>
          <p:nvPr/>
        </p:nvSpPr>
        <p:spPr>
          <a:xfrm>
            <a:off x="3931920" y="2743200"/>
            <a:ext cx="1188360" cy="548280"/>
          </a:xfrm>
          <a:prstGeom prst="rect">
            <a:avLst/>
          </a:prstGeom>
          <a:solidFill>
            <a:srgbClr val="028090"/>
          </a:solidFill>
          <a:ln w="254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Text 10"/>
          <p:cNvSpPr/>
          <p:nvPr/>
        </p:nvSpPr>
        <p:spPr>
          <a:xfrm>
            <a:off x="3931920" y="2834640"/>
            <a:ext cx="1188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urier New"/>
                <a:ea typeface="Courier New"/>
              </a:rPr>
              <a:t>'a': 1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20" name="Shape 11"/>
          <p:cNvSpPr/>
          <p:nvPr/>
        </p:nvSpPr>
        <p:spPr>
          <a:xfrm>
            <a:off x="5212080" y="2743200"/>
            <a:ext cx="1188360" cy="548280"/>
          </a:xfrm>
          <a:prstGeom prst="rect">
            <a:avLst/>
          </a:prstGeom>
          <a:solidFill>
            <a:srgbClr val="02c39a"/>
          </a:solidFill>
          <a:ln w="254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Text 12"/>
          <p:cNvSpPr/>
          <p:nvPr/>
        </p:nvSpPr>
        <p:spPr>
          <a:xfrm>
            <a:off x="5212080" y="2834640"/>
            <a:ext cx="1188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urier New"/>
                <a:ea typeface="Courier New"/>
              </a:rPr>
              <a:t>'m': 2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22" name="Shape 13"/>
          <p:cNvSpPr/>
          <p:nvPr/>
        </p:nvSpPr>
        <p:spPr>
          <a:xfrm>
            <a:off x="6492240" y="2743200"/>
            <a:ext cx="1188360" cy="548280"/>
          </a:xfrm>
          <a:prstGeom prst="rect">
            <a:avLst/>
          </a:prstGeom>
          <a:solidFill>
            <a:srgbClr val="00a896"/>
          </a:solidFill>
          <a:ln w="254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Text 14"/>
          <p:cNvSpPr/>
          <p:nvPr/>
        </p:nvSpPr>
        <p:spPr>
          <a:xfrm>
            <a:off x="6492240" y="2834640"/>
            <a:ext cx="1188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urier New"/>
                <a:ea typeface="Courier New"/>
              </a:rPr>
              <a:t>'p': 1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24" name="Shape 15"/>
          <p:cNvSpPr/>
          <p:nvPr/>
        </p:nvSpPr>
        <p:spPr>
          <a:xfrm>
            <a:off x="1371600" y="3474720"/>
            <a:ext cx="1188360" cy="548280"/>
          </a:xfrm>
          <a:prstGeom prst="rect">
            <a:avLst/>
          </a:prstGeom>
          <a:solidFill>
            <a:srgbClr val="028090"/>
          </a:solidFill>
          <a:ln w="254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Text 16"/>
          <p:cNvSpPr/>
          <p:nvPr/>
        </p:nvSpPr>
        <p:spPr>
          <a:xfrm>
            <a:off x="1371600" y="3566160"/>
            <a:ext cx="1188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urier New"/>
                <a:ea typeface="Courier New"/>
              </a:rPr>
              <a:t>'l': 1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26" name="Shape 17"/>
          <p:cNvSpPr/>
          <p:nvPr/>
        </p:nvSpPr>
        <p:spPr>
          <a:xfrm>
            <a:off x="2651760" y="3474720"/>
            <a:ext cx="1188360" cy="548280"/>
          </a:xfrm>
          <a:prstGeom prst="rect">
            <a:avLst/>
          </a:prstGeom>
          <a:solidFill>
            <a:srgbClr val="00a896"/>
          </a:solidFill>
          <a:ln w="254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Text 18"/>
          <p:cNvSpPr/>
          <p:nvPr/>
        </p:nvSpPr>
        <p:spPr>
          <a:xfrm>
            <a:off x="2651760" y="3566160"/>
            <a:ext cx="1188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urier New"/>
                <a:ea typeface="Courier New"/>
              </a:rPr>
              <a:t>'.': 1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28" name="Shape 19"/>
          <p:cNvSpPr/>
          <p:nvPr/>
        </p:nvSpPr>
        <p:spPr>
          <a:xfrm>
            <a:off x="3931920" y="3474720"/>
            <a:ext cx="1188360" cy="548280"/>
          </a:xfrm>
          <a:prstGeom prst="rect">
            <a:avLst/>
          </a:prstGeom>
          <a:solidFill>
            <a:srgbClr val="028090"/>
          </a:solidFill>
          <a:ln w="254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Text 20"/>
          <p:cNvSpPr/>
          <p:nvPr/>
        </p:nvSpPr>
        <p:spPr>
          <a:xfrm>
            <a:off x="3931920" y="3566160"/>
            <a:ext cx="1188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urier New"/>
                <a:ea typeface="Courier New"/>
              </a:rPr>
              <a:t>'c': 1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30" name="Shape 21"/>
          <p:cNvSpPr/>
          <p:nvPr/>
        </p:nvSpPr>
        <p:spPr>
          <a:xfrm>
            <a:off x="5212080" y="3474720"/>
            <a:ext cx="1188360" cy="548280"/>
          </a:xfrm>
          <a:prstGeom prst="rect">
            <a:avLst/>
          </a:prstGeom>
          <a:solidFill>
            <a:srgbClr val="00a896"/>
          </a:solidFill>
          <a:ln w="254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1" name="Text 22"/>
          <p:cNvSpPr/>
          <p:nvPr/>
        </p:nvSpPr>
        <p:spPr>
          <a:xfrm>
            <a:off x="5212080" y="3566160"/>
            <a:ext cx="1188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urier New"/>
                <a:ea typeface="Courier New"/>
              </a:rPr>
              <a:t>'o': 1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 0"/>
          <p:cNvSpPr/>
          <p:nvPr/>
        </p:nvSpPr>
        <p:spPr>
          <a:xfrm>
            <a:off x="457200" y="2743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28090"/>
                </a:solidFill>
                <a:latin typeface="Arial"/>
                <a:ea typeface="Arial"/>
              </a:rPr>
              <a:t>Program 2 - Python Code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33" name="Shape 1"/>
          <p:cNvSpPr/>
          <p:nvPr/>
        </p:nvSpPr>
        <p:spPr>
          <a:xfrm>
            <a:off x="779400" y="1260000"/>
            <a:ext cx="7680600" cy="310860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Text 2"/>
          <p:cNvSpPr/>
          <p:nvPr/>
        </p:nvSpPr>
        <p:spPr>
          <a:xfrm>
            <a:off x="1800000" y="1800000"/>
            <a:ext cx="5040000" cy="180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def count_frequency(text):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# Initialize empty dictionary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frequency_dict = {}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# Iterate through each character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for char in text: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# Get existing keys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existing_keys = frequency_dict.keys()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# Check if character exists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if char in existing_keys: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    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frequency_dict[char] += 1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else: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    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frequency_dict[char] = 1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return frequency_dict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print(count_frequency('example.com'))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 0"/>
          <p:cNvSpPr/>
          <p:nvPr/>
        </p:nvSpPr>
        <p:spPr>
          <a:xfrm>
            <a:off x="457200" y="2743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28090"/>
                </a:solidFill>
                <a:latin typeface="Arial"/>
                <a:ea typeface="Arial"/>
              </a:rPr>
              <a:t>Program 2 - Output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36" name="Shape 1"/>
          <p:cNvSpPr/>
          <p:nvPr/>
        </p:nvSpPr>
        <p:spPr>
          <a:xfrm>
            <a:off x="1371600" y="1371600"/>
            <a:ext cx="6400440" cy="2285640"/>
          </a:xfrm>
          <a:prstGeom prst="rect">
            <a:avLst/>
          </a:prstGeom>
          <a:solidFill>
            <a:srgbClr val="f5f5f5"/>
          </a:solidFill>
          <a:ln w="381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Text 2"/>
          <p:cNvSpPr/>
          <p:nvPr/>
        </p:nvSpPr>
        <p:spPr>
          <a:xfrm>
            <a:off x="1828800" y="164592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028090"/>
                </a:solidFill>
                <a:latin typeface="Arial"/>
                <a:ea typeface="Arial"/>
              </a:rPr>
              <a:t>Sample Output: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38" name="Text 3"/>
          <p:cNvSpPr/>
          <p:nvPr/>
        </p:nvSpPr>
        <p:spPr>
          <a:xfrm>
            <a:off x="1828800" y="2194560"/>
            <a:ext cx="54860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02c39a"/>
                </a:solidFill>
                <a:latin typeface="Courier New"/>
                <a:ea typeface="Courier New"/>
              </a:rPr>
              <a:t>{'e': 2, 'x': 1, 'a': 1, 'm': 2,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02c39a"/>
                </a:solidFill>
                <a:latin typeface="Courier New"/>
                <a:ea typeface="Courier New"/>
              </a:rPr>
              <a:t>'p': 1, 'l': 1, '.': 1, 'c': 1, 'o': 1}</a:t>
            </a:r>
            <a:endParaRPr b="0" lang="en-IN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 0"/>
          <p:cNvSpPr/>
          <p:nvPr/>
        </p:nvSpPr>
        <p:spPr>
          <a:xfrm>
            <a:off x="457200" y="2743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28090"/>
                </a:solidFill>
                <a:latin typeface="Arial"/>
                <a:ea typeface="Arial"/>
              </a:rPr>
              <a:t>Program 3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40" name="Shape 1"/>
          <p:cNvSpPr/>
          <p:nvPr/>
        </p:nvSpPr>
        <p:spPr>
          <a:xfrm>
            <a:off x="457200" y="914400"/>
            <a:ext cx="8229240" cy="13680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Text 2"/>
          <p:cNvSpPr/>
          <p:nvPr/>
        </p:nvSpPr>
        <p:spPr>
          <a:xfrm>
            <a:off x="457200" y="12801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2c3e50"/>
                </a:solidFill>
                <a:latin typeface="Arial"/>
                <a:ea typeface="Arial"/>
              </a:rPr>
              <a:t>Get First 2 and Last 2 Characters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142" name="Shape 3"/>
          <p:cNvSpPr/>
          <p:nvPr/>
        </p:nvSpPr>
        <p:spPr>
          <a:xfrm>
            <a:off x="914400" y="2103120"/>
            <a:ext cx="7314840" cy="1645560"/>
          </a:xfrm>
          <a:prstGeom prst="rect">
            <a:avLst/>
          </a:prstGeom>
          <a:solidFill>
            <a:srgbClr val="f5f5f5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Text 4"/>
          <p:cNvSpPr/>
          <p:nvPr/>
        </p:nvSpPr>
        <p:spPr>
          <a:xfrm>
            <a:off x="1188720" y="2286000"/>
            <a:ext cx="6766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28090"/>
                </a:solidFill>
                <a:latin typeface="Arial"/>
                <a:ea typeface="Arial"/>
              </a:rPr>
              <a:t>Problem Statement: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4" name="Text 5"/>
          <p:cNvSpPr/>
          <p:nvPr/>
        </p:nvSpPr>
        <p:spPr>
          <a:xfrm>
            <a:off x="1188720" y="2651760"/>
            <a:ext cx="67662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2c3e50"/>
                </a:solidFill>
                <a:latin typeface="Arial"/>
                <a:ea typeface="Arial"/>
              </a:rPr>
              <a:t>Write a Python function to create a new string from the first 2 and last 2 characters of a given string. If the string length is less than 2, return an empty string.</a:t>
            </a:r>
            <a:endParaRPr b="0" lang="en-IN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 0"/>
          <p:cNvSpPr/>
          <p:nvPr/>
        </p:nvSpPr>
        <p:spPr>
          <a:xfrm>
            <a:off x="457200" y="2743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28090"/>
                </a:solidFill>
                <a:latin typeface="Arial"/>
                <a:ea typeface="Arial"/>
              </a:rPr>
              <a:t>Program 3 - How It Works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46" name="Text 1"/>
          <p:cNvSpPr/>
          <p:nvPr/>
        </p:nvSpPr>
        <p:spPr>
          <a:xfrm>
            <a:off x="1371600" y="10972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c3e50"/>
                </a:solidFill>
                <a:latin typeface="Arial"/>
                <a:ea typeface="Arial"/>
              </a:rPr>
              <a:t>Original String: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47" name="Shape 2"/>
          <p:cNvSpPr/>
          <p:nvPr/>
        </p:nvSpPr>
        <p:spPr>
          <a:xfrm>
            <a:off x="1828800" y="1463040"/>
            <a:ext cx="411120" cy="456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8" name="Text 3"/>
          <p:cNvSpPr/>
          <p:nvPr/>
        </p:nvSpPr>
        <p:spPr>
          <a:xfrm>
            <a:off x="1828800" y="1508760"/>
            <a:ext cx="411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ourier New"/>
                <a:ea typeface="Courier New"/>
              </a:rPr>
              <a:t>p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49" name="Shape 4"/>
          <p:cNvSpPr/>
          <p:nvPr/>
        </p:nvSpPr>
        <p:spPr>
          <a:xfrm>
            <a:off x="2286000" y="1463040"/>
            <a:ext cx="411120" cy="456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Text 5"/>
          <p:cNvSpPr/>
          <p:nvPr/>
        </p:nvSpPr>
        <p:spPr>
          <a:xfrm>
            <a:off x="2286000" y="1508760"/>
            <a:ext cx="411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ourier New"/>
                <a:ea typeface="Courier New"/>
              </a:rPr>
              <a:t>r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51" name="Shape 6"/>
          <p:cNvSpPr/>
          <p:nvPr/>
        </p:nvSpPr>
        <p:spPr>
          <a:xfrm>
            <a:off x="2743200" y="1463040"/>
            <a:ext cx="411120" cy="456840"/>
          </a:xfrm>
          <a:prstGeom prst="rect">
            <a:avLst/>
          </a:prstGeom>
          <a:solidFill>
            <a:srgbClr val="f5f5f5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2" name="Text 7"/>
          <p:cNvSpPr/>
          <p:nvPr/>
        </p:nvSpPr>
        <p:spPr>
          <a:xfrm>
            <a:off x="2743200" y="1508760"/>
            <a:ext cx="411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c3e50"/>
                </a:solidFill>
                <a:latin typeface="Courier New"/>
                <a:ea typeface="Courier New"/>
              </a:rPr>
              <a:t>o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53" name="Shape 8"/>
          <p:cNvSpPr/>
          <p:nvPr/>
        </p:nvSpPr>
        <p:spPr>
          <a:xfrm>
            <a:off x="3200400" y="1463040"/>
            <a:ext cx="411120" cy="456840"/>
          </a:xfrm>
          <a:prstGeom prst="rect">
            <a:avLst/>
          </a:prstGeom>
          <a:solidFill>
            <a:srgbClr val="f5f5f5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4" name="Text 9"/>
          <p:cNvSpPr/>
          <p:nvPr/>
        </p:nvSpPr>
        <p:spPr>
          <a:xfrm>
            <a:off x="3200400" y="1508760"/>
            <a:ext cx="411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c3e50"/>
                </a:solidFill>
                <a:latin typeface="Courier New"/>
                <a:ea typeface="Courier New"/>
              </a:rPr>
              <a:t>g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55" name="Shape 10"/>
          <p:cNvSpPr/>
          <p:nvPr/>
        </p:nvSpPr>
        <p:spPr>
          <a:xfrm>
            <a:off x="3657600" y="1463040"/>
            <a:ext cx="411120" cy="456840"/>
          </a:xfrm>
          <a:prstGeom prst="rect">
            <a:avLst/>
          </a:prstGeom>
          <a:solidFill>
            <a:srgbClr val="f5f5f5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6" name="Text 11"/>
          <p:cNvSpPr/>
          <p:nvPr/>
        </p:nvSpPr>
        <p:spPr>
          <a:xfrm>
            <a:off x="3657600" y="1508760"/>
            <a:ext cx="411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c3e50"/>
                </a:solidFill>
                <a:latin typeface="Courier New"/>
                <a:ea typeface="Courier New"/>
              </a:rPr>
              <a:t>r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57" name="Shape 12"/>
          <p:cNvSpPr/>
          <p:nvPr/>
        </p:nvSpPr>
        <p:spPr>
          <a:xfrm>
            <a:off x="4114800" y="1463040"/>
            <a:ext cx="411120" cy="456840"/>
          </a:xfrm>
          <a:prstGeom prst="rect">
            <a:avLst/>
          </a:prstGeom>
          <a:solidFill>
            <a:srgbClr val="f5f5f5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8" name="Text 13"/>
          <p:cNvSpPr/>
          <p:nvPr/>
        </p:nvSpPr>
        <p:spPr>
          <a:xfrm>
            <a:off x="4114800" y="1508760"/>
            <a:ext cx="411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c3e50"/>
                </a:solidFill>
                <a:latin typeface="Courier New"/>
                <a:ea typeface="Courier New"/>
              </a:rPr>
              <a:t>a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59" name="Shape 14"/>
          <p:cNvSpPr/>
          <p:nvPr/>
        </p:nvSpPr>
        <p:spPr>
          <a:xfrm>
            <a:off x="4572000" y="1463040"/>
            <a:ext cx="411120" cy="456840"/>
          </a:xfrm>
          <a:prstGeom prst="rect">
            <a:avLst/>
          </a:prstGeom>
          <a:solidFill>
            <a:srgbClr val="f5f5f5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0" name="Text 15"/>
          <p:cNvSpPr/>
          <p:nvPr/>
        </p:nvSpPr>
        <p:spPr>
          <a:xfrm>
            <a:off x="4572000" y="1508760"/>
            <a:ext cx="411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c3e50"/>
                </a:solidFill>
                <a:latin typeface="Courier New"/>
                <a:ea typeface="Courier New"/>
              </a:rPr>
              <a:t>m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61" name="Shape 16"/>
          <p:cNvSpPr/>
          <p:nvPr/>
        </p:nvSpPr>
        <p:spPr>
          <a:xfrm>
            <a:off x="5029200" y="1463040"/>
            <a:ext cx="411120" cy="456840"/>
          </a:xfrm>
          <a:prstGeom prst="rect">
            <a:avLst/>
          </a:prstGeom>
          <a:solidFill>
            <a:srgbClr val="f5f5f5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Text 17"/>
          <p:cNvSpPr/>
          <p:nvPr/>
        </p:nvSpPr>
        <p:spPr>
          <a:xfrm>
            <a:off x="5029200" y="1508760"/>
            <a:ext cx="411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c3e50"/>
                </a:solidFill>
                <a:latin typeface="Courier New"/>
                <a:ea typeface="Courier New"/>
              </a:rPr>
              <a:t>m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63" name="Shape 18"/>
          <p:cNvSpPr/>
          <p:nvPr/>
        </p:nvSpPr>
        <p:spPr>
          <a:xfrm>
            <a:off x="5486400" y="1463040"/>
            <a:ext cx="411120" cy="456840"/>
          </a:xfrm>
          <a:prstGeom prst="rect">
            <a:avLst/>
          </a:prstGeom>
          <a:solidFill>
            <a:srgbClr val="f5f5f5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Text 19"/>
          <p:cNvSpPr/>
          <p:nvPr/>
        </p:nvSpPr>
        <p:spPr>
          <a:xfrm>
            <a:off x="5486400" y="1508760"/>
            <a:ext cx="411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c3e50"/>
                </a:solidFill>
                <a:latin typeface="Courier New"/>
                <a:ea typeface="Courier New"/>
              </a:rPr>
              <a:t>i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65" name="Shape 20"/>
          <p:cNvSpPr/>
          <p:nvPr/>
        </p:nvSpPr>
        <p:spPr>
          <a:xfrm>
            <a:off x="5943600" y="1463040"/>
            <a:ext cx="411120" cy="456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6" name="Text 21"/>
          <p:cNvSpPr/>
          <p:nvPr/>
        </p:nvSpPr>
        <p:spPr>
          <a:xfrm>
            <a:off x="5943600" y="1508760"/>
            <a:ext cx="411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ourier New"/>
                <a:ea typeface="Courier New"/>
              </a:rPr>
              <a:t>n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67" name="Shape 22"/>
          <p:cNvSpPr/>
          <p:nvPr/>
        </p:nvSpPr>
        <p:spPr>
          <a:xfrm>
            <a:off x="6400800" y="1463040"/>
            <a:ext cx="411120" cy="456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Text 23"/>
          <p:cNvSpPr/>
          <p:nvPr/>
        </p:nvSpPr>
        <p:spPr>
          <a:xfrm>
            <a:off x="6400800" y="1508760"/>
            <a:ext cx="411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ourier New"/>
                <a:ea typeface="Courier New"/>
              </a:rPr>
              <a:t>g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69" name="Shape 24"/>
          <p:cNvSpPr/>
          <p:nvPr/>
        </p:nvSpPr>
        <p:spPr>
          <a:xfrm>
            <a:off x="1920240" y="2103120"/>
            <a:ext cx="273960" cy="4568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67e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Shape 25"/>
          <p:cNvSpPr/>
          <p:nvPr/>
        </p:nvSpPr>
        <p:spPr>
          <a:xfrm>
            <a:off x="6217920" y="2103120"/>
            <a:ext cx="273960" cy="4568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67e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Text 26"/>
          <p:cNvSpPr/>
          <p:nvPr/>
        </p:nvSpPr>
        <p:spPr>
          <a:xfrm>
            <a:off x="3200400" y="27432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c3e50"/>
                </a:solidFill>
                <a:latin typeface="Arial"/>
                <a:ea typeface="Arial"/>
              </a:rPr>
              <a:t>Result: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72" name="Shape 27"/>
          <p:cNvSpPr/>
          <p:nvPr/>
        </p:nvSpPr>
        <p:spPr>
          <a:xfrm>
            <a:off x="2743200" y="3108960"/>
            <a:ext cx="3657240" cy="639720"/>
          </a:xfrm>
          <a:prstGeom prst="rect">
            <a:avLst/>
          </a:prstGeom>
          <a:solidFill>
            <a:srgbClr val="e67e22"/>
          </a:solidFill>
          <a:ln w="381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Text 28"/>
          <p:cNvSpPr/>
          <p:nvPr/>
        </p:nvSpPr>
        <p:spPr>
          <a:xfrm>
            <a:off x="2743200" y="320040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ourier New"/>
                <a:ea typeface="Courier New"/>
              </a:rPr>
              <a:t>"prng"</a:t>
            </a:r>
            <a:endParaRPr b="0" lang="en-IN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ext 0"/>
          <p:cNvSpPr/>
          <p:nvPr/>
        </p:nvSpPr>
        <p:spPr>
          <a:xfrm>
            <a:off x="457200" y="2743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28090"/>
                </a:solidFill>
                <a:latin typeface="Arial"/>
                <a:ea typeface="Arial"/>
              </a:rPr>
              <a:t>Program 3 - Python Code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75" name="Shape 1"/>
          <p:cNvSpPr/>
          <p:nvPr/>
        </p:nvSpPr>
        <p:spPr>
          <a:xfrm>
            <a:off x="731520" y="1005840"/>
            <a:ext cx="7680600" cy="310860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Text 2"/>
          <p:cNvSpPr/>
          <p:nvPr/>
        </p:nvSpPr>
        <p:spPr>
          <a:xfrm>
            <a:off x="914400" y="1143000"/>
            <a:ext cx="731484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# Function to get first and last 2 characters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def extract_edges(input_str):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# Check if length is less than 2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if len(input_str) &lt; 2: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return ''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# Return first 2 + last 2 characters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return input_str[0:2] + input_str[-2:]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# Test the function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print(extract_edges('programming'))  # prng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print(extract_edges('py'))          # pypy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print(extract_edges('x'))           # (empty)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 0"/>
          <p:cNvSpPr/>
          <p:nvPr/>
        </p:nvSpPr>
        <p:spPr>
          <a:xfrm>
            <a:off x="457200" y="2743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28090"/>
                </a:solidFill>
                <a:latin typeface="Arial"/>
                <a:ea typeface="Arial"/>
              </a:rPr>
              <a:t>Program 3 - Output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78" name="Shape 1"/>
          <p:cNvSpPr/>
          <p:nvPr/>
        </p:nvSpPr>
        <p:spPr>
          <a:xfrm>
            <a:off x="1828800" y="1645920"/>
            <a:ext cx="5486040" cy="1828440"/>
          </a:xfrm>
          <a:prstGeom prst="rect">
            <a:avLst/>
          </a:prstGeom>
          <a:solidFill>
            <a:srgbClr val="f5f5f5"/>
          </a:solidFill>
          <a:ln w="381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Text 2"/>
          <p:cNvSpPr/>
          <p:nvPr/>
        </p:nvSpPr>
        <p:spPr>
          <a:xfrm>
            <a:off x="2286000" y="192024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028090"/>
                </a:solidFill>
                <a:latin typeface="Arial"/>
                <a:ea typeface="Arial"/>
              </a:rPr>
              <a:t>Sample Output: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80" name="Text 3"/>
          <p:cNvSpPr/>
          <p:nvPr/>
        </p:nvSpPr>
        <p:spPr>
          <a:xfrm>
            <a:off x="2286000" y="2468880"/>
            <a:ext cx="4571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2800" spc="-1" strike="noStrike">
                <a:solidFill>
                  <a:srgbClr val="02c39a"/>
                </a:solidFill>
                <a:latin typeface="Courier New"/>
                <a:ea typeface="Courier New"/>
              </a:rPr>
              <a:t>prng</a:t>
            </a:r>
            <a:endParaRPr b="0" lang="en-IN" sz="2800" spc="-1" strike="noStrike">
              <a:latin typeface="Arial"/>
            </a:endParaRPr>
          </a:p>
          <a:p>
            <a:r>
              <a:rPr b="1" lang="en-US" sz="2800" spc="-1" strike="noStrike">
                <a:solidFill>
                  <a:srgbClr val="02c39a"/>
                </a:solidFill>
                <a:latin typeface="Courier New"/>
                <a:ea typeface="Courier New"/>
              </a:rPr>
              <a:t>pypy</a:t>
            </a:r>
            <a:endParaRPr b="0" lang="en-IN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ext 0"/>
          <p:cNvSpPr/>
          <p:nvPr/>
        </p:nvSpPr>
        <p:spPr>
          <a:xfrm>
            <a:off x="457200" y="2743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28090"/>
                </a:solidFill>
                <a:latin typeface="Arial"/>
                <a:ea typeface="Arial"/>
              </a:rPr>
              <a:t>Program 4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82" name="Shape 1"/>
          <p:cNvSpPr/>
          <p:nvPr/>
        </p:nvSpPr>
        <p:spPr>
          <a:xfrm>
            <a:off x="457200" y="914400"/>
            <a:ext cx="8229240" cy="13680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Text 2"/>
          <p:cNvSpPr/>
          <p:nvPr/>
        </p:nvSpPr>
        <p:spPr>
          <a:xfrm>
            <a:off x="457200" y="12801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2c3e50"/>
                </a:solidFill>
                <a:latin typeface="Arial"/>
                <a:ea typeface="Arial"/>
              </a:rPr>
              <a:t>Replace First Character Occurrences with $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184" name="Shape 3"/>
          <p:cNvSpPr/>
          <p:nvPr/>
        </p:nvSpPr>
        <p:spPr>
          <a:xfrm>
            <a:off x="914400" y="2103120"/>
            <a:ext cx="7314840" cy="1645560"/>
          </a:xfrm>
          <a:prstGeom prst="rect">
            <a:avLst/>
          </a:prstGeom>
          <a:solidFill>
            <a:srgbClr val="f5f5f5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5" name="Text 4"/>
          <p:cNvSpPr/>
          <p:nvPr/>
        </p:nvSpPr>
        <p:spPr>
          <a:xfrm>
            <a:off x="1188720" y="2286000"/>
            <a:ext cx="6766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28090"/>
                </a:solidFill>
                <a:latin typeface="Arial"/>
                <a:ea typeface="Arial"/>
              </a:rPr>
              <a:t>Problem Statement: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86" name="Text 5"/>
          <p:cNvSpPr/>
          <p:nvPr/>
        </p:nvSpPr>
        <p:spPr>
          <a:xfrm>
            <a:off x="1188720" y="2651760"/>
            <a:ext cx="67662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2c3e50"/>
                </a:solidFill>
                <a:latin typeface="Arial"/>
                <a:ea typeface="Arial"/>
              </a:rPr>
              <a:t>Write a Python function that replaces all occurrences of the first character with '$', except the first character itself.</a:t>
            </a:r>
            <a:endParaRPr b="0" lang="en-IN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ext 0"/>
          <p:cNvSpPr/>
          <p:nvPr/>
        </p:nvSpPr>
        <p:spPr>
          <a:xfrm>
            <a:off x="457200" y="2743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28090"/>
                </a:solidFill>
                <a:latin typeface="Arial"/>
                <a:ea typeface="Arial"/>
              </a:rPr>
              <a:t>Program 4 - How It Works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88" name="Text 1"/>
          <p:cNvSpPr/>
          <p:nvPr/>
        </p:nvSpPr>
        <p:spPr>
          <a:xfrm>
            <a:off x="1371600" y="118872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c3e50"/>
                </a:solidFill>
                <a:latin typeface="Arial"/>
                <a:ea typeface="Arial"/>
              </a:rPr>
              <a:t>Original: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89" name="Shape 2"/>
          <p:cNvSpPr/>
          <p:nvPr/>
        </p:nvSpPr>
        <p:spPr>
          <a:xfrm>
            <a:off x="2286000" y="1554480"/>
            <a:ext cx="548280" cy="548280"/>
          </a:xfrm>
          <a:prstGeom prst="rect">
            <a:avLst/>
          </a:prstGeom>
          <a:solidFill>
            <a:srgbClr val="e67e22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0" name="Text 3"/>
          <p:cNvSpPr/>
          <p:nvPr/>
        </p:nvSpPr>
        <p:spPr>
          <a:xfrm>
            <a:off x="2286000" y="164592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ourier New"/>
                <a:ea typeface="Courier New"/>
              </a:rPr>
              <a:t>r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91" name="Shape 4"/>
          <p:cNvSpPr/>
          <p:nvPr/>
        </p:nvSpPr>
        <p:spPr>
          <a:xfrm>
            <a:off x="2926080" y="1554480"/>
            <a:ext cx="548280" cy="548280"/>
          </a:xfrm>
          <a:prstGeom prst="rect">
            <a:avLst/>
          </a:prstGeom>
          <a:solidFill>
            <a:srgbClr val="f5f5f5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2" name="Text 5"/>
          <p:cNvSpPr/>
          <p:nvPr/>
        </p:nvSpPr>
        <p:spPr>
          <a:xfrm>
            <a:off x="2926080" y="164592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2c3e50"/>
                </a:solidFill>
                <a:latin typeface="Courier New"/>
                <a:ea typeface="Courier New"/>
              </a:rPr>
              <a:t>e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93" name="Shape 6"/>
          <p:cNvSpPr/>
          <p:nvPr/>
        </p:nvSpPr>
        <p:spPr>
          <a:xfrm>
            <a:off x="3566160" y="1554480"/>
            <a:ext cx="548280" cy="548280"/>
          </a:xfrm>
          <a:prstGeom prst="rect">
            <a:avLst/>
          </a:prstGeom>
          <a:solidFill>
            <a:srgbClr val="f5f5f5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4" name="Text 7"/>
          <p:cNvSpPr/>
          <p:nvPr/>
        </p:nvSpPr>
        <p:spPr>
          <a:xfrm>
            <a:off x="3566160" y="164592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2c3e50"/>
                </a:solidFill>
                <a:latin typeface="Courier New"/>
                <a:ea typeface="Courier New"/>
              </a:rPr>
              <a:t>f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95" name="Shape 8"/>
          <p:cNvSpPr/>
          <p:nvPr/>
        </p:nvSpPr>
        <p:spPr>
          <a:xfrm>
            <a:off x="4206240" y="1554480"/>
            <a:ext cx="548280" cy="548280"/>
          </a:xfrm>
          <a:prstGeom prst="rect">
            <a:avLst/>
          </a:prstGeom>
          <a:solidFill>
            <a:srgbClr val="ffcccc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6" name="Text 9"/>
          <p:cNvSpPr/>
          <p:nvPr/>
        </p:nvSpPr>
        <p:spPr>
          <a:xfrm>
            <a:off x="4206240" y="164592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2c3e50"/>
                </a:solidFill>
                <a:latin typeface="Courier New"/>
                <a:ea typeface="Courier New"/>
              </a:rPr>
              <a:t>r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97" name="Shape 10"/>
          <p:cNvSpPr/>
          <p:nvPr/>
        </p:nvSpPr>
        <p:spPr>
          <a:xfrm>
            <a:off x="4846320" y="1554480"/>
            <a:ext cx="548280" cy="548280"/>
          </a:xfrm>
          <a:prstGeom prst="rect">
            <a:avLst/>
          </a:prstGeom>
          <a:solidFill>
            <a:srgbClr val="f5f5f5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8" name="Text 11"/>
          <p:cNvSpPr/>
          <p:nvPr/>
        </p:nvSpPr>
        <p:spPr>
          <a:xfrm>
            <a:off x="4846320" y="164592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2c3e50"/>
                </a:solidFill>
                <a:latin typeface="Courier New"/>
                <a:ea typeface="Courier New"/>
              </a:rPr>
              <a:t>e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99" name="Shape 12"/>
          <p:cNvSpPr/>
          <p:nvPr/>
        </p:nvSpPr>
        <p:spPr>
          <a:xfrm>
            <a:off x="5486400" y="1554480"/>
            <a:ext cx="548280" cy="548280"/>
          </a:xfrm>
          <a:prstGeom prst="rect">
            <a:avLst/>
          </a:prstGeom>
          <a:solidFill>
            <a:srgbClr val="f5f5f5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0" name="Text 13"/>
          <p:cNvSpPr/>
          <p:nvPr/>
        </p:nvSpPr>
        <p:spPr>
          <a:xfrm>
            <a:off x="5486400" y="164592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2c3e50"/>
                </a:solidFill>
                <a:latin typeface="Courier New"/>
                <a:ea typeface="Courier New"/>
              </a:rPr>
              <a:t>s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01" name="Shape 14"/>
          <p:cNvSpPr/>
          <p:nvPr/>
        </p:nvSpPr>
        <p:spPr>
          <a:xfrm>
            <a:off x="6126480" y="1554480"/>
            <a:ext cx="548280" cy="548280"/>
          </a:xfrm>
          <a:prstGeom prst="rect">
            <a:avLst/>
          </a:prstGeom>
          <a:solidFill>
            <a:srgbClr val="f5f5f5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2" name="Text 15"/>
          <p:cNvSpPr/>
          <p:nvPr/>
        </p:nvSpPr>
        <p:spPr>
          <a:xfrm>
            <a:off x="6126480" y="164592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2c3e50"/>
                </a:solidFill>
                <a:latin typeface="Courier New"/>
                <a:ea typeface="Courier New"/>
              </a:rPr>
              <a:t>h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03" name="Shape 16"/>
          <p:cNvSpPr/>
          <p:nvPr/>
        </p:nvSpPr>
        <p:spPr>
          <a:xfrm>
            <a:off x="3931920" y="2377440"/>
            <a:ext cx="365400" cy="5482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4" name="Text 17"/>
          <p:cNvSpPr/>
          <p:nvPr/>
        </p:nvSpPr>
        <p:spPr>
          <a:xfrm>
            <a:off x="1371600" y="310896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c3e50"/>
                </a:solidFill>
                <a:latin typeface="Arial"/>
                <a:ea typeface="Arial"/>
              </a:rPr>
              <a:t>After Replacement: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05" name="Shape 18"/>
          <p:cNvSpPr/>
          <p:nvPr/>
        </p:nvSpPr>
        <p:spPr>
          <a:xfrm>
            <a:off x="2286000" y="3474720"/>
            <a:ext cx="548280" cy="548280"/>
          </a:xfrm>
          <a:prstGeom prst="rect">
            <a:avLst/>
          </a:prstGeom>
          <a:solidFill>
            <a:srgbClr val="e67e22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6" name="Text 19"/>
          <p:cNvSpPr/>
          <p:nvPr/>
        </p:nvSpPr>
        <p:spPr>
          <a:xfrm>
            <a:off x="2286000" y="356616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ourier New"/>
                <a:ea typeface="Courier New"/>
              </a:rPr>
              <a:t>r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07" name="Shape 20"/>
          <p:cNvSpPr/>
          <p:nvPr/>
        </p:nvSpPr>
        <p:spPr>
          <a:xfrm>
            <a:off x="2926080" y="3474720"/>
            <a:ext cx="548280" cy="548280"/>
          </a:xfrm>
          <a:prstGeom prst="rect">
            <a:avLst/>
          </a:prstGeom>
          <a:solidFill>
            <a:srgbClr val="f5f5f5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8" name="Text 21"/>
          <p:cNvSpPr/>
          <p:nvPr/>
        </p:nvSpPr>
        <p:spPr>
          <a:xfrm>
            <a:off x="2926080" y="356616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2c3e50"/>
                </a:solidFill>
                <a:latin typeface="Courier New"/>
                <a:ea typeface="Courier New"/>
              </a:rPr>
              <a:t>e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09" name="Shape 22"/>
          <p:cNvSpPr/>
          <p:nvPr/>
        </p:nvSpPr>
        <p:spPr>
          <a:xfrm>
            <a:off x="3566160" y="3474720"/>
            <a:ext cx="548280" cy="548280"/>
          </a:xfrm>
          <a:prstGeom prst="rect">
            <a:avLst/>
          </a:prstGeom>
          <a:solidFill>
            <a:srgbClr val="f5f5f5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0" name="Text 23"/>
          <p:cNvSpPr/>
          <p:nvPr/>
        </p:nvSpPr>
        <p:spPr>
          <a:xfrm>
            <a:off x="3566160" y="356616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2c3e50"/>
                </a:solidFill>
                <a:latin typeface="Courier New"/>
                <a:ea typeface="Courier New"/>
              </a:rPr>
              <a:t>f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11" name="Shape 24"/>
          <p:cNvSpPr/>
          <p:nvPr/>
        </p:nvSpPr>
        <p:spPr>
          <a:xfrm>
            <a:off x="4206240" y="3474720"/>
            <a:ext cx="548280" cy="548280"/>
          </a:xfrm>
          <a:prstGeom prst="rect">
            <a:avLst/>
          </a:prstGeom>
          <a:solidFill>
            <a:srgbClr val="f5f5f5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Text 25"/>
          <p:cNvSpPr/>
          <p:nvPr/>
        </p:nvSpPr>
        <p:spPr>
          <a:xfrm>
            <a:off x="4206240" y="356616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2c3e50"/>
                </a:solidFill>
                <a:latin typeface="Courier New"/>
                <a:ea typeface="Courier New"/>
              </a:rPr>
              <a:t>r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13" name="Shape 26"/>
          <p:cNvSpPr/>
          <p:nvPr/>
        </p:nvSpPr>
        <p:spPr>
          <a:xfrm>
            <a:off x="4846320" y="3474720"/>
            <a:ext cx="548280" cy="548280"/>
          </a:xfrm>
          <a:prstGeom prst="rect">
            <a:avLst/>
          </a:prstGeom>
          <a:solidFill>
            <a:srgbClr val="f5f5f5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4" name="Text 27"/>
          <p:cNvSpPr/>
          <p:nvPr/>
        </p:nvSpPr>
        <p:spPr>
          <a:xfrm>
            <a:off x="4846320" y="356616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2c3e50"/>
                </a:solidFill>
                <a:latin typeface="Courier New"/>
                <a:ea typeface="Courier New"/>
              </a:rPr>
              <a:t>e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15" name="Shape 28"/>
          <p:cNvSpPr/>
          <p:nvPr/>
        </p:nvSpPr>
        <p:spPr>
          <a:xfrm>
            <a:off x="5486400" y="3474720"/>
            <a:ext cx="548280" cy="548280"/>
          </a:xfrm>
          <a:prstGeom prst="rect">
            <a:avLst/>
          </a:prstGeom>
          <a:solidFill>
            <a:srgbClr val="02c39a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6" name="Text 29"/>
          <p:cNvSpPr/>
          <p:nvPr/>
        </p:nvSpPr>
        <p:spPr>
          <a:xfrm>
            <a:off x="5486400" y="356616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ourier New"/>
                <a:ea typeface="Courier New"/>
              </a:rPr>
              <a:t>$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17" name="Shape 30"/>
          <p:cNvSpPr/>
          <p:nvPr/>
        </p:nvSpPr>
        <p:spPr>
          <a:xfrm>
            <a:off x="6126480" y="3474720"/>
            <a:ext cx="548280" cy="548280"/>
          </a:xfrm>
          <a:prstGeom prst="rect">
            <a:avLst/>
          </a:prstGeom>
          <a:solidFill>
            <a:srgbClr val="f5f5f5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8" name="Text 31"/>
          <p:cNvSpPr/>
          <p:nvPr/>
        </p:nvSpPr>
        <p:spPr>
          <a:xfrm>
            <a:off x="6126480" y="356616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2c3e50"/>
                </a:solidFill>
                <a:latin typeface="Courier New"/>
                <a:ea typeface="Courier New"/>
              </a:rPr>
              <a:t>h</a:t>
            </a: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Text 0"/>
          <p:cNvSpPr/>
          <p:nvPr/>
        </p:nvSpPr>
        <p:spPr>
          <a:xfrm>
            <a:off x="457200" y="2743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28090"/>
                </a:solidFill>
                <a:latin typeface="Arial"/>
                <a:ea typeface="Arial"/>
              </a:rPr>
              <a:t>Program 4 - Python Code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220" name="Shape 1"/>
          <p:cNvSpPr/>
          <p:nvPr/>
        </p:nvSpPr>
        <p:spPr>
          <a:xfrm>
            <a:off x="731520" y="1005840"/>
            <a:ext cx="7680600" cy="310860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1" name="Text 2"/>
          <p:cNvSpPr/>
          <p:nvPr/>
        </p:nvSpPr>
        <p:spPr>
          <a:xfrm>
            <a:off x="914400" y="1143000"/>
            <a:ext cx="731484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# Function to replace first character occurrences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def replace_first_char(text):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# Get the first character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first_char = text[0]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# Replace all occurrences with '$'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modified_text = text.replace(first_char, '$')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# Restore the first character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modified_text = first_char + modified_text[1:]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return modified_text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# Test the function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print(replace_first_char('refresh'))  # refre$h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Text 0"/>
          <p:cNvSpPr/>
          <p:nvPr/>
        </p:nvSpPr>
        <p:spPr>
          <a:xfrm>
            <a:off x="457200" y="2743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28090"/>
                </a:solidFill>
                <a:latin typeface="Arial"/>
                <a:ea typeface="Arial"/>
              </a:rPr>
              <a:t>Program 4 - Output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223" name="Shape 1"/>
          <p:cNvSpPr/>
          <p:nvPr/>
        </p:nvSpPr>
        <p:spPr>
          <a:xfrm>
            <a:off x="1828800" y="1645920"/>
            <a:ext cx="5486040" cy="1828440"/>
          </a:xfrm>
          <a:prstGeom prst="rect">
            <a:avLst/>
          </a:prstGeom>
          <a:solidFill>
            <a:srgbClr val="f5f5f5"/>
          </a:solidFill>
          <a:ln w="381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4" name="Text 2"/>
          <p:cNvSpPr/>
          <p:nvPr/>
        </p:nvSpPr>
        <p:spPr>
          <a:xfrm>
            <a:off x="2286000" y="192024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028090"/>
                </a:solidFill>
                <a:latin typeface="Arial"/>
                <a:ea typeface="Arial"/>
              </a:rPr>
              <a:t>Sample Output: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25" name="Text 3"/>
          <p:cNvSpPr/>
          <p:nvPr/>
        </p:nvSpPr>
        <p:spPr>
          <a:xfrm>
            <a:off x="2286000" y="256032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2c39a"/>
                </a:solidFill>
                <a:latin typeface="Courier New"/>
                <a:ea typeface="Courier New"/>
              </a:rPr>
              <a:t>refre$h</a:t>
            </a:r>
            <a:endParaRPr b="0" lang="en-IN" sz="4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Text 0"/>
          <p:cNvSpPr/>
          <p:nvPr/>
        </p:nvSpPr>
        <p:spPr>
          <a:xfrm>
            <a:off x="457200" y="2743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28090"/>
                </a:solidFill>
                <a:latin typeface="Arial"/>
                <a:ea typeface="Arial"/>
              </a:rPr>
              <a:t>Program 5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227" name="Shape 1"/>
          <p:cNvSpPr/>
          <p:nvPr/>
        </p:nvSpPr>
        <p:spPr>
          <a:xfrm>
            <a:off x="457200" y="914400"/>
            <a:ext cx="8229240" cy="13680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8" name="Text 2"/>
          <p:cNvSpPr/>
          <p:nvPr/>
        </p:nvSpPr>
        <p:spPr>
          <a:xfrm>
            <a:off x="457200" y="12801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2c3e50"/>
                </a:solidFill>
                <a:latin typeface="Arial"/>
                <a:ea typeface="Arial"/>
              </a:rPr>
              <a:t>Swap First 2 Characters of Two Strings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229" name="Shape 3"/>
          <p:cNvSpPr/>
          <p:nvPr/>
        </p:nvSpPr>
        <p:spPr>
          <a:xfrm>
            <a:off x="914400" y="2103120"/>
            <a:ext cx="7314840" cy="1645560"/>
          </a:xfrm>
          <a:prstGeom prst="rect">
            <a:avLst/>
          </a:prstGeom>
          <a:solidFill>
            <a:srgbClr val="f5f5f5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0" name="Text 4"/>
          <p:cNvSpPr/>
          <p:nvPr/>
        </p:nvSpPr>
        <p:spPr>
          <a:xfrm>
            <a:off x="1188720" y="2286000"/>
            <a:ext cx="6766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28090"/>
                </a:solidFill>
                <a:latin typeface="Arial"/>
                <a:ea typeface="Arial"/>
              </a:rPr>
              <a:t>Problem Statement: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31" name="Text 5"/>
          <p:cNvSpPr/>
          <p:nvPr/>
        </p:nvSpPr>
        <p:spPr>
          <a:xfrm>
            <a:off x="1188720" y="2651760"/>
            <a:ext cx="67662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2c3e50"/>
                </a:solidFill>
                <a:latin typeface="Arial"/>
                <a:ea typeface="Arial"/>
              </a:rPr>
              <a:t>Write a Python function to create a single string from two given strings, separated by a space, where the first two characters of each string are swapped.</a:t>
            </a:r>
            <a:endParaRPr b="0" lang="en-IN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Text 0"/>
          <p:cNvSpPr/>
          <p:nvPr/>
        </p:nvSpPr>
        <p:spPr>
          <a:xfrm>
            <a:off x="457200" y="2743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28090"/>
                </a:solidFill>
                <a:latin typeface="Arial"/>
                <a:ea typeface="Arial"/>
              </a:rPr>
              <a:t>Program 5 - How It Works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233" name="Text 1"/>
          <p:cNvSpPr/>
          <p:nvPr/>
        </p:nvSpPr>
        <p:spPr>
          <a:xfrm>
            <a:off x="914400" y="118872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c3e50"/>
                </a:solidFill>
                <a:latin typeface="Arial"/>
                <a:ea typeface="Arial"/>
              </a:rPr>
              <a:t>String A: "def"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34" name="Shape 2"/>
          <p:cNvSpPr/>
          <p:nvPr/>
        </p:nvSpPr>
        <p:spPr>
          <a:xfrm>
            <a:off x="1828800" y="1554480"/>
            <a:ext cx="548280" cy="548280"/>
          </a:xfrm>
          <a:prstGeom prst="rect">
            <a:avLst/>
          </a:prstGeom>
          <a:solidFill>
            <a:srgbClr val="e67e22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5" name="Text 3"/>
          <p:cNvSpPr/>
          <p:nvPr/>
        </p:nvSpPr>
        <p:spPr>
          <a:xfrm>
            <a:off x="1828800" y="164592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ourier New"/>
                <a:ea typeface="Courier New"/>
              </a:rPr>
              <a:t>d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36" name="Shape 4"/>
          <p:cNvSpPr/>
          <p:nvPr/>
        </p:nvSpPr>
        <p:spPr>
          <a:xfrm>
            <a:off x="2468880" y="1554480"/>
            <a:ext cx="548280" cy="548280"/>
          </a:xfrm>
          <a:prstGeom prst="rect">
            <a:avLst/>
          </a:prstGeom>
          <a:solidFill>
            <a:srgbClr val="e67e22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7" name="Text 5"/>
          <p:cNvSpPr/>
          <p:nvPr/>
        </p:nvSpPr>
        <p:spPr>
          <a:xfrm>
            <a:off x="2468880" y="164592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ourier New"/>
                <a:ea typeface="Courier New"/>
              </a:rPr>
              <a:t>e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38" name="Shape 6"/>
          <p:cNvSpPr/>
          <p:nvPr/>
        </p:nvSpPr>
        <p:spPr>
          <a:xfrm>
            <a:off x="3108960" y="1554480"/>
            <a:ext cx="548280" cy="548280"/>
          </a:xfrm>
          <a:prstGeom prst="rect">
            <a:avLst/>
          </a:prstGeom>
          <a:solidFill>
            <a:srgbClr val="f5f5f5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9" name="Text 7"/>
          <p:cNvSpPr/>
          <p:nvPr/>
        </p:nvSpPr>
        <p:spPr>
          <a:xfrm>
            <a:off x="3108960" y="164592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2c3e50"/>
                </a:solidFill>
                <a:latin typeface="Courier New"/>
                <a:ea typeface="Courier New"/>
              </a:rPr>
              <a:t>f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40" name="Text 8"/>
          <p:cNvSpPr/>
          <p:nvPr/>
        </p:nvSpPr>
        <p:spPr>
          <a:xfrm>
            <a:off x="5029200" y="118872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c3e50"/>
                </a:solidFill>
                <a:latin typeface="Arial"/>
                <a:ea typeface="Arial"/>
              </a:rPr>
              <a:t>String B: "pqr"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41" name="Shape 9"/>
          <p:cNvSpPr/>
          <p:nvPr/>
        </p:nvSpPr>
        <p:spPr>
          <a:xfrm>
            <a:off x="5943600" y="1554480"/>
            <a:ext cx="548280" cy="548280"/>
          </a:xfrm>
          <a:prstGeom prst="rect">
            <a:avLst/>
          </a:prstGeom>
          <a:solidFill>
            <a:srgbClr val="9b59b6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2" name="Text 10"/>
          <p:cNvSpPr/>
          <p:nvPr/>
        </p:nvSpPr>
        <p:spPr>
          <a:xfrm>
            <a:off x="5943600" y="164592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ourier New"/>
                <a:ea typeface="Courier New"/>
              </a:rPr>
              <a:t>p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43" name="Shape 11"/>
          <p:cNvSpPr/>
          <p:nvPr/>
        </p:nvSpPr>
        <p:spPr>
          <a:xfrm>
            <a:off x="6583680" y="1554480"/>
            <a:ext cx="548280" cy="548280"/>
          </a:xfrm>
          <a:prstGeom prst="rect">
            <a:avLst/>
          </a:prstGeom>
          <a:solidFill>
            <a:srgbClr val="9b59b6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4" name="Text 12"/>
          <p:cNvSpPr/>
          <p:nvPr/>
        </p:nvSpPr>
        <p:spPr>
          <a:xfrm>
            <a:off x="6583680" y="164592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ourier New"/>
                <a:ea typeface="Courier New"/>
              </a:rPr>
              <a:t>q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45" name="Shape 13"/>
          <p:cNvSpPr/>
          <p:nvPr/>
        </p:nvSpPr>
        <p:spPr>
          <a:xfrm>
            <a:off x="7223760" y="1554480"/>
            <a:ext cx="548280" cy="548280"/>
          </a:xfrm>
          <a:prstGeom prst="rect">
            <a:avLst/>
          </a:prstGeom>
          <a:solidFill>
            <a:srgbClr val="f5f5f5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6" name="Text 14"/>
          <p:cNvSpPr/>
          <p:nvPr/>
        </p:nvSpPr>
        <p:spPr>
          <a:xfrm>
            <a:off x="7223760" y="164592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2c3e50"/>
                </a:solidFill>
                <a:latin typeface="Courier New"/>
                <a:ea typeface="Courier New"/>
              </a:rPr>
              <a:t>r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47" name="Shape 15"/>
          <p:cNvSpPr/>
          <p:nvPr/>
        </p:nvSpPr>
        <p:spPr>
          <a:xfrm>
            <a:off x="3474720" y="1737360"/>
            <a:ext cx="914040" cy="2739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a896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8" name="Shape 16"/>
          <p:cNvSpPr/>
          <p:nvPr/>
        </p:nvSpPr>
        <p:spPr>
          <a:xfrm>
            <a:off x="4389120" y="1737360"/>
            <a:ext cx="914040" cy="27396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00a896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9" name="Text 17"/>
          <p:cNvSpPr/>
          <p:nvPr/>
        </p:nvSpPr>
        <p:spPr>
          <a:xfrm>
            <a:off x="3200400" y="265176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c3e50"/>
                </a:solidFill>
                <a:latin typeface="Arial"/>
                <a:ea typeface="Arial"/>
              </a:rPr>
              <a:t>Result: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50" name="Shape 18"/>
          <p:cNvSpPr/>
          <p:nvPr/>
        </p:nvSpPr>
        <p:spPr>
          <a:xfrm>
            <a:off x="2286000" y="3017520"/>
            <a:ext cx="4571640" cy="731160"/>
          </a:xfrm>
          <a:prstGeom prst="rect">
            <a:avLst/>
          </a:prstGeom>
          <a:solidFill>
            <a:srgbClr val="02c39a"/>
          </a:solidFill>
          <a:ln w="381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1" name="Text 19"/>
          <p:cNvSpPr/>
          <p:nvPr/>
        </p:nvSpPr>
        <p:spPr>
          <a:xfrm>
            <a:off x="2286000" y="310896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ourier New"/>
                <a:ea typeface="Courier New"/>
              </a:rPr>
              <a:t>"pqf derq"</a:t>
            </a:r>
            <a:endParaRPr b="0" lang="en-IN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Text 0"/>
          <p:cNvSpPr/>
          <p:nvPr/>
        </p:nvSpPr>
        <p:spPr>
          <a:xfrm>
            <a:off x="457200" y="2743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28090"/>
                </a:solidFill>
                <a:latin typeface="Arial"/>
                <a:ea typeface="Arial"/>
              </a:rPr>
              <a:t>Program 5 - Python Code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253" name="Shape 1"/>
          <p:cNvSpPr/>
          <p:nvPr/>
        </p:nvSpPr>
        <p:spPr>
          <a:xfrm>
            <a:off x="731520" y="1005840"/>
            <a:ext cx="7680600" cy="310860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4" name="Text 2"/>
          <p:cNvSpPr/>
          <p:nvPr/>
        </p:nvSpPr>
        <p:spPr>
          <a:xfrm>
            <a:off x="914400" y="1143000"/>
            <a:ext cx="731484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bb2bf"/>
                </a:solidFill>
                <a:latin typeface="Courier New"/>
                <a:ea typeface="Courier New"/>
              </a:rPr>
              <a:t># Function to swap first 2 chars of two strings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bb2bf"/>
                </a:solidFill>
                <a:latin typeface="Courier New"/>
                <a:ea typeface="Courier New"/>
              </a:rPr>
              <a:t>def swap_first_two(str_a, str_b):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300" spc="-1" strike="noStrike">
                <a:solidFill>
                  <a:srgbClr val="abb2bf"/>
                </a:solidFill>
                <a:latin typeface="Courier New"/>
                <a:ea typeface="Courier New"/>
              </a:rPr>
              <a:t># Create new string with first 2 chars swapped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300" spc="-1" strike="noStrike">
                <a:solidFill>
                  <a:srgbClr val="abb2bf"/>
                </a:solidFill>
                <a:latin typeface="Courier New"/>
                <a:ea typeface="Courier New"/>
              </a:rPr>
              <a:t>new_str_a = str_b[:2] + str_a[2:]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300" spc="-1" strike="noStrike">
                <a:solidFill>
                  <a:srgbClr val="abb2bf"/>
                </a:solidFill>
                <a:latin typeface="Courier New"/>
                <a:ea typeface="Courier New"/>
              </a:rPr>
              <a:t>new_str_b = str_a[:2] + str_b[2:]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300" spc="-1" strike="noStrike">
                <a:solidFill>
                  <a:srgbClr val="abb2bf"/>
                </a:solidFill>
                <a:latin typeface="Courier New"/>
                <a:ea typeface="Courier New"/>
              </a:rPr>
              <a:t># Combine with space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300" spc="-1" strike="noStrike">
                <a:solidFill>
                  <a:srgbClr val="abb2bf"/>
                </a:solidFill>
                <a:latin typeface="Courier New"/>
                <a:ea typeface="Courier New"/>
              </a:rPr>
              <a:t>return new_str_a + ' ' + new_str_b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bb2bf"/>
                </a:solidFill>
                <a:latin typeface="Courier New"/>
                <a:ea typeface="Courier New"/>
              </a:rPr>
              <a:t># Test the function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print(swap_first_two('def', 'pqr'))  # pqf derq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Text 0"/>
          <p:cNvSpPr/>
          <p:nvPr/>
        </p:nvSpPr>
        <p:spPr>
          <a:xfrm>
            <a:off x="457200" y="2743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28090"/>
                </a:solidFill>
                <a:latin typeface="Arial"/>
                <a:ea typeface="Arial"/>
              </a:rPr>
              <a:t>Program 5 - Output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256" name="Shape 1"/>
          <p:cNvSpPr/>
          <p:nvPr/>
        </p:nvSpPr>
        <p:spPr>
          <a:xfrm>
            <a:off x="1828800" y="1645920"/>
            <a:ext cx="5486040" cy="1828440"/>
          </a:xfrm>
          <a:prstGeom prst="rect">
            <a:avLst/>
          </a:prstGeom>
          <a:solidFill>
            <a:srgbClr val="f5f5f5"/>
          </a:solidFill>
          <a:ln w="381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7" name="Text 2"/>
          <p:cNvSpPr/>
          <p:nvPr/>
        </p:nvSpPr>
        <p:spPr>
          <a:xfrm>
            <a:off x="2286000" y="192024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028090"/>
                </a:solidFill>
                <a:latin typeface="Arial"/>
                <a:ea typeface="Arial"/>
              </a:rPr>
              <a:t>Sample Output: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58" name="Text 3"/>
          <p:cNvSpPr/>
          <p:nvPr/>
        </p:nvSpPr>
        <p:spPr>
          <a:xfrm>
            <a:off x="2286000" y="256032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2c39a"/>
                </a:solidFill>
                <a:latin typeface="Courier New"/>
                <a:ea typeface="Courier New"/>
              </a:rPr>
              <a:t>pqf derq</a:t>
            </a:r>
            <a:endParaRPr b="0" lang="en-IN" sz="4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Text 0"/>
          <p:cNvSpPr/>
          <p:nvPr/>
        </p:nvSpPr>
        <p:spPr>
          <a:xfrm>
            <a:off x="457200" y="137160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Arial"/>
                <a:ea typeface="Arial"/>
              </a:rPr>
              <a:t>Congratulations!</a:t>
            </a:r>
            <a:endParaRPr b="0" lang="en-IN" sz="4800" spc="-1" strike="noStrike">
              <a:latin typeface="Arial"/>
            </a:endParaRPr>
          </a:p>
        </p:txBody>
      </p:sp>
      <p:sp>
        <p:nvSpPr>
          <p:cNvPr id="260" name="Text 1"/>
          <p:cNvSpPr/>
          <p:nvPr/>
        </p:nvSpPr>
        <p:spPr>
          <a:xfrm>
            <a:off x="457200" y="228600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2c39a"/>
                </a:solidFill>
                <a:latin typeface="Arial"/>
                <a:ea typeface="Arial"/>
              </a:rPr>
              <a:t>You've completed all 5 Python String Programs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261" name="Text 2"/>
          <p:cNvSpPr/>
          <p:nvPr/>
        </p:nvSpPr>
        <p:spPr>
          <a:xfrm>
            <a:off x="457200" y="347472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cccccc"/>
                </a:solidFill>
                <a:latin typeface="Arial"/>
                <a:ea typeface="Arial"/>
              </a:rPr>
              <a:t>Practice • Code • Excel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2026-02-01T12:05:45Z</dcterms:created>
  <dc:creator>Python Programming</dc:creator>
  <dc:description/>
  <dc:language>en-IN</dc:language>
  <cp:lastModifiedBy/>
  <dcterms:modified xsi:type="dcterms:W3CDTF">2026-02-01T22:34:56Z</dcterms:modified>
  <cp:revision>2</cp:revision>
  <dc:subject>PptxGenJS Presentation</dc:subject>
  <dc:title>Python String Programs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22</vt:i4>
  </property>
  <property fmtid="{D5CDD505-2E9C-101B-9397-08002B2CF9AE}" pid="3" name="PresentationFormat">
    <vt:lpwstr>On-screen Show (16:9)</vt:lpwstr>
  </property>
  <property fmtid="{D5CDD505-2E9C-101B-9397-08002B2CF9AE}" pid="4" name="Slides">
    <vt:i4>22</vt:i4>
  </property>
</Properties>
</file>