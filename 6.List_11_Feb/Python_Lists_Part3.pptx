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Lists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3: Aliasing, Cloning &amp; Identity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List References and Identity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Aliasing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 occurs when multiple variables refer to (reference) the same list object in memory. When one variable is assigned to another, they point to the same location.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aliasing, multiple variables refer to the same list object in memory. Changes made through one variable affect all others.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Representation: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3474720"/>
            <a:ext cx="1828800" cy="1097280"/>
          </a:xfrm>
          <a:prstGeom prst="rect">
            <a:avLst/>
          </a:prstGeom>
          <a:solidFill>
            <a:srgbClr val="1C7293"/>
          </a:solidFill>
          <a:ln w="381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35204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94760" y="397764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94760" y="40416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97764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40416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397764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404164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657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60320" y="3794760"/>
            <a:ext cx="100584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alias_list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60320" y="4343400"/>
            <a:ext cx="1005840" cy="0"/>
          </a:xfrm>
          <a:prstGeom prst="line">
            <a:avLst/>
          </a:prstGeom>
          <a:noFill/>
          <a:ln w="25400">
            <a:solidFill>
              <a:srgbClr val="21295C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variables point to the SAME list in memory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303520"/>
            <a:ext cx="7863840" cy="1371600"/>
          </a:xfrm>
          <a:prstGeom prst="rect">
            <a:avLst/>
          </a:prstGeom>
          <a:solidFill>
            <a:srgbClr val="F8F8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44068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Code: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7607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 = [1, 2, 3]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alias_list = original_list      # Both point to same 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print(alias_list)                # [1, 2, 3]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Aliasing Behavior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change a list using one variable, the change is reflected in all other variables that reference the same list.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Demonstration: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Create list and alias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alias_list = original_list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print(alias_list)                # [1, 2, 3]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033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Modify using one variable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original_list[0] = 100           # Change first element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[100,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print(alias_list)                # [100, 2, 3]  ← Also changed!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0749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Modify using other variable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alias_list[1] = 200              # Change second element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[100, 200, 3]  ← Also changed!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print(alias_list)                # [100, 200, 3]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6309360"/>
            <a:ext cx="7863840" cy="457200"/>
          </a:xfrm>
          <a:prstGeom prst="rect">
            <a:avLst/>
          </a:prstGeom>
          <a:solidFill>
            <a:srgbClr val="FFF8DC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00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 Insight: Changes through ANY variable affect ALL variables pointing to the same list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Cloning (Copying) Lists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 creates a separate copy of a list in a different memory location. Changes to one list do not affect the other.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cloning, we copy the content of one list into a different list, creating two separate list objects with the same content.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Representation: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3383280"/>
            <a:ext cx="2286000" cy="1280160"/>
          </a:xfrm>
          <a:prstGeom prst="rect">
            <a:avLst/>
          </a:prstGeom>
          <a:solidFill>
            <a:srgbClr val="1C7293"/>
          </a:solidFill>
          <a:ln w="381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 Location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100123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5448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0312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4800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0" y="3383280"/>
            <a:ext cx="2286000" cy="1280160"/>
          </a:xfrm>
          <a:prstGeom prst="rect">
            <a:avLst/>
          </a:prstGeom>
          <a:solidFill>
            <a:srgbClr val="50808E"/>
          </a:solidFill>
          <a:ln w="38100">
            <a:solidFill>
              <a:srgbClr val="2F5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 Location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F5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F5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4114800"/>
            <a:ext cx="457200" cy="365760"/>
          </a:xfrm>
          <a:prstGeom prst="rect">
            <a:avLst/>
          </a:prstGeom>
          <a:solidFill>
            <a:srgbClr val="F5F5F5"/>
          </a:solidFill>
          <a:ln w="12700">
            <a:solidFill>
              <a:srgbClr val="2F5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417880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5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4800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cloned_list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4048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71600" y="5212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lists with same content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7863840" cy="1097280"/>
          </a:xfrm>
          <a:prstGeom prst="rect">
            <a:avLst/>
          </a:prstGeom>
          <a:solidFill>
            <a:srgbClr val="F8F8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8064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Clone using copy():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2960" y="61264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cloned_list = original_list.copy()    # Creates separate copy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print(cloned_list)                     # [1, 2, 3]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Cloning Behavior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change one list, the change does NOT reflect in the other list because they are separate objects in memory.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Demonstration: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Create list and clone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 = [10, 20, 30]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cloned_list = original_list.copy()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[10, 20, 30]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print(cloned_list)               # [10, 20, 30]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033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Modify original list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original_list[0] = 100           # Change original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[100, 20, 30]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print(cloned_list)               # [10, 20, 30]  ← NOT changed!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93776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07492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Modify cloned list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cloned_list[1] = 200             # Change clone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print(original_list)             # [100, 20, 30]  ← NOT changed!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print(cloned_list)               # [10, 200, 30]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6309360"/>
            <a:ext cx="7863840" cy="457200"/>
          </a:xfrm>
          <a:prstGeom prst="rect">
            <a:avLst/>
          </a:prstGeom>
          <a:solidFill>
            <a:srgbClr val="FFF8DC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008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 Insight: Changes to one list do NOT affect the other - they are independent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Copy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copy is a technique where we copy both the list AND any nested lists or objects inside it, creating completely independent copies.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Deep Copy Needed?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copy is needed when your list contains other lists (nested lists) and you want complete independence between the original and the copy.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4023360" cy="384048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80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Copy (.copy())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outer list only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3474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[[1, 2], [3, 4]]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shallow[0][0] = 99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[[99, 2], [3, 4]]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Inner list changed!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743200"/>
            <a:ext cx="4023360" cy="3840480"/>
          </a:xfrm>
          <a:prstGeom prst="rect">
            <a:avLst/>
          </a:prstGeom>
          <a:solidFill>
            <a:srgbClr val="F5F5F5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880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Copy (copy.deepcopy())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all nested structures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474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[[1, 2], [3, 4]]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copy.deepcopy(original)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deep[0][0] = 99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print(original)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[[1, 2], [3, 4]]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NOT changed!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'in' Operator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'in' operator is used to check whether a particular element exists in a list. It returns True if the element is found, False otherwise.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860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in list_name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Search: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383280"/>
            <a:ext cx="82296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5204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377440" y="3383280"/>
            <a:ext cx="82296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35204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83280" y="3383280"/>
            <a:ext cx="822960" cy="548640"/>
          </a:xfrm>
          <a:prstGeom prst="rect">
            <a:avLst/>
          </a:prstGeom>
          <a:solidFill>
            <a:srgbClr val="21295C"/>
          </a:solidFill>
          <a:ln w="3810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35204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9120" y="3383280"/>
            <a:ext cx="82296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35204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394960" y="3383280"/>
            <a:ext cx="82296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35204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1148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= [1, 2, 3, 4, 5]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Checking: 3 in numbers → True 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7863840" cy="1737360"/>
          </a:xfrm>
          <a:prstGeom prst="rect">
            <a:avLst/>
          </a:prstGeom>
          <a:solidFill>
            <a:srgbClr val="F8F8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7492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Examples: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39496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 = [1, 2, 3, 4, 5]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print(3 in items)        #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print(8 in items)        # False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3 in items: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print("3 is present in list")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print("3 is not present in list")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'in' Operator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Use Cases: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29968"/>
            <a:ext cx="7223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user input is in allowed values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 = ['yes', 'no', 'maybe']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user_input in allowed: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process_input()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7863840" cy="1463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33756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3375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3675888"/>
            <a:ext cx="7223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if an item exists before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39776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 = ['phone', 'laptop', 'tablet']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'laptop' in products: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print('Available!')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7863840" cy="1463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98348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5321808"/>
            <a:ext cx="7223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membership for conditional logic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562356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premium_users = [101, 102, 103]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user_id in premium_users: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grant_access()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'is' Operator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'is' operator checks whether two variables refer to the same object in memory (same memory location/reference), not just equal values.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solidFill>
            <a:srgbClr val="F0F8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860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variable1 is variable2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vs Equality: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290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 (same object):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list_a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list_b = list_a              # Both point to same object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print(list_a is list_b)      #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print(list_a == list_b)      # True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663440"/>
            <a:ext cx="7863840" cy="1188720"/>
          </a:xfrm>
          <a:prstGeom prst="rect">
            <a:avLst/>
          </a:prstGeom>
          <a:solidFill>
            <a:srgbClr val="F5F5F5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8006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 (different objects):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list_a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list_b = list_a.copy()       # Different object, same content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print(list_a is list_b)      # False ← Different objects!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print(list_a == list_b)      # True  ← Same content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6035040"/>
            <a:ext cx="7863840" cy="640080"/>
          </a:xfrm>
          <a:prstGeom prst="rect">
            <a:avLst/>
          </a:prstGeom>
          <a:solidFill>
            <a:srgbClr val="FFF8DC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1722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Key Difference: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640080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'is' checks identity (same object)  |  '==' checks equality (same values)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Comparison Examples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explore different scenarios to understand when 'is' returns True or False.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1: Direct Assignment (Aliasing)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7863840" cy="10058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7498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                        # b points to same object as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b)                #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                # True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2: Using copy() Method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7863840" cy="10058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7498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a.copy()                 # b is separate copy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b)                # False ← Different objects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                # True  ← Same values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3: Creating Separate Lists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257800"/>
            <a:ext cx="7863840" cy="1005840"/>
          </a:xfrm>
          <a:prstGeom prst="rect">
            <a:avLst/>
          </a:prstGeom>
          <a:solidFill>
            <a:srgbClr val="F5F5F5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394960"/>
            <a:ext cx="7498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[1, 2, 3]                # Separate list with same content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is b)                # False ← Different objects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== b)                # True  ← Same values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Summary: Aliasing vs Cloning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618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12618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60720" y="12618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7863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19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0" y="17190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object, multiple names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17190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Separate copy of object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762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17520" y="21762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location shared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60720" y="21762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different locations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334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17520" y="26334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Affects all references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26334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Independent changes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017520"/>
            <a:ext cx="78638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0906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17520" y="30906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60720" y="30906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a.copy()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474720"/>
            <a:ext cx="7863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478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'is' operator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5478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True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60720" y="35478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False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05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'==' operator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017520" y="40050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True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60720" y="40050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Returns True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Memory Representation: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14400" y="5394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Aliasing: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371600" y="5715000"/>
            <a:ext cx="137160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0" y="58247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58064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1520" y="5989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→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0" y="53949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Cloning: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0" y="5715000"/>
            <a:ext cx="1097280" cy="548640"/>
          </a:xfrm>
          <a:prstGeom prst="rect">
            <a:avLst/>
          </a:prstGeom>
          <a:solidFill>
            <a:srgbClr val="1C7293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0" y="582472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5715000"/>
            <a:ext cx="1097280" cy="548640"/>
          </a:xfrm>
          <a:prstGeom prst="rect">
            <a:avLst/>
          </a:prstGeom>
          <a:solidFill>
            <a:srgbClr val="50808E"/>
          </a:solidFill>
          <a:ln w="25400">
            <a:solidFill>
              <a:srgbClr val="2F5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582472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100124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14800" y="58521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→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60720" y="58521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5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Part 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completed: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4206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Aliasing and how variables reference lists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8288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Cloning (copying) lists and deep copy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4937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The 'in' operator for membership testing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5303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The 'is' operator for identity checking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learn more about list methods and operations!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2026-02-11T08:26:20Z</dcterms:created>
  <dcterms:modified xsi:type="dcterms:W3CDTF">2026-02-11T08:26:20Z</dcterms:modified>
</cp:coreProperties>
</file>