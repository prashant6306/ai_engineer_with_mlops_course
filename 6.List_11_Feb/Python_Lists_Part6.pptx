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Lists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383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6: List Methods &amp; Nested Lists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Guide to List Manipulation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append() Method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append() method adds a single item to the end of the list. It modifies the original list in-place.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7863840" cy="457200"/>
          </a:xfrm>
          <a:prstGeom prst="rect">
            <a:avLst/>
          </a:prstGeom>
          <a:solidFill>
            <a:srgbClr val="F0F8FF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28600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list_name.append(item)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Example: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2918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append: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3611880"/>
            <a:ext cx="640080" cy="45720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72160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645920" y="3611880"/>
            <a:ext cx="640080" cy="45720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45920" y="372160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377440" y="3611880"/>
            <a:ext cx="640080" cy="45720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77440" y="372160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108960" y="3611880"/>
            <a:ext cx="640080" cy="45720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08960" y="372160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840480" y="3611880"/>
            <a:ext cx="640080" cy="45720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0" y="372160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89120" y="3703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append(60)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577840" y="370332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14400" y="42976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append: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14400" y="4617720"/>
            <a:ext cx="640080" cy="45720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72744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645920" y="4617720"/>
            <a:ext cx="640080" cy="45720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45920" y="472744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377440" y="4617720"/>
            <a:ext cx="640080" cy="45720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77440" y="472744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108960" y="4617720"/>
            <a:ext cx="640080" cy="45720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08960" y="472744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840480" y="4617720"/>
            <a:ext cx="640080" cy="45720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0" y="472744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0" y="4617720"/>
            <a:ext cx="640080" cy="457200"/>
          </a:xfrm>
          <a:prstGeom prst="rect">
            <a:avLst/>
          </a:prstGeom>
          <a:solidFill>
            <a:srgbClr val="21295C"/>
          </a:solidFill>
          <a:ln w="38100">
            <a:solidFill>
              <a:srgbClr val="2129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0" y="472744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40080" y="5394960"/>
            <a:ext cx="7863840" cy="1280160"/>
          </a:xfrm>
          <a:prstGeom prst="rect">
            <a:avLst/>
          </a:prstGeom>
          <a:solidFill>
            <a:srgbClr val="F8F8F8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" y="553212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Example: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22960" y="5852160"/>
            <a:ext cx="7498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numbers = [10, 20, 30, 40, 50]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numbers.append(60)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print(numbers)               # [10, 20, 30, 40, 50, 60]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insert() Method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insert() method inserts an item at a particular index position. It shifts existing elements to the right.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7863840" cy="457200"/>
          </a:xfrm>
          <a:prstGeom prst="rect">
            <a:avLst/>
          </a:prstGeom>
          <a:solidFill>
            <a:srgbClr val="F0F8FF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28600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list_name.insert(index, item)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Example: insert(2, 25)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32918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35661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194560" y="35661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017520" y="35661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40480" y="35661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63440" y="35661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371600" y="3794760"/>
            <a:ext cx="731520" cy="45720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71600" y="390448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194560" y="3794760"/>
            <a:ext cx="731520" cy="45720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94560" y="390448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017520" y="3794760"/>
            <a:ext cx="731520" cy="45720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17520" y="390448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840480" y="3794760"/>
            <a:ext cx="731520" cy="45720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0" y="390448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63440" y="3794760"/>
            <a:ext cx="731520" cy="45720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390448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371600" y="44805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insert(2, 25):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371600" y="475488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194560" y="475488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017520" y="475488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840480" y="475488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663440" y="475488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0" y="475488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371600" y="4983480"/>
            <a:ext cx="731520" cy="45720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371600" y="509320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194560" y="4983480"/>
            <a:ext cx="731520" cy="45720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94560" y="509320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017520" y="4983480"/>
            <a:ext cx="731520" cy="457200"/>
          </a:xfrm>
          <a:prstGeom prst="rect">
            <a:avLst/>
          </a:prstGeom>
          <a:solidFill>
            <a:srgbClr val="21295C"/>
          </a:solidFill>
          <a:ln w="38100">
            <a:solidFill>
              <a:srgbClr val="2129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17520" y="509320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840480" y="4983480"/>
            <a:ext cx="731520" cy="45720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40480" y="509320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663440" y="4983480"/>
            <a:ext cx="731520" cy="45720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63440" y="509320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486400" y="4983480"/>
            <a:ext cx="731520" cy="45720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0" y="509320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40080" y="5760720"/>
            <a:ext cx="7863840" cy="914400"/>
          </a:xfrm>
          <a:prstGeom prst="rect">
            <a:avLst/>
          </a:prstGeom>
          <a:solidFill>
            <a:srgbClr val="F8F8F8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2960" y="5897880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[10, 20, 30, 40, 50]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data.insert(2, 25)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print(data)                  # [10, 20, 25, 30, 40, 50]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extend() Method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extend() method adds all elements from another list to the end of the current list. It's like merging lists in-place.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7863840" cy="457200"/>
          </a:xfrm>
          <a:prstGeom prst="rect">
            <a:avLst/>
          </a:prstGeom>
          <a:solidFill>
            <a:srgbClr val="F0F8FF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28600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list1.extend(list2)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Example: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2918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list1: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3611880"/>
            <a:ext cx="640080" cy="45720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72160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645920" y="3611880"/>
            <a:ext cx="640080" cy="45720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45920" y="372160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377440" y="3611880"/>
            <a:ext cx="640080" cy="45720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77440" y="372160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0" y="32918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list2: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14800" y="3611880"/>
            <a:ext cx="640080" cy="457200"/>
          </a:xfrm>
          <a:prstGeom prst="rect">
            <a:avLst/>
          </a:prstGeom>
          <a:solidFill>
            <a:srgbClr val="50808E"/>
          </a:solidFill>
          <a:ln w="25400">
            <a:solidFill>
              <a:srgbClr val="2F5A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0" y="372160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46320" y="3611880"/>
            <a:ext cx="640080" cy="457200"/>
          </a:xfrm>
          <a:prstGeom prst="rect">
            <a:avLst/>
          </a:prstGeom>
          <a:solidFill>
            <a:srgbClr val="50808E"/>
          </a:solidFill>
          <a:ln w="25400">
            <a:solidFill>
              <a:srgbClr val="2F5A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372160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43891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list1.extend(list2):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14400" y="4709160"/>
            <a:ext cx="640080" cy="45720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81888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645920" y="4709160"/>
            <a:ext cx="640080" cy="45720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45920" y="481888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377440" y="4709160"/>
            <a:ext cx="640080" cy="45720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77440" y="481888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108960" y="4709160"/>
            <a:ext cx="640080" cy="457200"/>
          </a:xfrm>
          <a:prstGeom prst="rect">
            <a:avLst/>
          </a:prstGeom>
          <a:solidFill>
            <a:srgbClr val="50808E"/>
          </a:solidFill>
          <a:ln w="25400">
            <a:solidFill>
              <a:srgbClr val="2F5A6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08960" y="481888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840480" y="4709160"/>
            <a:ext cx="640080" cy="457200"/>
          </a:xfrm>
          <a:prstGeom prst="rect">
            <a:avLst/>
          </a:prstGeom>
          <a:solidFill>
            <a:srgbClr val="50808E"/>
          </a:solidFill>
          <a:ln w="25400">
            <a:solidFill>
              <a:srgbClr val="2F5A6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0" y="481888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40080" y="5486400"/>
            <a:ext cx="7863840" cy="1188720"/>
          </a:xfrm>
          <a:prstGeom prst="rect">
            <a:avLst/>
          </a:prstGeom>
          <a:solidFill>
            <a:srgbClr val="F8F8F8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562356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Example: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22960" y="594360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list1 = [10, 20, 30]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list2 = [40, 50]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list1.extend(list2)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print(list1)                 # [10, 20, 30, 40, 50]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remove() Method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remove() method removes a particular item from the list by value. It removes the first occurrence of the specified value.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7863840" cy="457200"/>
          </a:xfrm>
          <a:prstGeom prst="rect">
            <a:avLst/>
          </a:prstGeom>
          <a:solidFill>
            <a:srgbClr val="F0F8FF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28600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list_name.remove(value)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Example: remove(30)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32918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371600" y="3611880"/>
            <a:ext cx="731520" cy="45720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372160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194560" y="3611880"/>
            <a:ext cx="731520" cy="45720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94560" y="372160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017520" y="3611880"/>
            <a:ext cx="731520" cy="457200"/>
          </a:xfrm>
          <a:prstGeom prst="rect">
            <a:avLst/>
          </a:prstGeom>
          <a:solidFill>
            <a:srgbClr val="CC0000"/>
          </a:solidFill>
          <a:ln w="25400">
            <a:solidFill>
              <a:srgbClr val="99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17520" y="372160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017520" y="41605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40480" y="3611880"/>
            <a:ext cx="731520" cy="45720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0" y="372160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3611880"/>
            <a:ext cx="731520" cy="45720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372160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371600" y="46634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remove(30):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371600" y="4983480"/>
            <a:ext cx="731520" cy="45720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71600" y="509320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194560" y="4983480"/>
            <a:ext cx="731520" cy="45720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94560" y="509320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017520" y="4983480"/>
            <a:ext cx="731520" cy="45720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17520" y="509320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840480" y="4983480"/>
            <a:ext cx="731520" cy="45720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0" y="509320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" y="5760720"/>
            <a:ext cx="7863840" cy="914400"/>
          </a:xfrm>
          <a:prstGeom prst="rect">
            <a:avLst/>
          </a:prstGeom>
          <a:solidFill>
            <a:srgbClr val="F8F8F8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5897880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items = [10, 20, 30, 40, 50]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items.remove(30)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print(items)                 # [10, 20, 40, 50]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pop() Method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pop() method removes an item from the list and returns it. Two variations: pop() removes last item, pop(index) removes at specific index.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pop() - Remove Last Item: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7863840" cy="118872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377440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numbers = [10, 20, 30, 40]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removed = numbers.pop()      # Removes and returns 40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print(removed)               # 40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print(numbers)               # [10, 20, 30]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36118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pop(index) - Remove at Specific Index: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4023360"/>
            <a:ext cx="7863840" cy="118872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160520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numbers = [10, 20, 30, 40, 50]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removed = numbers.pop(2)     # Removes and returns item at index 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print(removed)               # 30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print(numbers)               # [10, 20, 40, 50]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54406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Comparison: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585216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pop() removes last: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4400" y="6126480"/>
            <a:ext cx="548640" cy="36576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62179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554480" y="6126480"/>
            <a:ext cx="548640" cy="36576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54480" y="62179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194560" y="6126480"/>
            <a:ext cx="548640" cy="36576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94560" y="62179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834640" y="6126480"/>
            <a:ext cx="548640" cy="365760"/>
          </a:xfrm>
          <a:prstGeom prst="rect">
            <a:avLst/>
          </a:prstGeom>
          <a:solidFill>
            <a:srgbClr val="CC0000"/>
          </a:solidFill>
          <a:ln w="25400">
            <a:solidFill>
              <a:srgbClr val="99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34640" y="62179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0" y="585216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pop(2) removes index 2: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0" y="6126480"/>
            <a:ext cx="548640" cy="36576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62179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212080" y="6126480"/>
            <a:ext cx="548640" cy="36576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62179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852160" y="6126480"/>
            <a:ext cx="548640" cy="365760"/>
          </a:xfrm>
          <a:prstGeom prst="rect">
            <a:avLst/>
          </a:prstGeom>
          <a:solidFill>
            <a:srgbClr val="CC0000"/>
          </a:solidFill>
          <a:ln w="25400">
            <a:solidFill>
              <a:srgbClr val="99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52160" y="62179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92240" y="6126480"/>
            <a:ext cx="548640" cy="36576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92240" y="62179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clear() Method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clear() method deletes all items from the list, making it empty. The list still exists, but contains no elements.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7863840" cy="457200"/>
          </a:xfrm>
          <a:prstGeom prst="rect">
            <a:avLst/>
          </a:prstGeom>
          <a:solidFill>
            <a:srgbClr val="F0F8FF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28600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list_name.clear()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Transformation: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33832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clear():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371600" y="3749040"/>
            <a:ext cx="640080" cy="54864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38862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103120" y="3749040"/>
            <a:ext cx="640080" cy="54864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03120" y="38862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834640" y="3749040"/>
            <a:ext cx="640080" cy="54864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34640" y="38862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566160" y="3749040"/>
            <a:ext cx="640080" cy="54864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66160" y="38862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297680" y="3749040"/>
            <a:ext cx="640080" cy="54864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0" y="38862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743200" y="45262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2286000" y="49377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C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clear()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371600" y="53949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clear():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371600" y="5760720"/>
            <a:ext cx="1371600" cy="548640"/>
          </a:xfrm>
          <a:prstGeom prst="rect">
            <a:avLst/>
          </a:prstGeom>
          <a:solidFill>
            <a:srgbClr val="F5F5F5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71600" y="5897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C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]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926080" y="5897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list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29200" y="3200400"/>
            <a:ext cx="3474720" cy="1188720"/>
          </a:xfrm>
          <a:prstGeom prst="rect">
            <a:avLst/>
          </a:prstGeom>
          <a:solidFill>
            <a:srgbClr val="F8F8F8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12080" y="333756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[10, 20, 30,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40, 50]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data.clear()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print(data)  # []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index() and count() Methods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index() - Find Position: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index of the first occurrence of an item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7863840" cy="146304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2024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Syntax: position = list_name.index(value)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194560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numbers = [10, 20, 30, 40, 50]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 = numbers.index(40)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print(pos)                   # 3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Returns index where item is found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4290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count() - Count Occurrences: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7947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how many times an item appears in the list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4114800"/>
            <a:ext cx="7863840" cy="146304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25196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Syntax: count = list_name.count(value)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4526280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 = [10, 20, 30, 10, 40]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occurrences = values.count(10)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print(occurrences)           # 2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Item 10 appears twice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57607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Examples: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14400" y="6217920"/>
            <a:ext cx="640080" cy="45720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632764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645920" y="6217920"/>
            <a:ext cx="640080" cy="45720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45920" y="632764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377440" y="6217920"/>
            <a:ext cx="640080" cy="45720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77440" y="632764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108960" y="6217920"/>
            <a:ext cx="640080" cy="457200"/>
          </a:xfrm>
          <a:prstGeom prst="rect">
            <a:avLst/>
          </a:prstGeom>
          <a:solidFill>
            <a:srgbClr val="21295C"/>
          </a:solidFill>
          <a:ln w="38100">
            <a:solidFill>
              <a:srgbClr val="2129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08960" y="632764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926080" y="676656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index: 3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840480" y="6217920"/>
            <a:ext cx="640080" cy="45720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0" y="632764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sort() and reverse() Methods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sort() - In-Place Sorting: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Sorts the list in ascending order and modifies the original list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7863840" cy="128016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20240"/>
            <a:ext cx="7498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numbers = [50, 40, 30, 20, 10]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numbers.sort()               # Modifies original list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print(numbers)               # [10, 20, 30, 40, 50]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Note: sorted() returns new list, sort() modifies in-place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32461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reverse() - In-Place Reversing: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61188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Reverses the list order and modifies the original list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931920"/>
            <a:ext cx="7863840" cy="128016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069080"/>
            <a:ext cx="7498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numbers = [10, 20, 30, 40, 50]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numbers.reverse()            # Modifies original list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print(numbers)               # [50, 40, 30, 20, 10]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Note: reversed() returns iterator, reverse() modifies in-place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54406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Difference: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5852160"/>
            <a:ext cx="786384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5897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sort()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91840" y="5897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760720" y="58978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6217920"/>
            <a:ext cx="7863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6263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sorted()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91840" y="6263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760720" y="6263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list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6583680"/>
            <a:ext cx="786384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6629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reverse()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91840" y="6629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760720" y="66294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6949440"/>
            <a:ext cx="7863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6995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reversed()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291840" y="6995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760720" y="69951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Iterator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copy() Method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copy() method creates a shallow copy of the list. Creates a new list with the same elements but different memory location.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7863840" cy="457200"/>
          </a:xfrm>
          <a:prstGeom prst="rect">
            <a:avLst/>
          </a:prstGeom>
          <a:solidFill>
            <a:srgbClr val="F0F8FF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28600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new_list = original_list.copy()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834640"/>
            <a:ext cx="7863840" cy="2011680"/>
          </a:xfrm>
          <a:prstGeom prst="rect">
            <a:avLst/>
          </a:prstGeom>
          <a:solidFill>
            <a:srgbClr val="F8F8F8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97180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Example: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291840"/>
            <a:ext cx="7498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original = [10, 20, 30, 40, 50]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copied = original.copy()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print(copied)                # [10, 20, 30, 40, 50]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Modify original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original[0] = 100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print(original)              # [100, 20, 30, 40, 50]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print(copied)                # [10, 20, 30, 40, 50]  ← Unchanged!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51206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of copy():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" y="5532120"/>
            <a:ext cx="228600" cy="2286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548640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independent list - changes don't affect original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5897880"/>
            <a:ext cx="228600" cy="2286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585216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as using list[:] slicing method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6263640"/>
            <a:ext cx="228600" cy="2286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621792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readable and explicit than slicing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6629400"/>
            <a:ext cx="228600" cy="2286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1097280" y="658368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for preserving original data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Nested Lists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nested list is a list that contains other lists as elements. Also called a 'list of lists' or 2D list.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Nested Lists: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7863840" cy="137160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286000"/>
            <a:ext cx="7498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[10, 20, 30]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[40, 50, 60]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nested = [a, b]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print(nested)                # [[10, 20, 30], [40, 50, 60]]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3749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Structure: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4206240"/>
            <a:ext cx="6400800" cy="2011680"/>
          </a:xfrm>
          <a:prstGeom prst="rect">
            <a:avLst/>
          </a:prstGeom>
          <a:solidFill>
            <a:srgbClr val="E8F4F8"/>
          </a:solidFill>
          <a:ln w="381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4343400"/>
            <a:ext cx="6035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 List (nested)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188720" y="4663440"/>
            <a:ext cx="2743200" cy="128016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480060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371600" y="50749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[10, 20, 30]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71600" y="5394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148840" y="5394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926080" y="5394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297680" y="4663440"/>
            <a:ext cx="2743200" cy="1280160"/>
          </a:xfrm>
          <a:prstGeom prst="rect">
            <a:avLst/>
          </a:prstGeom>
          <a:solidFill>
            <a:srgbClr val="21295C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0560" y="480060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480560" y="50749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[40, 50, 60]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480560" y="5394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257800" y="5394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035040" y="5394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Accessing Nested List Elements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double indexing to access elements in nested lists. First index selects the inner list, second index selects the element.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7863840" cy="457200"/>
          </a:xfrm>
          <a:prstGeom prst="rect">
            <a:avLst/>
          </a:prstGeom>
          <a:solidFill>
            <a:srgbClr val="F0F8FF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28600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nested[outer_index][inner_index]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Data: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2004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matrix = [[10, 20, 30], [40, 50, 60]]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6576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 Examples: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4023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matrix[0][0]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834640" y="40233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0" y="40233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0" y="40233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list, first element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389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matrix[0][1]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34640" y="43891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00400" y="43891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0" y="43891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list, second element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matrix[0][2]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834640" y="4754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004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14800" y="47548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list, third element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4400" y="5120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matrix[1][0]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834640" y="5120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00400" y="51206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114800" y="51206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list, first element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14400" y="5486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matrix[1][1]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834640" y="54864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00400" y="54864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114800" y="54864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list, second element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14400" y="5852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matrix[1][2]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834640" y="58521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200400" y="58521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114800" y="58521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list, third element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2026-02-11T08:42:00Z</dcterms:created>
  <dcterms:modified xsi:type="dcterms:W3CDTF">2026-02-11T08:42:00Z</dcterms:modified>
</cp:coreProperties>
</file>