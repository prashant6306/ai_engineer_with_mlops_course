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BEAFCC0-DF8B-4869-BF4F-80F47B847372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0C763F5-926A-44B7-88AD-3D396734BB3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B02ADE-EAF0-4AA3-B07E-DB8CA2B5E6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640CF0-12D8-4888-9A54-E751A5C638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D03AFD-34C6-420F-BAD8-DF79A7E9B7C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5858476-EEF7-4B0D-8DB7-5AB2BC8C188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85B4CD-81CC-4992-9B6D-96EB5A5871C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5A2C46C-C878-4796-A56E-8417D49F230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863E71-D8B5-4A3D-B0BE-5292119317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2BCF43-3D02-4BD2-8C31-9C2187C8A9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00E597-F617-45CA-9FCF-250D56B257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2994BA-2E04-42FB-A0BA-E4F5945129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E0860C-12C9-47E2-9B26-867DCD6019F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64592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Decision Control</a:t>
            </a:r>
            <a:endParaRPr b="0" lang="en-IN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Instructions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7432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d43b"/>
                </a:solidFill>
                <a:latin typeface="Arial"/>
                <a:ea typeface="Arial"/>
              </a:rPr>
              <a:t>if, elif, else &amp; Logical Operators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6576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Python Programming - Lesson 5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What are Decision Control Instructions?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14400" y="914400"/>
            <a:ext cx="7314480" cy="730800"/>
          </a:xfrm>
          <a:prstGeom prst="rect">
            <a:avLst/>
          </a:prstGeom>
          <a:solidFill>
            <a:srgbClr val="e3f2fd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1097280" y="105156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Programs execute statements sequentially by default.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Decision control allows us to alter execution flow based on conditions.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731520" y="1920240"/>
            <a:ext cx="3839760" cy="45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731520" y="196596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Sequential Execution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1371600" y="2468880"/>
            <a:ext cx="2559600" cy="456480"/>
          </a:xfrm>
          <a:prstGeom prst="rect">
            <a:avLst/>
          </a:prstGeom>
          <a:solidFill>
            <a:srgbClr val="f5f5f5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6"/>
          <p:cNvSpPr/>
          <p:nvPr/>
        </p:nvSpPr>
        <p:spPr>
          <a:xfrm>
            <a:off x="1371600" y="251460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1')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2560320" y="2944440"/>
            <a:ext cx="273600" cy="31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Shape 8"/>
          <p:cNvSpPr/>
          <p:nvPr/>
        </p:nvSpPr>
        <p:spPr>
          <a:xfrm>
            <a:off x="1371600" y="3291840"/>
            <a:ext cx="2559600" cy="456480"/>
          </a:xfrm>
          <a:prstGeom prst="rect">
            <a:avLst/>
          </a:prstGeom>
          <a:solidFill>
            <a:srgbClr val="f5f5f5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1371600" y="333756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2')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2560320" y="3767400"/>
            <a:ext cx="273600" cy="31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11"/>
          <p:cNvSpPr/>
          <p:nvPr/>
        </p:nvSpPr>
        <p:spPr>
          <a:xfrm>
            <a:off x="1371600" y="4114800"/>
            <a:ext cx="2559600" cy="456480"/>
          </a:xfrm>
          <a:prstGeom prst="rect">
            <a:avLst/>
          </a:prstGeom>
          <a:solidFill>
            <a:srgbClr val="f5f5f5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1371600" y="41605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3')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4572000" y="1920240"/>
            <a:ext cx="3839760" cy="4564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4"/>
          <p:cNvSpPr/>
          <p:nvPr/>
        </p:nvSpPr>
        <p:spPr>
          <a:xfrm>
            <a:off x="4572000" y="196596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Decision Control Execution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5577840" y="2468880"/>
            <a:ext cx="1828080" cy="456480"/>
          </a:xfrm>
          <a:prstGeom prst="rect">
            <a:avLst/>
          </a:prstGeom>
          <a:solidFill>
            <a:srgbClr val="f5f5f5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6"/>
          <p:cNvSpPr/>
          <p:nvPr/>
        </p:nvSpPr>
        <p:spPr>
          <a:xfrm>
            <a:off x="5577840" y="251460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Check condition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6400800" y="2944440"/>
            <a:ext cx="227880" cy="273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18"/>
          <p:cNvSpPr/>
          <p:nvPr/>
        </p:nvSpPr>
        <p:spPr>
          <a:xfrm>
            <a:off x="5806440" y="3246120"/>
            <a:ext cx="1370880" cy="593640"/>
          </a:xfrm>
          <a:prstGeom prst="diamond">
            <a:avLst/>
          </a:prstGeom>
          <a:solidFill>
            <a:srgbClr val="ffd43b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9"/>
          <p:cNvSpPr/>
          <p:nvPr/>
        </p:nvSpPr>
        <p:spPr>
          <a:xfrm>
            <a:off x="5806440" y="3383280"/>
            <a:ext cx="1370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True?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" name="Shape 20"/>
          <p:cNvSpPr/>
          <p:nvPr/>
        </p:nvSpPr>
        <p:spPr>
          <a:xfrm>
            <a:off x="4937760" y="3977640"/>
            <a:ext cx="1096560" cy="3650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1"/>
          <p:cNvSpPr/>
          <p:nvPr/>
        </p:nvSpPr>
        <p:spPr>
          <a:xfrm>
            <a:off x="4937760" y="4023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Path 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9" name="Shape 22"/>
          <p:cNvSpPr/>
          <p:nvPr/>
        </p:nvSpPr>
        <p:spPr>
          <a:xfrm>
            <a:off x="6949440" y="3977640"/>
            <a:ext cx="1096560" cy="3650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23"/>
          <p:cNvSpPr/>
          <p:nvPr/>
        </p:nvSpPr>
        <p:spPr>
          <a:xfrm>
            <a:off x="6949440" y="4023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Path B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1" name="Shape 24"/>
          <p:cNvSpPr/>
          <p:nvPr/>
        </p:nvSpPr>
        <p:spPr>
          <a:xfrm flipH="1">
            <a:off x="5486400" y="3543120"/>
            <a:ext cx="320040" cy="43452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Shape 25"/>
          <p:cNvSpPr/>
          <p:nvPr/>
        </p:nvSpPr>
        <p:spPr>
          <a:xfrm>
            <a:off x="7178040" y="3543120"/>
            <a:ext cx="320040" cy="434520"/>
          </a:xfrm>
          <a:prstGeom prst="line">
            <a:avLst/>
          </a:prstGeom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6"/>
          <p:cNvSpPr/>
          <p:nvPr/>
        </p:nvSpPr>
        <p:spPr>
          <a:xfrm>
            <a:off x="5212080" y="365760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7ae60"/>
                </a:solidFill>
                <a:latin typeface="Arial"/>
                <a:ea typeface="Arial"/>
              </a:rPr>
              <a:t>YES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74" name="Text 27"/>
          <p:cNvSpPr/>
          <p:nvPr/>
        </p:nvSpPr>
        <p:spPr>
          <a:xfrm>
            <a:off x="7223760" y="3657600"/>
            <a:ext cx="3650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74c3c"/>
                </a:solidFill>
                <a:latin typeface="Arial"/>
                <a:ea typeface="Arial"/>
              </a:rPr>
              <a:t>NO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if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640080" y="914400"/>
            <a:ext cx="4114080" cy="4564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"/>
          <p:cNvSpPr/>
          <p:nvPr/>
        </p:nvSpPr>
        <p:spPr>
          <a:xfrm>
            <a:off x="640080" y="96012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 &amp; Code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640080" y="1463040"/>
            <a:ext cx="4114080" cy="2742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4"/>
          <p:cNvSpPr/>
          <p:nvPr/>
        </p:nvSpPr>
        <p:spPr>
          <a:xfrm>
            <a:off x="822960" y="1600200"/>
            <a:ext cx="37483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Example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20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are an 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can vote")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print("Program ends")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5029200" y="914400"/>
            <a:ext cx="3474000" cy="4564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6"/>
          <p:cNvSpPr/>
          <p:nvPr/>
        </p:nvSpPr>
        <p:spPr>
          <a:xfrm>
            <a:off x="5029200" y="96012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Flowchart Diagram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5852160" y="1554480"/>
            <a:ext cx="1828080" cy="41076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8"/>
          <p:cNvSpPr/>
          <p:nvPr/>
        </p:nvSpPr>
        <p:spPr>
          <a:xfrm>
            <a:off x="5852160" y="162756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6766560" y="1965960"/>
            <a:ext cx="360" cy="27432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10"/>
          <p:cNvSpPr/>
          <p:nvPr/>
        </p:nvSpPr>
        <p:spPr>
          <a:xfrm>
            <a:off x="6693480" y="2212920"/>
            <a:ext cx="145440" cy="118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11"/>
          <p:cNvSpPr/>
          <p:nvPr/>
        </p:nvSpPr>
        <p:spPr>
          <a:xfrm>
            <a:off x="5669280" y="2377440"/>
            <a:ext cx="2193840" cy="730800"/>
          </a:xfrm>
          <a:prstGeom prst="diamond">
            <a:avLst/>
          </a:prstGeom>
          <a:solidFill>
            <a:srgbClr val="ffd43b"/>
          </a:solidFill>
          <a:ln w="381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12"/>
          <p:cNvSpPr/>
          <p:nvPr/>
        </p:nvSpPr>
        <p:spPr>
          <a:xfrm>
            <a:off x="5669280" y="2560320"/>
            <a:ext cx="2193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&gt;= 18?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6766560" y="3108960"/>
            <a:ext cx="360" cy="228600"/>
          </a:xfrm>
          <a:prstGeom prst="line">
            <a:avLst/>
          </a:prstGeom>
          <a:ln w="381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14"/>
          <p:cNvSpPr/>
          <p:nvPr/>
        </p:nvSpPr>
        <p:spPr>
          <a:xfrm>
            <a:off x="6693480" y="3310200"/>
            <a:ext cx="145440" cy="118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5"/>
          <p:cNvSpPr/>
          <p:nvPr/>
        </p:nvSpPr>
        <p:spPr>
          <a:xfrm>
            <a:off x="6858000" y="3154680"/>
            <a:ext cx="5479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5943600" y="3474720"/>
            <a:ext cx="1645200" cy="50220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7"/>
          <p:cNvSpPr/>
          <p:nvPr/>
        </p:nvSpPr>
        <p:spPr>
          <a:xfrm>
            <a:off x="5943600" y="3520440"/>
            <a:ext cx="1645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if block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7863840" y="2743200"/>
            <a:ext cx="457200" cy="360"/>
          </a:xfrm>
          <a:prstGeom prst="line">
            <a:avLst/>
          </a:prstGeom>
          <a:ln w="381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hape 19"/>
          <p:cNvSpPr/>
          <p:nvPr/>
        </p:nvSpPr>
        <p:spPr>
          <a:xfrm>
            <a:off x="8293680" y="2688480"/>
            <a:ext cx="118080" cy="118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20"/>
          <p:cNvSpPr/>
          <p:nvPr/>
        </p:nvSpPr>
        <p:spPr>
          <a:xfrm>
            <a:off x="7909560" y="25603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Shape 21"/>
          <p:cNvSpPr/>
          <p:nvPr/>
        </p:nvSpPr>
        <p:spPr>
          <a:xfrm>
            <a:off x="8321040" y="2743200"/>
            <a:ext cx="360" cy="1371600"/>
          </a:xfrm>
          <a:prstGeom prst="line">
            <a:avLst/>
          </a:prstGeom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Shape 22"/>
          <p:cNvSpPr/>
          <p:nvPr/>
        </p:nvSpPr>
        <p:spPr>
          <a:xfrm>
            <a:off x="6766560" y="3977640"/>
            <a:ext cx="360" cy="13716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23"/>
          <p:cNvSpPr/>
          <p:nvPr/>
        </p:nvSpPr>
        <p:spPr>
          <a:xfrm>
            <a:off x="6766560" y="4114800"/>
            <a:ext cx="1554480" cy="36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Shape 24"/>
          <p:cNvSpPr/>
          <p:nvPr/>
        </p:nvSpPr>
        <p:spPr>
          <a:xfrm>
            <a:off x="6693480" y="4087440"/>
            <a:ext cx="145440" cy="118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Shape 25"/>
          <p:cNvSpPr/>
          <p:nvPr/>
        </p:nvSpPr>
        <p:spPr>
          <a:xfrm>
            <a:off x="5852160" y="4251960"/>
            <a:ext cx="1828080" cy="41076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26"/>
          <p:cNvSpPr/>
          <p:nvPr/>
        </p:nvSpPr>
        <p:spPr>
          <a:xfrm>
            <a:off x="5852160" y="43250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 Statement - Example Walkthrough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914400" y="91440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Example: age = 20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914400" y="1371600"/>
            <a:ext cx="7314480" cy="547920"/>
          </a:xfrm>
          <a:prstGeom prst="rect">
            <a:avLst/>
          </a:prstGeom>
          <a:solidFill>
            <a:srgbClr val="fff3e0"/>
          </a:solidFill>
          <a:ln w="2556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3"/>
          <p:cNvSpPr/>
          <p:nvPr/>
        </p:nvSpPr>
        <p:spPr>
          <a:xfrm>
            <a:off x="1097280" y="1463040"/>
            <a:ext cx="6948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Step 1: Evaluate Condition → age &gt;= 18 → 20 &gt;= 18 → TRUE ✓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914400" y="2103120"/>
            <a:ext cx="7314480" cy="547920"/>
          </a:xfrm>
          <a:prstGeom prst="rect">
            <a:avLst/>
          </a:prstGeom>
          <a:solidFill>
            <a:srgbClr val="e8f5e9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5"/>
          <p:cNvSpPr/>
          <p:nvPr/>
        </p:nvSpPr>
        <p:spPr>
          <a:xfrm>
            <a:off x="1097280" y="2194560"/>
            <a:ext cx="6948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Step 2: Condition is TRUE → Execute statements inside if block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1828800" y="28346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Code Execution Trace: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9" name="Shape 7"/>
          <p:cNvSpPr/>
          <p:nvPr/>
        </p:nvSpPr>
        <p:spPr>
          <a:xfrm>
            <a:off x="1371600" y="3200400"/>
            <a:ext cx="3199680" cy="41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8"/>
          <p:cNvSpPr/>
          <p:nvPr/>
        </p:nvSpPr>
        <p:spPr>
          <a:xfrm>
            <a:off x="1463040" y="3246120"/>
            <a:ext cx="3016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are an adult")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4663440" y="3337560"/>
            <a:ext cx="319320" cy="136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10"/>
          <p:cNvSpPr/>
          <p:nvPr/>
        </p:nvSpPr>
        <p:spPr>
          <a:xfrm>
            <a:off x="5120640" y="3200400"/>
            <a:ext cx="3199680" cy="4107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1"/>
          <p:cNvSpPr/>
          <p:nvPr/>
        </p:nvSpPr>
        <p:spPr>
          <a:xfrm>
            <a:off x="5212080" y="3246120"/>
            <a:ext cx="3016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You are an adult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1371600" y="3703320"/>
            <a:ext cx="3199680" cy="41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3"/>
          <p:cNvSpPr/>
          <p:nvPr/>
        </p:nvSpPr>
        <p:spPr>
          <a:xfrm>
            <a:off x="1463040" y="3749040"/>
            <a:ext cx="3016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can vote")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4663440" y="3840480"/>
            <a:ext cx="319320" cy="136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15"/>
          <p:cNvSpPr/>
          <p:nvPr/>
        </p:nvSpPr>
        <p:spPr>
          <a:xfrm>
            <a:off x="5120640" y="3703320"/>
            <a:ext cx="3199680" cy="4107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16"/>
          <p:cNvSpPr/>
          <p:nvPr/>
        </p:nvSpPr>
        <p:spPr>
          <a:xfrm>
            <a:off x="5212080" y="3749040"/>
            <a:ext cx="3016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You can vote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1371600" y="4206240"/>
            <a:ext cx="3199680" cy="4107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8"/>
          <p:cNvSpPr/>
          <p:nvPr/>
        </p:nvSpPr>
        <p:spPr>
          <a:xfrm>
            <a:off x="1463040" y="4251960"/>
            <a:ext cx="3016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print("Program ends")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4663440" y="4343400"/>
            <a:ext cx="319320" cy="136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20"/>
          <p:cNvSpPr/>
          <p:nvPr/>
        </p:nvSpPr>
        <p:spPr>
          <a:xfrm>
            <a:off x="5120640" y="4206240"/>
            <a:ext cx="3199680" cy="41076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1"/>
          <p:cNvSpPr/>
          <p:nvPr/>
        </p:nvSpPr>
        <p:spPr>
          <a:xfrm>
            <a:off x="5212080" y="4251960"/>
            <a:ext cx="3016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Program ends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if-else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640080" y="914400"/>
            <a:ext cx="4114080" cy="4564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2"/>
          <p:cNvSpPr/>
          <p:nvPr/>
        </p:nvSpPr>
        <p:spPr>
          <a:xfrm>
            <a:off x="640080" y="96012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 &amp; Code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640080" y="1463040"/>
            <a:ext cx="4114080" cy="29253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"/>
          <p:cNvSpPr/>
          <p:nvPr/>
        </p:nvSpPr>
        <p:spPr>
          <a:xfrm>
            <a:off x="822960" y="1600200"/>
            <a:ext cx="374832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Example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16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print("Done")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Shape 5"/>
          <p:cNvSpPr/>
          <p:nvPr/>
        </p:nvSpPr>
        <p:spPr>
          <a:xfrm>
            <a:off x="5029200" y="914400"/>
            <a:ext cx="3474000" cy="4564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6"/>
          <p:cNvSpPr/>
          <p:nvPr/>
        </p:nvSpPr>
        <p:spPr>
          <a:xfrm>
            <a:off x="5029200" y="96012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Flowchart Diagram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5852160" y="1554480"/>
            <a:ext cx="1828080" cy="36504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8"/>
          <p:cNvSpPr/>
          <p:nvPr/>
        </p:nvSpPr>
        <p:spPr>
          <a:xfrm>
            <a:off x="5852160" y="1618560"/>
            <a:ext cx="1828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6766560" y="1920240"/>
            <a:ext cx="360" cy="22860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0"/>
          <p:cNvSpPr/>
          <p:nvPr/>
        </p:nvSpPr>
        <p:spPr>
          <a:xfrm>
            <a:off x="6693480" y="2121480"/>
            <a:ext cx="145440" cy="118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11"/>
          <p:cNvSpPr/>
          <p:nvPr/>
        </p:nvSpPr>
        <p:spPr>
          <a:xfrm>
            <a:off x="5669280" y="2286000"/>
            <a:ext cx="2193840" cy="685080"/>
          </a:xfrm>
          <a:prstGeom prst="diamond">
            <a:avLst/>
          </a:prstGeom>
          <a:solidFill>
            <a:srgbClr val="ffd43b"/>
          </a:solidFill>
          <a:ln w="381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2"/>
          <p:cNvSpPr/>
          <p:nvPr/>
        </p:nvSpPr>
        <p:spPr>
          <a:xfrm>
            <a:off x="5669280" y="246888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&gt;= 18?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7" name="Shape 13"/>
          <p:cNvSpPr/>
          <p:nvPr/>
        </p:nvSpPr>
        <p:spPr>
          <a:xfrm flipH="1">
            <a:off x="5212080" y="2628720"/>
            <a:ext cx="457200" cy="360"/>
          </a:xfrm>
          <a:prstGeom prst="line">
            <a:avLst/>
          </a:prstGeom>
          <a:ln w="381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14"/>
          <p:cNvSpPr/>
          <p:nvPr/>
        </p:nvSpPr>
        <p:spPr>
          <a:xfrm>
            <a:off x="5093280" y="2578680"/>
            <a:ext cx="118080" cy="1180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15"/>
          <p:cNvSpPr/>
          <p:nvPr/>
        </p:nvSpPr>
        <p:spPr>
          <a:xfrm>
            <a:off x="4937760" y="242316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0" name="Shape 16"/>
          <p:cNvSpPr/>
          <p:nvPr/>
        </p:nvSpPr>
        <p:spPr>
          <a:xfrm>
            <a:off x="5212080" y="2628720"/>
            <a:ext cx="360" cy="45720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17"/>
          <p:cNvSpPr/>
          <p:nvPr/>
        </p:nvSpPr>
        <p:spPr>
          <a:xfrm>
            <a:off x="4572000" y="3108960"/>
            <a:ext cx="1279440" cy="45648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18"/>
          <p:cNvSpPr/>
          <p:nvPr/>
        </p:nvSpPr>
        <p:spPr>
          <a:xfrm>
            <a:off x="4572000" y="315468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if block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5212080" y="3566160"/>
            <a:ext cx="360" cy="45720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Shape 20"/>
          <p:cNvSpPr/>
          <p:nvPr/>
        </p:nvSpPr>
        <p:spPr>
          <a:xfrm>
            <a:off x="7863840" y="2628720"/>
            <a:ext cx="457200" cy="360"/>
          </a:xfrm>
          <a:prstGeom prst="line">
            <a:avLst/>
          </a:prstGeom>
          <a:ln w="381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Shape 21"/>
          <p:cNvSpPr/>
          <p:nvPr/>
        </p:nvSpPr>
        <p:spPr>
          <a:xfrm>
            <a:off x="8293680" y="2578680"/>
            <a:ext cx="118080" cy="118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22"/>
          <p:cNvSpPr/>
          <p:nvPr/>
        </p:nvSpPr>
        <p:spPr>
          <a:xfrm>
            <a:off x="7909560" y="242316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8321040" y="2628720"/>
            <a:ext cx="360" cy="457200"/>
          </a:xfrm>
          <a:prstGeom prst="line">
            <a:avLst/>
          </a:prstGeom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24"/>
          <p:cNvSpPr/>
          <p:nvPr/>
        </p:nvSpPr>
        <p:spPr>
          <a:xfrm>
            <a:off x="7680960" y="3108960"/>
            <a:ext cx="1279440" cy="45648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25"/>
          <p:cNvSpPr/>
          <p:nvPr/>
        </p:nvSpPr>
        <p:spPr>
          <a:xfrm>
            <a:off x="7680960" y="315468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else block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0" name="Shape 26"/>
          <p:cNvSpPr/>
          <p:nvPr/>
        </p:nvSpPr>
        <p:spPr>
          <a:xfrm>
            <a:off x="8321040" y="3566160"/>
            <a:ext cx="360" cy="457200"/>
          </a:xfrm>
          <a:prstGeom prst="line">
            <a:avLst/>
          </a:prstGeom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Shape 27"/>
          <p:cNvSpPr/>
          <p:nvPr/>
        </p:nvSpPr>
        <p:spPr>
          <a:xfrm>
            <a:off x="5212080" y="4023360"/>
            <a:ext cx="3108960" cy="36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28"/>
          <p:cNvSpPr/>
          <p:nvPr/>
        </p:nvSpPr>
        <p:spPr>
          <a:xfrm>
            <a:off x="6693480" y="3996000"/>
            <a:ext cx="145440" cy="118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29"/>
          <p:cNvSpPr/>
          <p:nvPr/>
        </p:nvSpPr>
        <p:spPr>
          <a:xfrm>
            <a:off x="5852160" y="4160520"/>
            <a:ext cx="1828080" cy="36504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30"/>
          <p:cNvSpPr/>
          <p:nvPr/>
        </p:nvSpPr>
        <p:spPr>
          <a:xfrm>
            <a:off x="5852160" y="4224600"/>
            <a:ext cx="1828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if-else - Two Scenarios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731520" y="914400"/>
            <a:ext cx="3839760" cy="45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"/>
          <p:cNvSpPr/>
          <p:nvPr/>
        </p:nvSpPr>
        <p:spPr>
          <a:xfrm>
            <a:off x="731520" y="9601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Scenario 1: age = 20 (TRUE)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731520" y="1463040"/>
            <a:ext cx="3839760" cy="7308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4"/>
          <p:cNvSpPr/>
          <p:nvPr/>
        </p:nvSpPr>
        <p:spPr>
          <a:xfrm>
            <a:off x="914400" y="1554480"/>
            <a:ext cx="3474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2560320" y="2240280"/>
            <a:ext cx="273600" cy="182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Shape 6"/>
          <p:cNvSpPr/>
          <p:nvPr/>
        </p:nvSpPr>
        <p:spPr>
          <a:xfrm>
            <a:off x="1371600" y="2468880"/>
            <a:ext cx="2742480" cy="410760"/>
          </a:xfrm>
          <a:prstGeom prst="rect">
            <a:avLst/>
          </a:prstGeom>
          <a:solidFill>
            <a:srgbClr val="e8f5e9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7"/>
          <p:cNvSpPr/>
          <p:nvPr/>
        </p:nvSpPr>
        <p:spPr>
          <a:xfrm>
            <a:off x="1371600" y="251460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20 &gt;= 18 → TRUE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2560320" y="2926080"/>
            <a:ext cx="273600" cy="182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Shape 9"/>
          <p:cNvSpPr/>
          <p:nvPr/>
        </p:nvSpPr>
        <p:spPr>
          <a:xfrm>
            <a:off x="1097280" y="3154680"/>
            <a:ext cx="3291120" cy="45648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0"/>
          <p:cNvSpPr/>
          <p:nvPr/>
        </p:nvSpPr>
        <p:spPr>
          <a:xfrm>
            <a:off x="1097280" y="320040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Execute if block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1371600" y="3749040"/>
            <a:ext cx="2742480" cy="41076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2"/>
          <p:cNvSpPr/>
          <p:nvPr/>
        </p:nvSpPr>
        <p:spPr>
          <a:xfrm>
            <a:off x="1371600" y="379476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Output: "Adult"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8" name="Shape 13"/>
          <p:cNvSpPr/>
          <p:nvPr/>
        </p:nvSpPr>
        <p:spPr>
          <a:xfrm>
            <a:off x="4572000" y="914400"/>
            <a:ext cx="3839760" cy="4564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14"/>
          <p:cNvSpPr/>
          <p:nvPr/>
        </p:nvSpPr>
        <p:spPr>
          <a:xfrm>
            <a:off x="4572000" y="9601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Scenario 2: age = 16 (FALSE)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0" name="Shape 15"/>
          <p:cNvSpPr/>
          <p:nvPr/>
        </p:nvSpPr>
        <p:spPr>
          <a:xfrm>
            <a:off x="4572000" y="1463040"/>
            <a:ext cx="3839760" cy="7308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6"/>
          <p:cNvSpPr/>
          <p:nvPr/>
        </p:nvSpPr>
        <p:spPr>
          <a:xfrm>
            <a:off x="4754880" y="1554480"/>
            <a:ext cx="3474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2" name="Shape 17"/>
          <p:cNvSpPr/>
          <p:nvPr/>
        </p:nvSpPr>
        <p:spPr>
          <a:xfrm>
            <a:off x="6400800" y="2240280"/>
            <a:ext cx="273600" cy="182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18"/>
          <p:cNvSpPr/>
          <p:nvPr/>
        </p:nvSpPr>
        <p:spPr>
          <a:xfrm>
            <a:off x="5212080" y="2468880"/>
            <a:ext cx="2742480" cy="410760"/>
          </a:xfrm>
          <a:prstGeom prst="rect">
            <a:avLst/>
          </a:prstGeom>
          <a:solidFill>
            <a:srgbClr val="ffebee"/>
          </a:solidFill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9"/>
          <p:cNvSpPr/>
          <p:nvPr/>
        </p:nvSpPr>
        <p:spPr>
          <a:xfrm>
            <a:off x="5212080" y="251460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16 &gt;= 18 → FALSE ✗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5" name="Shape 20"/>
          <p:cNvSpPr/>
          <p:nvPr/>
        </p:nvSpPr>
        <p:spPr>
          <a:xfrm>
            <a:off x="6400800" y="2926080"/>
            <a:ext cx="273600" cy="182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21"/>
          <p:cNvSpPr/>
          <p:nvPr/>
        </p:nvSpPr>
        <p:spPr>
          <a:xfrm>
            <a:off x="4937760" y="3154680"/>
            <a:ext cx="3291120" cy="45648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2"/>
          <p:cNvSpPr/>
          <p:nvPr/>
        </p:nvSpPr>
        <p:spPr>
          <a:xfrm>
            <a:off x="4937760" y="320040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Execute else block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8" name="Shape 23"/>
          <p:cNvSpPr/>
          <p:nvPr/>
        </p:nvSpPr>
        <p:spPr>
          <a:xfrm>
            <a:off x="5212080" y="3749040"/>
            <a:ext cx="2742480" cy="41076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4"/>
          <p:cNvSpPr/>
          <p:nvPr/>
        </p:nvSpPr>
        <p:spPr>
          <a:xfrm>
            <a:off x="5212080" y="379476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Output: "Minor"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The if-elif-else Statement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81" name="Shape 1"/>
          <p:cNvSpPr/>
          <p:nvPr/>
        </p:nvSpPr>
        <p:spPr>
          <a:xfrm>
            <a:off x="914400" y="868680"/>
            <a:ext cx="7314480" cy="547920"/>
          </a:xfrm>
          <a:prstGeom prst="rect">
            <a:avLst/>
          </a:prstGeom>
          <a:solidFill>
            <a:srgbClr val="e3f2fd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2"/>
          <p:cNvSpPr/>
          <p:nvPr/>
        </p:nvSpPr>
        <p:spPr>
          <a:xfrm>
            <a:off x="914400" y="9601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Used when you need to check MULTIPLE conditions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731520" y="1554480"/>
            <a:ext cx="3839760" cy="4564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4"/>
          <p:cNvSpPr/>
          <p:nvPr/>
        </p:nvSpPr>
        <p:spPr>
          <a:xfrm>
            <a:off x="731520" y="160020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>
            <a:off x="731520" y="2103120"/>
            <a:ext cx="3839760" cy="21938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6"/>
          <p:cNvSpPr/>
          <p:nvPr/>
        </p:nvSpPr>
        <p:spPr>
          <a:xfrm>
            <a:off x="914400" y="2240280"/>
            <a:ext cx="34740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condition1: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condition2: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condition3: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statement3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>
            <a:off x="4754880" y="1554480"/>
            <a:ext cx="3656880" cy="4564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8"/>
          <p:cNvSpPr/>
          <p:nvPr/>
        </p:nvSpPr>
        <p:spPr>
          <a:xfrm>
            <a:off x="4754880" y="16002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Execution Flow: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9" name="Shape 9"/>
          <p:cNvSpPr/>
          <p:nvPr/>
        </p:nvSpPr>
        <p:spPr>
          <a:xfrm>
            <a:off x="4937760" y="217620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0"/>
          <p:cNvSpPr/>
          <p:nvPr/>
        </p:nvSpPr>
        <p:spPr>
          <a:xfrm>
            <a:off x="4937760" y="21762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5349240" y="2194560"/>
            <a:ext cx="3016800" cy="291960"/>
          </a:xfrm>
          <a:prstGeom prst="rect">
            <a:avLst/>
          </a:prstGeom>
          <a:solidFill>
            <a:srgbClr val="f5f5f5"/>
          </a:solidFill>
          <a:ln w="2556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12"/>
          <p:cNvSpPr/>
          <p:nvPr/>
        </p:nvSpPr>
        <p:spPr>
          <a:xfrm>
            <a:off x="5394960" y="220356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Check if condition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3" name="Shape 13"/>
          <p:cNvSpPr/>
          <p:nvPr/>
        </p:nvSpPr>
        <p:spPr>
          <a:xfrm>
            <a:off x="4937760" y="2523600"/>
            <a:ext cx="319320" cy="31932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4"/>
          <p:cNvSpPr/>
          <p:nvPr/>
        </p:nvSpPr>
        <p:spPr>
          <a:xfrm>
            <a:off x="4937760" y="25236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5" name="Shape 15"/>
          <p:cNvSpPr/>
          <p:nvPr/>
        </p:nvSpPr>
        <p:spPr>
          <a:xfrm>
            <a:off x="5349240" y="2541960"/>
            <a:ext cx="3016800" cy="291960"/>
          </a:xfrm>
          <a:prstGeom prst="rect">
            <a:avLst/>
          </a:prstGeom>
          <a:solidFill>
            <a:srgbClr val="f5f5f5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6"/>
          <p:cNvSpPr/>
          <p:nvPr/>
        </p:nvSpPr>
        <p:spPr>
          <a:xfrm>
            <a:off x="5394960" y="25513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TRUE → Execute if block → EXIT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7" name="Shape 17"/>
          <p:cNvSpPr/>
          <p:nvPr/>
        </p:nvSpPr>
        <p:spPr>
          <a:xfrm>
            <a:off x="4937760" y="2871360"/>
            <a:ext cx="319320" cy="31932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8"/>
          <p:cNvSpPr/>
          <p:nvPr/>
        </p:nvSpPr>
        <p:spPr>
          <a:xfrm>
            <a:off x="4937760" y="28713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9" name="Shape 19"/>
          <p:cNvSpPr/>
          <p:nvPr/>
        </p:nvSpPr>
        <p:spPr>
          <a:xfrm>
            <a:off x="5349240" y="2889360"/>
            <a:ext cx="3016800" cy="291960"/>
          </a:xfrm>
          <a:prstGeom prst="rect">
            <a:avLst/>
          </a:prstGeom>
          <a:solidFill>
            <a:srgbClr val="f5f5f5"/>
          </a:solidFill>
          <a:ln w="2556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20"/>
          <p:cNvSpPr/>
          <p:nvPr/>
        </p:nvSpPr>
        <p:spPr>
          <a:xfrm>
            <a:off x="5394960" y="28987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FALSE → Check elif condition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1" name="Shape 21"/>
          <p:cNvSpPr/>
          <p:nvPr/>
        </p:nvSpPr>
        <p:spPr>
          <a:xfrm>
            <a:off x="4937760" y="3218760"/>
            <a:ext cx="319320" cy="31932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2"/>
          <p:cNvSpPr/>
          <p:nvPr/>
        </p:nvSpPr>
        <p:spPr>
          <a:xfrm>
            <a:off x="4937760" y="32187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3" name="Shape 23"/>
          <p:cNvSpPr/>
          <p:nvPr/>
        </p:nvSpPr>
        <p:spPr>
          <a:xfrm>
            <a:off x="5349240" y="3237120"/>
            <a:ext cx="3016800" cy="291960"/>
          </a:xfrm>
          <a:prstGeom prst="rect">
            <a:avLst/>
          </a:prstGeom>
          <a:solidFill>
            <a:srgbClr val="f5f5f5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4"/>
          <p:cNvSpPr/>
          <p:nvPr/>
        </p:nvSpPr>
        <p:spPr>
          <a:xfrm>
            <a:off x="5394960" y="32461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elif TRUE → Execute elif block → EXIT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Shape 25"/>
          <p:cNvSpPr/>
          <p:nvPr/>
        </p:nvSpPr>
        <p:spPr>
          <a:xfrm>
            <a:off x="4937760" y="3566160"/>
            <a:ext cx="319320" cy="31932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26"/>
          <p:cNvSpPr/>
          <p:nvPr/>
        </p:nvSpPr>
        <p:spPr>
          <a:xfrm>
            <a:off x="4937760" y="35661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7" name="Shape 27"/>
          <p:cNvSpPr/>
          <p:nvPr/>
        </p:nvSpPr>
        <p:spPr>
          <a:xfrm>
            <a:off x="5349240" y="3584520"/>
            <a:ext cx="3016800" cy="291960"/>
          </a:xfrm>
          <a:prstGeom prst="rect">
            <a:avLst/>
          </a:prstGeom>
          <a:solidFill>
            <a:srgbClr val="f5f5f5"/>
          </a:solidFill>
          <a:ln w="2556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28"/>
          <p:cNvSpPr/>
          <p:nvPr/>
        </p:nvSpPr>
        <p:spPr>
          <a:xfrm>
            <a:off x="5394960" y="35935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Check next elif (if any)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Shape 29"/>
          <p:cNvSpPr/>
          <p:nvPr/>
        </p:nvSpPr>
        <p:spPr>
          <a:xfrm>
            <a:off x="4937760" y="3913560"/>
            <a:ext cx="319320" cy="31932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30"/>
          <p:cNvSpPr/>
          <p:nvPr/>
        </p:nvSpPr>
        <p:spPr>
          <a:xfrm>
            <a:off x="4937760" y="39135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1" name="Shape 31"/>
          <p:cNvSpPr/>
          <p:nvPr/>
        </p:nvSpPr>
        <p:spPr>
          <a:xfrm>
            <a:off x="5349240" y="3931920"/>
            <a:ext cx="3016800" cy="291960"/>
          </a:xfrm>
          <a:prstGeom prst="rect">
            <a:avLst/>
          </a:prstGeom>
          <a:solidFill>
            <a:srgbClr val="f5f5f5"/>
          </a:solidFill>
          <a:ln w="255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32"/>
          <p:cNvSpPr/>
          <p:nvPr/>
        </p:nvSpPr>
        <p:spPr>
          <a:xfrm>
            <a:off x="5394960" y="3940920"/>
            <a:ext cx="2925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all FALSE → Execute else block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if-elif-else - Clean Flowchart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640080" y="914400"/>
            <a:ext cx="3199680" cy="4107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2"/>
          <p:cNvSpPr/>
          <p:nvPr/>
        </p:nvSpPr>
        <p:spPr>
          <a:xfrm>
            <a:off x="640080" y="96012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Code (age = 15):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640080" y="1371600"/>
            <a:ext cx="3199680" cy="33825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4"/>
          <p:cNvSpPr/>
          <p:nvPr/>
        </p:nvSpPr>
        <p:spPr>
          <a:xfrm>
            <a:off x="822960" y="1508760"/>
            <a:ext cx="283392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15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&lt; 13: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print("Child")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age &lt; 18: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print("Teenager")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4114800" y="914400"/>
            <a:ext cx="4388400" cy="41076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6"/>
          <p:cNvSpPr/>
          <p:nvPr/>
        </p:nvSpPr>
        <p:spPr>
          <a:xfrm>
            <a:off x="4114800" y="96012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Execution Flow: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5394960" y="1463040"/>
            <a:ext cx="1828080" cy="31932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8"/>
          <p:cNvSpPr/>
          <p:nvPr/>
        </p:nvSpPr>
        <p:spPr>
          <a:xfrm>
            <a:off x="5394960" y="150876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6236280" y="1810440"/>
            <a:ext cx="145440" cy="109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10"/>
          <p:cNvSpPr/>
          <p:nvPr/>
        </p:nvSpPr>
        <p:spPr>
          <a:xfrm>
            <a:off x="5303520" y="1965960"/>
            <a:ext cx="2010960" cy="502200"/>
          </a:xfrm>
          <a:prstGeom prst="diamond">
            <a:avLst/>
          </a:prstGeom>
          <a:solidFill>
            <a:srgbClr val="ffebee"/>
          </a:solidFill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11"/>
          <p:cNvSpPr/>
          <p:nvPr/>
        </p:nvSpPr>
        <p:spPr>
          <a:xfrm>
            <a:off x="5303520" y="20574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&lt; 13?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(15 &lt; 13)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5852160" y="2514600"/>
            <a:ext cx="45648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0" bIns="1368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6236280" y="2496240"/>
            <a:ext cx="145440" cy="109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14"/>
          <p:cNvSpPr/>
          <p:nvPr/>
        </p:nvSpPr>
        <p:spPr>
          <a:xfrm>
            <a:off x="5303520" y="2651760"/>
            <a:ext cx="2010960" cy="502200"/>
          </a:xfrm>
          <a:prstGeom prst="diamond">
            <a:avLst/>
          </a:prstGeom>
          <a:solidFill>
            <a:srgbClr val="e8f5e9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5"/>
          <p:cNvSpPr/>
          <p:nvPr/>
        </p:nvSpPr>
        <p:spPr>
          <a:xfrm>
            <a:off x="5303520" y="27432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&lt; 18?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(15 &lt; 18)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7315200" y="2903040"/>
            <a:ext cx="457200" cy="36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17"/>
          <p:cNvSpPr/>
          <p:nvPr/>
        </p:nvSpPr>
        <p:spPr>
          <a:xfrm>
            <a:off x="7745040" y="2853000"/>
            <a:ext cx="118080" cy="9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18"/>
          <p:cNvSpPr/>
          <p:nvPr/>
        </p:nvSpPr>
        <p:spPr>
          <a:xfrm>
            <a:off x="7360920" y="2743200"/>
            <a:ext cx="45648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0" bIns="1368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7909560" y="2697480"/>
            <a:ext cx="822240" cy="41076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20"/>
          <p:cNvSpPr/>
          <p:nvPr/>
        </p:nvSpPr>
        <p:spPr>
          <a:xfrm>
            <a:off x="7909560" y="2743200"/>
            <a:ext cx="822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elif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block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4" name="Shape 21"/>
          <p:cNvSpPr/>
          <p:nvPr/>
        </p:nvSpPr>
        <p:spPr>
          <a:xfrm>
            <a:off x="8321040" y="3108960"/>
            <a:ext cx="360" cy="105156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22"/>
          <p:cNvSpPr/>
          <p:nvPr/>
        </p:nvSpPr>
        <p:spPr>
          <a:xfrm>
            <a:off x="5852160" y="3200400"/>
            <a:ext cx="45648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0" bIns="1368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9b59b6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6" name="Shape 23"/>
          <p:cNvSpPr/>
          <p:nvPr/>
        </p:nvSpPr>
        <p:spPr>
          <a:xfrm>
            <a:off x="6236280" y="3182040"/>
            <a:ext cx="145440" cy="109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Shape 24"/>
          <p:cNvSpPr/>
          <p:nvPr/>
        </p:nvSpPr>
        <p:spPr>
          <a:xfrm>
            <a:off x="5669280" y="3337560"/>
            <a:ext cx="1279440" cy="365040"/>
          </a:xfrm>
          <a:prstGeom prst="rect">
            <a:avLst/>
          </a:prstGeom>
          <a:solidFill>
            <a:srgbClr val="9b59b6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5"/>
          <p:cNvSpPr/>
          <p:nvPr/>
        </p:nvSpPr>
        <p:spPr>
          <a:xfrm>
            <a:off x="5669280" y="3383280"/>
            <a:ext cx="1279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else block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9" name="Shape 26"/>
          <p:cNvSpPr/>
          <p:nvPr/>
        </p:nvSpPr>
        <p:spPr>
          <a:xfrm>
            <a:off x="6309360" y="3703320"/>
            <a:ext cx="360" cy="457200"/>
          </a:xfrm>
          <a:prstGeom prst="line">
            <a:avLst/>
          </a:prstGeom>
          <a:ln w="255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Shape 27"/>
          <p:cNvSpPr/>
          <p:nvPr/>
        </p:nvSpPr>
        <p:spPr>
          <a:xfrm>
            <a:off x="6309360" y="4160520"/>
            <a:ext cx="2011680" cy="36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28"/>
          <p:cNvSpPr/>
          <p:nvPr/>
        </p:nvSpPr>
        <p:spPr>
          <a:xfrm>
            <a:off x="6236280" y="4133160"/>
            <a:ext cx="145440" cy="1180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29"/>
          <p:cNvSpPr/>
          <p:nvPr/>
        </p:nvSpPr>
        <p:spPr>
          <a:xfrm>
            <a:off x="5394960" y="4297680"/>
            <a:ext cx="1828080" cy="31932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30"/>
          <p:cNvSpPr/>
          <p:nvPr/>
        </p:nvSpPr>
        <p:spPr>
          <a:xfrm>
            <a:off x="5394960" y="434340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Shape 31"/>
          <p:cNvSpPr/>
          <p:nvPr/>
        </p:nvSpPr>
        <p:spPr>
          <a:xfrm>
            <a:off x="7680960" y="4297680"/>
            <a:ext cx="1279440" cy="31932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32"/>
          <p:cNvSpPr/>
          <p:nvPr/>
        </p:nvSpPr>
        <p:spPr>
          <a:xfrm>
            <a:off x="7680960" y="4343400"/>
            <a:ext cx="1279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"Teenager"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Logical Operator: AND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914400" y="868680"/>
            <a:ext cx="7314480" cy="639360"/>
          </a:xfrm>
          <a:prstGeom prst="rect">
            <a:avLst/>
          </a:prstGeom>
          <a:solidFill>
            <a:srgbClr val="e8f5e9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2"/>
          <p:cNvSpPr/>
          <p:nvPr/>
        </p:nvSpPr>
        <p:spPr>
          <a:xfrm>
            <a:off x="1097280" y="96012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Returns TRUE only if BOTH conditions are TRUE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Both must pass!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914400" y="16916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Visual Concept: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1097280" y="2011680"/>
            <a:ext cx="1462320" cy="100512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5"/>
          <p:cNvSpPr/>
          <p:nvPr/>
        </p:nvSpPr>
        <p:spPr>
          <a:xfrm>
            <a:off x="1280160" y="228600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Cond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2194560" y="2011680"/>
            <a:ext cx="1462320" cy="100512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7"/>
          <p:cNvSpPr/>
          <p:nvPr/>
        </p:nvSpPr>
        <p:spPr>
          <a:xfrm>
            <a:off x="2377440" y="2286000"/>
            <a:ext cx="1096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Cond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4" name="Shape 8"/>
          <p:cNvSpPr/>
          <p:nvPr/>
        </p:nvSpPr>
        <p:spPr>
          <a:xfrm>
            <a:off x="1920240" y="2240280"/>
            <a:ext cx="913680" cy="54792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9"/>
          <p:cNvSpPr/>
          <p:nvPr/>
        </p:nvSpPr>
        <p:spPr>
          <a:xfrm>
            <a:off x="1920240" y="237744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BOTH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6" name="Text 10"/>
          <p:cNvSpPr/>
          <p:nvPr/>
        </p:nvSpPr>
        <p:spPr>
          <a:xfrm>
            <a:off x="1097280" y="3108960"/>
            <a:ext cx="2559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Only overlap =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4572000" y="16916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Truth Table: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8" name="Shape 12"/>
          <p:cNvSpPr/>
          <p:nvPr/>
        </p:nvSpPr>
        <p:spPr>
          <a:xfrm>
            <a:off x="4754880" y="2057400"/>
            <a:ext cx="1005120" cy="4107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13"/>
          <p:cNvSpPr/>
          <p:nvPr/>
        </p:nvSpPr>
        <p:spPr>
          <a:xfrm>
            <a:off x="4754880" y="210312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5852160" y="2103120"/>
            <a:ext cx="547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6492240" y="2057400"/>
            <a:ext cx="1005120" cy="4107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6"/>
          <p:cNvSpPr/>
          <p:nvPr/>
        </p:nvSpPr>
        <p:spPr>
          <a:xfrm>
            <a:off x="6492240" y="210312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3" name="Text 17"/>
          <p:cNvSpPr/>
          <p:nvPr/>
        </p:nvSpPr>
        <p:spPr>
          <a:xfrm>
            <a:off x="7589520" y="2103120"/>
            <a:ext cx="273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4" name="Shape 18"/>
          <p:cNvSpPr/>
          <p:nvPr/>
        </p:nvSpPr>
        <p:spPr>
          <a:xfrm>
            <a:off x="7955280" y="2057400"/>
            <a:ext cx="1005120" cy="41076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9"/>
          <p:cNvSpPr/>
          <p:nvPr/>
        </p:nvSpPr>
        <p:spPr>
          <a:xfrm>
            <a:off x="7955280" y="210312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6" name="Shape 20"/>
          <p:cNvSpPr/>
          <p:nvPr/>
        </p:nvSpPr>
        <p:spPr>
          <a:xfrm>
            <a:off x="4754880" y="2560320"/>
            <a:ext cx="1005120" cy="4107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1"/>
          <p:cNvSpPr/>
          <p:nvPr/>
        </p:nvSpPr>
        <p:spPr>
          <a:xfrm>
            <a:off x="4754880" y="260604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8" name="Text 22"/>
          <p:cNvSpPr/>
          <p:nvPr/>
        </p:nvSpPr>
        <p:spPr>
          <a:xfrm>
            <a:off x="5852160" y="2606040"/>
            <a:ext cx="547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9" name="Shape 23"/>
          <p:cNvSpPr/>
          <p:nvPr/>
        </p:nvSpPr>
        <p:spPr>
          <a:xfrm>
            <a:off x="6492240" y="2560320"/>
            <a:ext cx="1005120" cy="4107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24"/>
          <p:cNvSpPr/>
          <p:nvPr/>
        </p:nvSpPr>
        <p:spPr>
          <a:xfrm>
            <a:off x="6492240" y="260604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Text 25"/>
          <p:cNvSpPr/>
          <p:nvPr/>
        </p:nvSpPr>
        <p:spPr>
          <a:xfrm>
            <a:off x="7589520" y="2606040"/>
            <a:ext cx="273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2" name="Shape 26"/>
          <p:cNvSpPr/>
          <p:nvPr/>
        </p:nvSpPr>
        <p:spPr>
          <a:xfrm>
            <a:off x="7955280" y="2560320"/>
            <a:ext cx="1005120" cy="41076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27"/>
          <p:cNvSpPr/>
          <p:nvPr/>
        </p:nvSpPr>
        <p:spPr>
          <a:xfrm>
            <a:off x="7955280" y="260604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28"/>
          <p:cNvSpPr/>
          <p:nvPr/>
        </p:nvSpPr>
        <p:spPr>
          <a:xfrm>
            <a:off x="4754880" y="3063240"/>
            <a:ext cx="1005120" cy="4107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29"/>
          <p:cNvSpPr/>
          <p:nvPr/>
        </p:nvSpPr>
        <p:spPr>
          <a:xfrm>
            <a:off x="4754880" y="31089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Text 30"/>
          <p:cNvSpPr/>
          <p:nvPr/>
        </p:nvSpPr>
        <p:spPr>
          <a:xfrm>
            <a:off x="5852160" y="3108960"/>
            <a:ext cx="547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7" name="Shape 31"/>
          <p:cNvSpPr/>
          <p:nvPr/>
        </p:nvSpPr>
        <p:spPr>
          <a:xfrm>
            <a:off x="6492240" y="3063240"/>
            <a:ext cx="1005120" cy="4107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32"/>
          <p:cNvSpPr/>
          <p:nvPr/>
        </p:nvSpPr>
        <p:spPr>
          <a:xfrm>
            <a:off x="6492240" y="31089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Text 33"/>
          <p:cNvSpPr/>
          <p:nvPr/>
        </p:nvSpPr>
        <p:spPr>
          <a:xfrm>
            <a:off x="7589520" y="3108960"/>
            <a:ext cx="273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0" name="Shape 34"/>
          <p:cNvSpPr/>
          <p:nvPr/>
        </p:nvSpPr>
        <p:spPr>
          <a:xfrm>
            <a:off x="7955280" y="3063240"/>
            <a:ext cx="1005120" cy="41076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35"/>
          <p:cNvSpPr/>
          <p:nvPr/>
        </p:nvSpPr>
        <p:spPr>
          <a:xfrm>
            <a:off x="7955280" y="31089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2" name="Shape 36"/>
          <p:cNvSpPr/>
          <p:nvPr/>
        </p:nvSpPr>
        <p:spPr>
          <a:xfrm>
            <a:off x="4754880" y="3566160"/>
            <a:ext cx="1005120" cy="4107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37"/>
          <p:cNvSpPr/>
          <p:nvPr/>
        </p:nvSpPr>
        <p:spPr>
          <a:xfrm>
            <a:off x="4754880" y="361188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38"/>
          <p:cNvSpPr/>
          <p:nvPr/>
        </p:nvSpPr>
        <p:spPr>
          <a:xfrm>
            <a:off x="5852160" y="3611880"/>
            <a:ext cx="547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5" name="Shape 39"/>
          <p:cNvSpPr/>
          <p:nvPr/>
        </p:nvSpPr>
        <p:spPr>
          <a:xfrm>
            <a:off x="6492240" y="3566160"/>
            <a:ext cx="1005120" cy="4107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40"/>
          <p:cNvSpPr/>
          <p:nvPr/>
        </p:nvSpPr>
        <p:spPr>
          <a:xfrm>
            <a:off x="6492240" y="361188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7" name="Text 41"/>
          <p:cNvSpPr/>
          <p:nvPr/>
        </p:nvSpPr>
        <p:spPr>
          <a:xfrm>
            <a:off x="7589520" y="3611880"/>
            <a:ext cx="273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8" name="Shape 42"/>
          <p:cNvSpPr/>
          <p:nvPr/>
        </p:nvSpPr>
        <p:spPr>
          <a:xfrm>
            <a:off x="7955280" y="3566160"/>
            <a:ext cx="1005120" cy="41076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43"/>
          <p:cNvSpPr/>
          <p:nvPr/>
        </p:nvSpPr>
        <p:spPr>
          <a:xfrm>
            <a:off x="7955280" y="361188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Shape 44"/>
          <p:cNvSpPr/>
          <p:nvPr/>
        </p:nvSpPr>
        <p:spPr>
          <a:xfrm>
            <a:off x="979920" y="4251240"/>
            <a:ext cx="6400080" cy="516960"/>
          </a:xfrm>
          <a:prstGeom prst="rect">
            <a:avLst/>
          </a:prstGeom>
          <a:solidFill>
            <a:srgbClr val="f5f5f5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45"/>
          <p:cNvSpPr/>
          <p:nvPr/>
        </p:nvSpPr>
        <p:spPr>
          <a:xfrm>
            <a:off x="1371600" y="3794760"/>
            <a:ext cx="6400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Example: Voting Eligibility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2" name="Text 46"/>
          <p:cNvSpPr/>
          <p:nvPr/>
        </p:nvSpPr>
        <p:spPr>
          <a:xfrm>
            <a:off x="1371600" y="4069080"/>
            <a:ext cx="64000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(age &gt;= 18) AND (nationality == "Indian")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2700000" y="4251240"/>
            <a:ext cx="22352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Example: Voting Eligibility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980000" y="4500000"/>
            <a:ext cx="3929760" cy="26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(age &gt;= 18) AND (nationality == "Indian")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Logical Operators: OR and NOT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96" name="Shape 1"/>
          <p:cNvSpPr/>
          <p:nvPr/>
        </p:nvSpPr>
        <p:spPr>
          <a:xfrm>
            <a:off x="914400" y="914400"/>
            <a:ext cx="7314480" cy="4564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2"/>
          <p:cNvSpPr/>
          <p:nvPr/>
        </p:nvSpPr>
        <p:spPr>
          <a:xfrm>
            <a:off x="914400" y="9601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OR Operator: Returns TRUE if AT LEAST ONE condition is TRUE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914400" y="150876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Visual: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9" name="Shape 4"/>
          <p:cNvSpPr/>
          <p:nvPr/>
        </p:nvSpPr>
        <p:spPr>
          <a:xfrm>
            <a:off x="1097280" y="1783080"/>
            <a:ext cx="1188000" cy="822240"/>
          </a:xfrm>
          <a:prstGeom prst="ellipse">
            <a:avLst/>
          </a:prstGeom>
          <a:solidFill>
            <a:srgbClr val="e67e22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5"/>
          <p:cNvSpPr/>
          <p:nvPr/>
        </p:nvSpPr>
        <p:spPr>
          <a:xfrm>
            <a:off x="1188720" y="2011680"/>
            <a:ext cx="1005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Cond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1" name="Shape 6"/>
          <p:cNvSpPr/>
          <p:nvPr/>
        </p:nvSpPr>
        <p:spPr>
          <a:xfrm>
            <a:off x="2011680" y="1783080"/>
            <a:ext cx="1188000" cy="822240"/>
          </a:xfrm>
          <a:prstGeom prst="ellipse">
            <a:avLst/>
          </a:prstGeom>
          <a:solidFill>
            <a:srgbClr val="e67e22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7"/>
          <p:cNvSpPr/>
          <p:nvPr/>
        </p:nvSpPr>
        <p:spPr>
          <a:xfrm>
            <a:off x="2103120" y="2011680"/>
            <a:ext cx="1005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Cond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3" name="Text 8"/>
          <p:cNvSpPr/>
          <p:nvPr/>
        </p:nvSpPr>
        <p:spPr>
          <a:xfrm>
            <a:off x="1097280" y="2697480"/>
            <a:ext cx="2102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Either =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4" name="Text 9"/>
          <p:cNvSpPr/>
          <p:nvPr/>
        </p:nvSpPr>
        <p:spPr>
          <a:xfrm>
            <a:off x="4389120" y="1508760"/>
            <a:ext cx="4022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OR Truth Table: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5" name="Shape 10"/>
          <p:cNvSpPr/>
          <p:nvPr/>
        </p:nvSpPr>
        <p:spPr>
          <a:xfrm>
            <a:off x="4754880" y="1828800"/>
            <a:ext cx="822240" cy="3650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11"/>
          <p:cNvSpPr/>
          <p:nvPr/>
        </p:nvSpPr>
        <p:spPr>
          <a:xfrm>
            <a:off x="4754880" y="187452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7" name="Text 12"/>
          <p:cNvSpPr/>
          <p:nvPr/>
        </p:nvSpPr>
        <p:spPr>
          <a:xfrm>
            <a:off x="5669280" y="1874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Shape 13"/>
          <p:cNvSpPr/>
          <p:nvPr/>
        </p:nvSpPr>
        <p:spPr>
          <a:xfrm>
            <a:off x="6217920" y="1828800"/>
            <a:ext cx="822240" cy="3650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4"/>
          <p:cNvSpPr/>
          <p:nvPr/>
        </p:nvSpPr>
        <p:spPr>
          <a:xfrm>
            <a:off x="6217920" y="187452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0" name="Text 15"/>
          <p:cNvSpPr/>
          <p:nvPr/>
        </p:nvSpPr>
        <p:spPr>
          <a:xfrm>
            <a:off x="7132320" y="18745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1" name="Shape 16"/>
          <p:cNvSpPr/>
          <p:nvPr/>
        </p:nvSpPr>
        <p:spPr>
          <a:xfrm>
            <a:off x="7498080" y="1828800"/>
            <a:ext cx="822240" cy="36504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17"/>
          <p:cNvSpPr/>
          <p:nvPr/>
        </p:nvSpPr>
        <p:spPr>
          <a:xfrm>
            <a:off x="7498080" y="187452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13" name="Shape 18"/>
          <p:cNvSpPr/>
          <p:nvPr/>
        </p:nvSpPr>
        <p:spPr>
          <a:xfrm>
            <a:off x="4754880" y="2258640"/>
            <a:ext cx="822240" cy="3650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Text 19"/>
          <p:cNvSpPr/>
          <p:nvPr/>
        </p:nvSpPr>
        <p:spPr>
          <a:xfrm>
            <a:off x="4754880" y="230436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5" name="Text 20"/>
          <p:cNvSpPr/>
          <p:nvPr/>
        </p:nvSpPr>
        <p:spPr>
          <a:xfrm>
            <a:off x="5669280" y="230436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6" name="Shape 21"/>
          <p:cNvSpPr/>
          <p:nvPr/>
        </p:nvSpPr>
        <p:spPr>
          <a:xfrm>
            <a:off x="6217920" y="2258640"/>
            <a:ext cx="822240" cy="3650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22"/>
          <p:cNvSpPr/>
          <p:nvPr/>
        </p:nvSpPr>
        <p:spPr>
          <a:xfrm>
            <a:off x="6217920" y="230436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8" name="Text 23"/>
          <p:cNvSpPr/>
          <p:nvPr/>
        </p:nvSpPr>
        <p:spPr>
          <a:xfrm>
            <a:off x="7132320" y="23043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9" name="Shape 24"/>
          <p:cNvSpPr/>
          <p:nvPr/>
        </p:nvSpPr>
        <p:spPr>
          <a:xfrm>
            <a:off x="7498080" y="2258640"/>
            <a:ext cx="822240" cy="36504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25"/>
          <p:cNvSpPr/>
          <p:nvPr/>
        </p:nvSpPr>
        <p:spPr>
          <a:xfrm>
            <a:off x="7498080" y="230436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21" name="Shape 26"/>
          <p:cNvSpPr/>
          <p:nvPr/>
        </p:nvSpPr>
        <p:spPr>
          <a:xfrm>
            <a:off x="4754880" y="2688480"/>
            <a:ext cx="822240" cy="3650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27"/>
          <p:cNvSpPr/>
          <p:nvPr/>
        </p:nvSpPr>
        <p:spPr>
          <a:xfrm>
            <a:off x="4754880" y="273420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3" name="Text 28"/>
          <p:cNvSpPr/>
          <p:nvPr/>
        </p:nvSpPr>
        <p:spPr>
          <a:xfrm>
            <a:off x="5669280" y="27342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4" name="Shape 29"/>
          <p:cNvSpPr/>
          <p:nvPr/>
        </p:nvSpPr>
        <p:spPr>
          <a:xfrm>
            <a:off x="6217920" y="2688480"/>
            <a:ext cx="822240" cy="3650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30"/>
          <p:cNvSpPr/>
          <p:nvPr/>
        </p:nvSpPr>
        <p:spPr>
          <a:xfrm>
            <a:off x="6217920" y="273420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6" name="Text 31"/>
          <p:cNvSpPr/>
          <p:nvPr/>
        </p:nvSpPr>
        <p:spPr>
          <a:xfrm>
            <a:off x="7132320" y="27342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7" name="Shape 32"/>
          <p:cNvSpPr/>
          <p:nvPr/>
        </p:nvSpPr>
        <p:spPr>
          <a:xfrm>
            <a:off x="7498080" y="2688480"/>
            <a:ext cx="822240" cy="36504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33"/>
          <p:cNvSpPr/>
          <p:nvPr/>
        </p:nvSpPr>
        <p:spPr>
          <a:xfrm>
            <a:off x="7498080" y="273420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29" name="Shape 34"/>
          <p:cNvSpPr/>
          <p:nvPr/>
        </p:nvSpPr>
        <p:spPr>
          <a:xfrm>
            <a:off x="4754880" y="3117960"/>
            <a:ext cx="822240" cy="3650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35"/>
          <p:cNvSpPr/>
          <p:nvPr/>
        </p:nvSpPr>
        <p:spPr>
          <a:xfrm>
            <a:off x="4754880" y="316368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Text 36"/>
          <p:cNvSpPr/>
          <p:nvPr/>
        </p:nvSpPr>
        <p:spPr>
          <a:xfrm>
            <a:off x="5669280" y="31636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2" name="Shape 37"/>
          <p:cNvSpPr/>
          <p:nvPr/>
        </p:nvSpPr>
        <p:spPr>
          <a:xfrm>
            <a:off x="6217920" y="3117960"/>
            <a:ext cx="822240" cy="3650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38"/>
          <p:cNvSpPr/>
          <p:nvPr/>
        </p:nvSpPr>
        <p:spPr>
          <a:xfrm>
            <a:off x="6217920" y="316368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4" name="Text 39"/>
          <p:cNvSpPr/>
          <p:nvPr/>
        </p:nvSpPr>
        <p:spPr>
          <a:xfrm>
            <a:off x="7132320" y="3163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5" name="Shape 40"/>
          <p:cNvSpPr/>
          <p:nvPr/>
        </p:nvSpPr>
        <p:spPr>
          <a:xfrm>
            <a:off x="7498080" y="3117960"/>
            <a:ext cx="822240" cy="36504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6" name="Text 41"/>
          <p:cNvSpPr/>
          <p:nvPr/>
        </p:nvSpPr>
        <p:spPr>
          <a:xfrm>
            <a:off x="7498080" y="316368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37" name="Shape 42"/>
          <p:cNvSpPr/>
          <p:nvPr/>
        </p:nvSpPr>
        <p:spPr>
          <a:xfrm>
            <a:off x="900000" y="3780000"/>
            <a:ext cx="7314480" cy="45648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43"/>
          <p:cNvSpPr/>
          <p:nvPr/>
        </p:nvSpPr>
        <p:spPr>
          <a:xfrm>
            <a:off x="1980000" y="3949200"/>
            <a:ext cx="52200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NOT Operator: Reverses the boolean value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9" name="Shape 44"/>
          <p:cNvSpPr/>
          <p:nvPr/>
        </p:nvSpPr>
        <p:spPr>
          <a:xfrm>
            <a:off x="2340000" y="4449240"/>
            <a:ext cx="1279440" cy="41076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45"/>
          <p:cNvSpPr/>
          <p:nvPr/>
        </p:nvSpPr>
        <p:spPr>
          <a:xfrm>
            <a:off x="2340000" y="4494960"/>
            <a:ext cx="1279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1" name="Text 46"/>
          <p:cNvSpPr/>
          <p:nvPr/>
        </p:nvSpPr>
        <p:spPr>
          <a:xfrm>
            <a:off x="3711600" y="4494960"/>
            <a:ext cx="547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9b6"/>
                </a:solidFill>
                <a:latin typeface="Arial"/>
                <a:ea typeface="Arial"/>
              </a:rPr>
              <a:t>NOT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2" name="Shape 47"/>
          <p:cNvSpPr/>
          <p:nvPr/>
        </p:nvSpPr>
        <p:spPr>
          <a:xfrm>
            <a:off x="4351680" y="4604760"/>
            <a:ext cx="365040" cy="136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Shape 48"/>
          <p:cNvSpPr/>
          <p:nvPr/>
        </p:nvSpPr>
        <p:spPr>
          <a:xfrm>
            <a:off x="4808880" y="4449240"/>
            <a:ext cx="1279440" cy="41076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49"/>
          <p:cNvSpPr/>
          <p:nvPr/>
        </p:nvSpPr>
        <p:spPr>
          <a:xfrm>
            <a:off x="4808880" y="4494960"/>
            <a:ext cx="1279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0"/>
          <p:cNvSpPr/>
          <p:nvPr/>
        </p:nvSpPr>
        <p:spPr>
          <a:xfrm>
            <a:off x="457200" y="27432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 Indentation Rules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346" name="Shape 1"/>
          <p:cNvSpPr/>
          <p:nvPr/>
        </p:nvSpPr>
        <p:spPr>
          <a:xfrm>
            <a:off x="914400" y="868680"/>
            <a:ext cx="7314480" cy="639360"/>
          </a:xfrm>
          <a:prstGeom prst="rect">
            <a:avLst/>
          </a:prstGeom>
          <a:solidFill>
            <a:srgbClr val="ffebee"/>
          </a:solidFill>
          <a:ln w="381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2"/>
          <p:cNvSpPr/>
          <p:nvPr/>
        </p:nvSpPr>
        <p:spPr>
          <a:xfrm>
            <a:off x="1097280" y="960120"/>
            <a:ext cx="6948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Python uses INDENTATION to define code blocks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Standard: 4 spaces or 1 tab per indentation level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914400" y="1691640"/>
            <a:ext cx="3656880" cy="45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4"/>
          <p:cNvSpPr/>
          <p:nvPr/>
        </p:nvSpPr>
        <p:spPr>
          <a:xfrm>
            <a:off x="914400" y="17373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CORRECT Indentation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914400" y="2240280"/>
            <a:ext cx="3656880" cy="18280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6"/>
          <p:cNvSpPr/>
          <p:nvPr/>
        </p:nvSpPr>
        <p:spPr>
          <a:xfrm>
            <a:off x="1097280" y="2377440"/>
            <a:ext cx="32911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score = 85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if score &gt;= 60: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print("Pass")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print("Good")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print("Done")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2" name="Text 7"/>
          <p:cNvSpPr/>
          <p:nvPr/>
        </p:nvSpPr>
        <p:spPr>
          <a:xfrm>
            <a:off x="1097280" y="4160520"/>
            <a:ext cx="3291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✓ </a:t>
            </a: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Consistent 4-space indentation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3" name="Shape 8"/>
          <p:cNvSpPr/>
          <p:nvPr/>
        </p:nvSpPr>
        <p:spPr>
          <a:xfrm>
            <a:off x="4572000" y="1691640"/>
            <a:ext cx="3656880" cy="4564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9"/>
          <p:cNvSpPr/>
          <p:nvPr/>
        </p:nvSpPr>
        <p:spPr>
          <a:xfrm>
            <a:off x="4572000" y="17373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✗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INCORRECT Indentation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55" name="Shape 10"/>
          <p:cNvSpPr/>
          <p:nvPr/>
        </p:nvSpPr>
        <p:spPr>
          <a:xfrm>
            <a:off x="4572000" y="2240280"/>
            <a:ext cx="3656880" cy="18280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11"/>
          <p:cNvSpPr/>
          <p:nvPr/>
        </p:nvSpPr>
        <p:spPr>
          <a:xfrm>
            <a:off x="4754880" y="2377440"/>
            <a:ext cx="329112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score = 85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if score &gt;= 60: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print("Pass")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print("Good")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print("Done")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7" name="Shape 12"/>
          <p:cNvSpPr/>
          <p:nvPr/>
        </p:nvSpPr>
        <p:spPr>
          <a:xfrm>
            <a:off x="5029200" y="4160520"/>
            <a:ext cx="2742480" cy="2736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13"/>
          <p:cNvSpPr/>
          <p:nvPr/>
        </p:nvSpPr>
        <p:spPr>
          <a:xfrm>
            <a:off x="5029200" y="4187880"/>
            <a:ext cx="274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IndentationError!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Key Takeaways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1097280" y="125280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2"/>
          <p:cNvSpPr/>
          <p:nvPr/>
        </p:nvSpPr>
        <p:spPr>
          <a:xfrm>
            <a:off x="1097280" y="12528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1554480" y="1280160"/>
            <a:ext cx="6217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if: Execute code only when condition is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3" name="Shape 4"/>
          <p:cNvSpPr/>
          <p:nvPr/>
        </p:nvSpPr>
        <p:spPr>
          <a:xfrm>
            <a:off x="1097280" y="161856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Text 5"/>
          <p:cNvSpPr/>
          <p:nvPr/>
        </p:nvSpPr>
        <p:spPr>
          <a:xfrm>
            <a:off x="1097280" y="16185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1554480" y="1645920"/>
            <a:ext cx="6217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if-else: Choose between two execution paths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6" name="Shape 7"/>
          <p:cNvSpPr/>
          <p:nvPr/>
        </p:nvSpPr>
        <p:spPr>
          <a:xfrm>
            <a:off x="1097280" y="198432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8"/>
          <p:cNvSpPr/>
          <p:nvPr/>
        </p:nvSpPr>
        <p:spPr>
          <a:xfrm>
            <a:off x="1097280" y="19843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1554480" y="2011680"/>
            <a:ext cx="6217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if-elif-else: Check multiple conditions in sequence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9" name="Shape 10"/>
          <p:cNvSpPr/>
          <p:nvPr/>
        </p:nvSpPr>
        <p:spPr>
          <a:xfrm>
            <a:off x="1097280" y="235008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11"/>
          <p:cNvSpPr/>
          <p:nvPr/>
        </p:nvSpPr>
        <p:spPr>
          <a:xfrm>
            <a:off x="1097280" y="235008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1" name="Text 12"/>
          <p:cNvSpPr/>
          <p:nvPr/>
        </p:nvSpPr>
        <p:spPr>
          <a:xfrm>
            <a:off x="1554480" y="2377440"/>
            <a:ext cx="6217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AND: Both conditions must be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2" name="Shape 13"/>
          <p:cNvSpPr/>
          <p:nvPr/>
        </p:nvSpPr>
        <p:spPr>
          <a:xfrm>
            <a:off x="1097280" y="271584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14"/>
          <p:cNvSpPr/>
          <p:nvPr/>
        </p:nvSpPr>
        <p:spPr>
          <a:xfrm>
            <a:off x="1097280" y="271584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4" name="Text 15"/>
          <p:cNvSpPr/>
          <p:nvPr/>
        </p:nvSpPr>
        <p:spPr>
          <a:xfrm>
            <a:off x="1554480" y="2743200"/>
            <a:ext cx="6217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OR: At least ONE condition must be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5" name="Shape 16"/>
          <p:cNvSpPr/>
          <p:nvPr/>
        </p:nvSpPr>
        <p:spPr>
          <a:xfrm>
            <a:off x="1097280" y="308160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17"/>
          <p:cNvSpPr/>
          <p:nvPr/>
        </p:nvSpPr>
        <p:spPr>
          <a:xfrm>
            <a:off x="1097280" y="308160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6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77" name="Text 18"/>
          <p:cNvSpPr/>
          <p:nvPr/>
        </p:nvSpPr>
        <p:spPr>
          <a:xfrm>
            <a:off x="1554480" y="3108960"/>
            <a:ext cx="6217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NOT: Reverses boolean value (TRUE ↔ FALSE)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8" name="Shape 19"/>
          <p:cNvSpPr/>
          <p:nvPr/>
        </p:nvSpPr>
        <p:spPr>
          <a:xfrm>
            <a:off x="1097280" y="344736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Text 20"/>
          <p:cNvSpPr/>
          <p:nvPr/>
        </p:nvSpPr>
        <p:spPr>
          <a:xfrm>
            <a:off x="1097280" y="344736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7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0" name="Text 21"/>
          <p:cNvSpPr/>
          <p:nvPr/>
        </p:nvSpPr>
        <p:spPr>
          <a:xfrm>
            <a:off x="1554480" y="3474720"/>
            <a:ext cx="6217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Indentation: Mandatory in Python (4 spaces or 1 tab)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1" name="Shape 22"/>
          <p:cNvSpPr/>
          <p:nvPr/>
        </p:nvSpPr>
        <p:spPr>
          <a:xfrm>
            <a:off x="1097280" y="3813120"/>
            <a:ext cx="319320" cy="31932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23"/>
          <p:cNvSpPr/>
          <p:nvPr/>
        </p:nvSpPr>
        <p:spPr>
          <a:xfrm>
            <a:off x="1097280" y="3813120"/>
            <a:ext cx="319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8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3" name="Text 24"/>
          <p:cNvSpPr/>
          <p:nvPr/>
        </p:nvSpPr>
        <p:spPr>
          <a:xfrm>
            <a:off x="1554480" y="3840480"/>
            <a:ext cx="6217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Only ONE block executes in if-elif-else chain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4" name="Text 25"/>
          <p:cNvSpPr/>
          <p:nvPr/>
        </p:nvSpPr>
        <p:spPr>
          <a:xfrm>
            <a:off x="457200" y="411480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d43b"/>
                </a:solidFill>
                <a:latin typeface="Arial"/>
                <a:ea typeface="Arial"/>
              </a:rPr>
              <a:t>Practice makes perfect! 🐍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LibreOffice/7.3.7.2$Linux_X86_64 LibreOffice_project/30$Build-2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2026-02-02T13:48:39Z</dcterms:created>
  <dc:creator>Python Training Series</dc:creator>
  <dc:description/>
  <dc:language>en-IN</dc:language>
  <cp:lastModifiedBy/>
  <dcterms:modified xsi:type="dcterms:W3CDTF">2026-02-10T15:50:09Z</dcterms:modified>
  <cp:revision>4</cp:revision>
  <dc:subject>PptxGenJS Presentation</dc:subject>
  <dc:title>Python Decision Control Instructions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